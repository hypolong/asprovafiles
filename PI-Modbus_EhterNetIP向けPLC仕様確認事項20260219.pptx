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257" r:id="rId5"/>
    <p:sldId id="259" r:id="rId6"/>
    <p:sldId id="263" r:id="rId7"/>
    <p:sldId id="260" r:id="rId8"/>
    <p:sldId id="261" r:id="rId9"/>
    <p:sldId id="262"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67" y="6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26C4D3-4A14-4A4F-AB8B-D95297C9A487}" type="datetimeFigureOut">
              <a:rPr kumimoji="1" lang="ja-JP" altLang="en-US" smtClean="0"/>
              <a:t>2026/2/19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A3B01A-C70B-4762-B8A0-861B9E205AB9}" type="slidenum">
              <a:rPr kumimoji="1" lang="ja-JP" altLang="en-US" smtClean="0"/>
              <a:t>‹#›</a:t>
            </a:fld>
            <a:endParaRPr kumimoji="1" lang="ja-JP" altLang="en-US"/>
          </a:p>
        </p:txBody>
      </p:sp>
    </p:spTree>
    <p:extLst>
      <p:ext uri="{BB962C8B-B14F-4D97-AF65-F5344CB8AC3E}">
        <p14:creationId xmlns:p14="http://schemas.microsoft.com/office/powerpoint/2010/main" val="32393510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1EE01F-72B0-DF68-F4F4-8ECB2012CD4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8D3DA9B-775B-79C8-DD42-9A1DC39F47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6866CF0-FDF3-FDD1-82D4-20BCDBC60959}"/>
              </a:ext>
            </a:extLst>
          </p:cNvPr>
          <p:cNvSpPr>
            <a:spLocks noGrp="1"/>
          </p:cNvSpPr>
          <p:nvPr>
            <p:ph type="dt" sz="half" idx="10"/>
          </p:nvPr>
        </p:nvSpPr>
        <p:spPr/>
        <p:txBody>
          <a:bodyPr/>
          <a:lstStyle/>
          <a:p>
            <a:fld id="{6DB0315C-925E-4B97-8260-3AF5846C3EDA}" type="datetime1">
              <a:rPr kumimoji="1" lang="ja-JP" altLang="en-US" smtClean="0"/>
              <a:t>2026/2/19</a:t>
            </a:fld>
            <a:endParaRPr kumimoji="1" lang="ja-JP" altLang="en-US"/>
          </a:p>
        </p:txBody>
      </p:sp>
      <p:sp>
        <p:nvSpPr>
          <p:cNvPr id="5" name="フッター プレースホルダー 4">
            <a:extLst>
              <a:ext uri="{FF2B5EF4-FFF2-40B4-BE49-F238E27FC236}">
                <a16:creationId xmlns:a16="http://schemas.microsoft.com/office/drawing/2014/main" id="{54880B58-5FC8-EEC3-A6A8-882F1EAA8F6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DC79D0F-8E46-2192-C6AD-C6FACDE25BF2}"/>
              </a:ext>
            </a:extLst>
          </p:cNvPr>
          <p:cNvSpPr>
            <a:spLocks noGrp="1"/>
          </p:cNvSpPr>
          <p:nvPr>
            <p:ph type="sldNum" sz="quarter" idx="12"/>
          </p:nvPr>
        </p:nvSpPr>
        <p:spPr/>
        <p:txBody>
          <a:bodyPr/>
          <a:lstStyle/>
          <a:p>
            <a:fld id="{1EA322B9-08FF-4B54-ADFF-20A0A916893B}" type="slidenum">
              <a:rPr kumimoji="1" lang="ja-JP" altLang="en-US" smtClean="0"/>
              <a:t>‹#›</a:t>
            </a:fld>
            <a:endParaRPr kumimoji="1" lang="ja-JP" altLang="en-US"/>
          </a:p>
        </p:txBody>
      </p:sp>
    </p:spTree>
    <p:extLst>
      <p:ext uri="{BB962C8B-B14F-4D97-AF65-F5344CB8AC3E}">
        <p14:creationId xmlns:p14="http://schemas.microsoft.com/office/powerpoint/2010/main" val="1048958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A78310-CA9B-8BBD-C8DA-3EC67473884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F23B383-2232-6086-B650-2FC783165E8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E3ACACB-BF29-A085-7D7E-5A50B4390051}"/>
              </a:ext>
            </a:extLst>
          </p:cNvPr>
          <p:cNvSpPr>
            <a:spLocks noGrp="1"/>
          </p:cNvSpPr>
          <p:nvPr>
            <p:ph type="dt" sz="half" idx="10"/>
          </p:nvPr>
        </p:nvSpPr>
        <p:spPr/>
        <p:txBody>
          <a:bodyPr/>
          <a:lstStyle/>
          <a:p>
            <a:fld id="{B9CB4C90-E999-422C-B50E-B62FDD2B0E1C}" type="datetime1">
              <a:rPr kumimoji="1" lang="ja-JP" altLang="en-US" smtClean="0"/>
              <a:t>2026/2/19</a:t>
            </a:fld>
            <a:endParaRPr kumimoji="1" lang="ja-JP" altLang="en-US"/>
          </a:p>
        </p:txBody>
      </p:sp>
      <p:sp>
        <p:nvSpPr>
          <p:cNvPr id="5" name="フッター プレースホルダー 4">
            <a:extLst>
              <a:ext uri="{FF2B5EF4-FFF2-40B4-BE49-F238E27FC236}">
                <a16:creationId xmlns:a16="http://schemas.microsoft.com/office/drawing/2014/main" id="{3EE8249F-9046-A821-929C-C329087C3F7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ADE7D4F-D45E-8C1E-6112-5275B4928542}"/>
              </a:ext>
            </a:extLst>
          </p:cNvPr>
          <p:cNvSpPr>
            <a:spLocks noGrp="1"/>
          </p:cNvSpPr>
          <p:nvPr>
            <p:ph type="sldNum" sz="quarter" idx="12"/>
          </p:nvPr>
        </p:nvSpPr>
        <p:spPr/>
        <p:txBody>
          <a:bodyPr/>
          <a:lstStyle/>
          <a:p>
            <a:fld id="{1EA322B9-08FF-4B54-ADFF-20A0A916893B}" type="slidenum">
              <a:rPr kumimoji="1" lang="ja-JP" altLang="en-US" smtClean="0"/>
              <a:t>‹#›</a:t>
            </a:fld>
            <a:endParaRPr kumimoji="1" lang="ja-JP" altLang="en-US"/>
          </a:p>
        </p:txBody>
      </p:sp>
    </p:spTree>
    <p:extLst>
      <p:ext uri="{BB962C8B-B14F-4D97-AF65-F5344CB8AC3E}">
        <p14:creationId xmlns:p14="http://schemas.microsoft.com/office/powerpoint/2010/main" val="1165163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4220F-2A4F-0A2A-D9DF-18BDAA3FA853}"/>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880E9C0-E9B9-CC84-AE1A-2924910610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0945C11-A872-43B1-29E8-47CA2D503A2A}"/>
              </a:ext>
            </a:extLst>
          </p:cNvPr>
          <p:cNvSpPr>
            <a:spLocks noGrp="1"/>
          </p:cNvSpPr>
          <p:nvPr>
            <p:ph type="dt" sz="half" idx="10"/>
          </p:nvPr>
        </p:nvSpPr>
        <p:spPr/>
        <p:txBody>
          <a:bodyPr/>
          <a:lstStyle/>
          <a:p>
            <a:fld id="{F2F4563D-FDB5-4772-8349-FD03DF7EC128}" type="datetime1">
              <a:rPr kumimoji="1" lang="ja-JP" altLang="en-US" smtClean="0"/>
              <a:t>2026/2/19</a:t>
            </a:fld>
            <a:endParaRPr kumimoji="1" lang="ja-JP" altLang="en-US"/>
          </a:p>
        </p:txBody>
      </p:sp>
      <p:sp>
        <p:nvSpPr>
          <p:cNvPr id="5" name="フッター プレースホルダー 4">
            <a:extLst>
              <a:ext uri="{FF2B5EF4-FFF2-40B4-BE49-F238E27FC236}">
                <a16:creationId xmlns:a16="http://schemas.microsoft.com/office/drawing/2014/main" id="{1F63DF67-8026-ACFA-BD0B-344D120BFCC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515FC52-97ED-4FD8-327C-E0CB5F7753AF}"/>
              </a:ext>
            </a:extLst>
          </p:cNvPr>
          <p:cNvSpPr>
            <a:spLocks noGrp="1"/>
          </p:cNvSpPr>
          <p:nvPr>
            <p:ph type="sldNum" sz="quarter" idx="12"/>
          </p:nvPr>
        </p:nvSpPr>
        <p:spPr/>
        <p:txBody>
          <a:bodyPr/>
          <a:lstStyle/>
          <a:p>
            <a:fld id="{1EA322B9-08FF-4B54-ADFF-20A0A916893B}" type="slidenum">
              <a:rPr kumimoji="1" lang="ja-JP" altLang="en-US" smtClean="0"/>
              <a:t>‹#›</a:t>
            </a:fld>
            <a:endParaRPr kumimoji="1" lang="ja-JP" altLang="en-US"/>
          </a:p>
        </p:txBody>
      </p:sp>
    </p:spTree>
    <p:extLst>
      <p:ext uri="{BB962C8B-B14F-4D97-AF65-F5344CB8AC3E}">
        <p14:creationId xmlns:p14="http://schemas.microsoft.com/office/powerpoint/2010/main" val="970872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722B18-A2E3-0F42-5FA8-4A7CE369C52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D08E5BA-3DDB-E4EE-056E-C115E78DF2B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C2E536F-53E0-4CE3-A3F8-66BA5E1DF8D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1C1568A-F098-2F8D-0F15-28817F0A0C20}"/>
              </a:ext>
            </a:extLst>
          </p:cNvPr>
          <p:cNvSpPr>
            <a:spLocks noGrp="1"/>
          </p:cNvSpPr>
          <p:nvPr>
            <p:ph type="dt" sz="half" idx="10"/>
          </p:nvPr>
        </p:nvSpPr>
        <p:spPr/>
        <p:txBody>
          <a:bodyPr/>
          <a:lstStyle/>
          <a:p>
            <a:fld id="{3E68DB2D-DCA5-4924-944C-5E297B245D38}" type="datetime1">
              <a:rPr kumimoji="1" lang="ja-JP" altLang="en-US" smtClean="0"/>
              <a:t>2026/2/19</a:t>
            </a:fld>
            <a:endParaRPr kumimoji="1" lang="ja-JP" altLang="en-US"/>
          </a:p>
        </p:txBody>
      </p:sp>
      <p:sp>
        <p:nvSpPr>
          <p:cNvPr id="6" name="フッター プレースホルダー 5">
            <a:extLst>
              <a:ext uri="{FF2B5EF4-FFF2-40B4-BE49-F238E27FC236}">
                <a16:creationId xmlns:a16="http://schemas.microsoft.com/office/drawing/2014/main" id="{FA4E077D-0F3A-692F-2896-02FE5A2BDDC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076D72B-86DE-0D77-192C-A65A657CBA1E}"/>
              </a:ext>
            </a:extLst>
          </p:cNvPr>
          <p:cNvSpPr>
            <a:spLocks noGrp="1"/>
          </p:cNvSpPr>
          <p:nvPr>
            <p:ph type="sldNum" sz="quarter" idx="12"/>
          </p:nvPr>
        </p:nvSpPr>
        <p:spPr/>
        <p:txBody>
          <a:bodyPr/>
          <a:lstStyle/>
          <a:p>
            <a:fld id="{1EA322B9-08FF-4B54-ADFF-20A0A916893B}" type="slidenum">
              <a:rPr kumimoji="1" lang="ja-JP" altLang="en-US" smtClean="0"/>
              <a:t>‹#›</a:t>
            </a:fld>
            <a:endParaRPr kumimoji="1" lang="ja-JP" altLang="en-US"/>
          </a:p>
        </p:txBody>
      </p:sp>
    </p:spTree>
    <p:extLst>
      <p:ext uri="{BB962C8B-B14F-4D97-AF65-F5344CB8AC3E}">
        <p14:creationId xmlns:p14="http://schemas.microsoft.com/office/powerpoint/2010/main" val="3977907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BBFD29-78C8-E46E-4CD5-CFA106FC1E3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9175B70-0346-7E50-D26D-DDF5B3F8CF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998E6D8-27ED-13D1-0D71-EFDA81C8CFC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849E66D-B49E-4934-8218-2E619CE313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0D3401C-E046-6E0C-FF36-BC7F8CF122C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8700D95-E825-8B88-1BA6-DFE1FCCE1C9F}"/>
              </a:ext>
            </a:extLst>
          </p:cNvPr>
          <p:cNvSpPr>
            <a:spLocks noGrp="1"/>
          </p:cNvSpPr>
          <p:nvPr>
            <p:ph type="dt" sz="half" idx="10"/>
          </p:nvPr>
        </p:nvSpPr>
        <p:spPr/>
        <p:txBody>
          <a:bodyPr/>
          <a:lstStyle/>
          <a:p>
            <a:fld id="{706D2A60-87D1-4180-A484-FC1E81BC01E0}" type="datetime1">
              <a:rPr kumimoji="1" lang="ja-JP" altLang="en-US" smtClean="0"/>
              <a:t>2026/2/19</a:t>
            </a:fld>
            <a:endParaRPr kumimoji="1" lang="ja-JP" altLang="en-US"/>
          </a:p>
        </p:txBody>
      </p:sp>
      <p:sp>
        <p:nvSpPr>
          <p:cNvPr id="8" name="フッター プレースホルダー 7">
            <a:extLst>
              <a:ext uri="{FF2B5EF4-FFF2-40B4-BE49-F238E27FC236}">
                <a16:creationId xmlns:a16="http://schemas.microsoft.com/office/drawing/2014/main" id="{DA6BEFEC-D940-EB93-12C5-E7BC6036F9E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CC724F7-B006-A386-AA5A-40C60580C0A6}"/>
              </a:ext>
            </a:extLst>
          </p:cNvPr>
          <p:cNvSpPr>
            <a:spLocks noGrp="1"/>
          </p:cNvSpPr>
          <p:nvPr>
            <p:ph type="sldNum" sz="quarter" idx="12"/>
          </p:nvPr>
        </p:nvSpPr>
        <p:spPr/>
        <p:txBody>
          <a:bodyPr/>
          <a:lstStyle/>
          <a:p>
            <a:fld id="{1EA322B9-08FF-4B54-ADFF-20A0A916893B}" type="slidenum">
              <a:rPr kumimoji="1" lang="ja-JP" altLang="en-US" smtClean="0"/>
              <a:t>‹#›</a:t>
            </a:fld>
            <a:endParaRPr kumimoji="1" lang="ja-JP" altLang="en-US"/>
          </a:p>
        </p:txBody>
      </p:sp>
    </p:spTree>
    <p:extLst>
      <p:ext uri="{BB962C8B-B14F-4D97-AF65-F5344CB8AC3E}">
        <p14:creationId xmlns:p14="http://schemas.microsoft.com/office/powerpoint/2010/main" val="756270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7854A7-D900-6278-F8F4-856C34B54B4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3F2D5C4-81AB-25BD-98D9-B09D645351B7}"/>
              </a:ext>
            </a:extLst>
          </p:cNvPr>
          <p:cNvSpPr>
            <a:spLocks noGrp="1"/>
          </p:cNvSpPr>
          <p:nvPr>
            <p:ph type="dt" sz="half" idx="10"/>
          </p:nvPr>
        </p:nvSpPr>
        <p:spPr/>
        <p:txBody>
          <a:bodyPr/>
          <a:lstStyle/>
          <a:p>
            <a:fld id="{0F214E6E-F0FA-4250-8E30-1180E90FCC1D}" type="datetime1">
              <a:rPr kumimoji="1" lang="ja-JP" altLang="en-US" smtClean="0"/>
              <a:t>2026/2/19</a:t>
            </a:fld>
            <a:endParaRPr kumimoji="1" lang="ja-JP" altLang="en-US"/>
          </a:p>
        </p:txBody>
      </p:sp>
      <p:sp>
        <p:nvSpPr>
          <p:cNvPr id="4" name="フッター プレースホルダー 3">
            <a:extLst>
              <a:ext uri="{FF2B5EF4-FFF2-40B4-BE49-F238E27FC236}">
                <a16:creationId xmlns:a16="http://schemas.microsoft.com/office/drawing/2014/main" id="{43A82DCC-1594-0D9E-AC5E-268C89A1007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C6EB3FF-5474-0549-9166-A496BBB96FCF}"/>
              </a:ext>
            </a:extLst>
          </p:cNvPr>
          <p:cNvSpPr>
            <a:spLocks noGrp="1"/>
          </p:cNvSpPr>
          <p:nvPr>
            <p:ph type="sldNum" sz="quarter" idx="12"/>
          </p:nvPr>
        </p:nvSpPr>
        <p:spPr/>
        <p:txBody>
          <a:bodyPr/>
          <a:lstStyle/>
          <a:p>
            <a:fld id="{1EA322B9-08FF-4B54-ADFF-20A0A916893B}" type="slidenum">
              <a:rPr kumimoji="1" lang="ja-JP" altLang="en-US" smtClean="0"/>
              <a:t>‹#›</a:t>
            </a:fld>
            <a:endParaRPr kumimoji="1" lang="ja-JP" altLang="en-US"/>
          </a:p>
        </p:txBody>
      </p:sp>
    </p:spTree>
    <p:extLst>
      <p:ext uri="{BB962C8B-B14F-4D97-AF65-F5344CB8AC3E}">
        <p14:creationId xmlns:p14="http://schemas.microsoft.com/office/powerpoint/2010/main" val="4057859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42CA8F3-D149-4781-7735-AEF9D6AB56F3}"/>
              </a:ext>
            </a:extLst>
          </p:cNvPr>
          <p:cNvSpPr>
            <a:spLocks noGrp="1"/>
          </p:cNvSpPr>
          <p:nvPr>
            <p:ph type="dt" sz="half" idx="10"/>
          </p:nvPr>
        </p:nvSpPr>
        <p:spPr/>
        <p:txBody>
          <a:bodyPr/>
          <a:lstStyle/>
          <a:p>
            <a:fld id="{BE0A1E69-2B2D-4B9B-86E6-ECDB92C09390}" type="datetime1">
              <a:rPr kumimoji="1" lang="ja-JP" altLang="en-US" smtClean="0"/>
              <a:t>2026/2/19</a:t>
            </a:fld>
            <a:endParaRPr kumimoji="1" lang="ja-JP" altLang="en-US"/>
          </a:p>
        </p:txBody>
      </p:sp>
      <p:sp>
        <p:nvSpPr>
          <p:cNvPr id="3" name="フッター プレースホルダー 2">
            <a:extLst>
              <a:ext uri="{FF2B5EF4-FFF2-40B4-BE49-F238E27FC236}">
                <a16:creationId xmlns:a16="http://schemas.microsoft.com/office/drawing/2014/main" id="{1C4A44FD-C4AB-EA30-9FB3-984CD915DF6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105197F-BF98-89C0-534A-EC103A7A4915}"/>
              </a:ext>
            </a:extLst>
          </p:cNvPr>
          <p:cNvSpPr>
            <a:spLocks noGrp="1"/>
          </p:cNvSpPr>
          <p:nvPr>
            <p:ph type="sldNum" sz="quarter" idx="12"/>
          </p:nvPr>
        </p:nvSpPr>
        <p:spPr/>
        <p:txBody>
          <a:bodyPr/>
          <a:lstStyle/>
          <a:p>
            <a:fld id="{1EA322B9-08FF-4B54-ADFF-20A0A916893B}" type="slidenum">
              <a:rPr kumimoji="1" lang="ja-JP" altLang="en-US" smtClean="0"/>
              <a:t>‹#›</a:t>
            </a:fld>
            <a:endParaRPr kumimoji="1" lang="ja-JP" altLang="en-US"/>
          </a:p>
        </p:txBody>
      </p:sp>
    </p:spTree>
    <p:extLst>
      <p:ext uri="{BB962C8B-B14F-4D97-AF65-F5344CB8AC3E}">
        <p14:creationId xmlns:p14="http://schemas.microsoft.com/office/powerpoint/2010/main" val="877703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878146-4255-2392-FD0E-1576841DB77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FCD9786-BFF6-3C78-E34F-18A1D5BD38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B323D65-D1AD-35CE-6FFA-C44F008058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480F952-2337-B54F-C5D1-22F1072C46DD}"/>
              </a:ext>
            </a:extLst>
          </p:cNvPr>
          <p:cNvSpPr>
            <a:spLocks noGrp="1"/>
          </p:cNvSpPr>
          <p:nvPr>
            <p:ph type="dt" sz="half" idx="10"/>
          </p:nvPr>
        </p:nvSpPr>
        <p:spPr/>
        <p:txBody>
          <a:bodyPr/>
          <a:lstStyle/>
          <a:p>
            <a:fld id="{F74929E3-22A0-4B89-99CE-9AEA9D6F92DC}" type="datetime1">
              <a:rPr kumimoji="1" lang="ja-JP" altLang="en-US" smtClean="0"/>
              <a:t>2026/2/19</a:t>
            </a:fld>
            <a:endParaRPr kumimoji="1" lang="ja-JP" altLang="en-US"/>
          </a:p>
        </p:txBody>
      </p:sp>
      <p:sp>
        <p:nvSpPr>
          <p:cNvPr id="6" name="フッター プレースホルダー 5">
            <a:extLst>
              <a:ext uri="{FF2B5EF4-FFF2-40B4-BE49-F238E27FC236}">
                <a16:creationId xmlns:a16="http://schemas.microsoft.com/office/drawing/2014/main" id="{24D08A6E-50C6-5030-C214-CDED0ABAA9C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73CDF37-F3FB-AB7B-681D-CA96ABDCB43F}"/>
              </a:ext>
            </a:extLst>
          </p:cNvPr>
          <p:cNvSpPr>
            <a:spLocks noGrp="1"/>
          </p:cNvSpPr>
          <p:nvPr>
            <p:ph type="sldNum" sz="quarter" idx="12"/>
          </p:nvPr>
        </p:nvSpPr>
        <p:spPr/>
        <p:txBody>
          <a:bodyPr/>
          <a:lstStyle/>
          <a:p>
            <a:fld id="{1EA322B9-08FF-4B54-ADFF-20A0A916893B}" type="slidenum">
              <a:rPr kumimoji="1" lang="ja-JP" altLang="en-US" smtClean="0"/>
              <a:t>‹#›</a:t>
            </a:fld>
            <a:endParaRPr kumimoji="1" lang="ja-JP" altLang="en-US"/>
          </a:p>
        </p:txBody>
      </p:sp>
    </p:spTree>
    <p:extLst>
      <p:ext uri="{BB962C8B-B14F-4D97-AF65-F5344CB8AC3E}">
        <p14:creationId xmlns:p14="http://schemas.microsoft.com/office/powerpoint/2010/main" val="1844369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9D6D91-39E9-55A7-F531-6D74AB273A8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AC37CC3-4E44-A873-7D85-A1FD9FB4BB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3194AFD-2F52-F0FD-2EB6-BB7E5CC5F1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56C1E30-22B7-87F3-6E74-7D648BB0DFC4}"/>
              </a:ext>
            </a:extLst>
          </p:cNvPr>
          <p:cNvSpPr>
            <a:spLocks noGrp="1"/>
          </p:cNvSpPr>
          <p:nvPr>
            <p:ph type="dt" sz="half" idx="10"/>
          </p:nvPr>
        </p:nvSpPr>
        <p:spPr/>
        <p:txBody>
          <a:bodyPr/>
          <a:lstStyle/>
          <a:p>
            <a:fld id="{059D7D29-3C84-421A-9625-D1320098C08F}" type="datetime1">
              <a:rPr kumimoji="1" lang="ja-JP" altLang="en-US" smtClean="0"/>
              <a:t>2026/2/19</a:t>
            </a:fld>
            <a:endParaRPr kumimoji="1" lang="ja-JP" altLang="en-US"/>
          </a:p>
        </p:txBody>
      </p:sp>
      <p:sp>
        <p:nvSpPr>
          <p:cNvPr id="6" name="フッター プレースホルダー 5">
            <a:extLst>
              <a:ext uri="{FF2B5EF4-FFF2-40B4-BE49-F238E27FC236}">
                <a16:creationId xmlns:a16="http://schemas.microsoft.com/office/drawing/2014/main" id="{3F72B8D7-03E9-B6B6-9F78-213109F7CAB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75785EF-A585-AC3E-D362-1C645EED0CBB}"/>
              </a:ext>
            </a:extLst>
          </p:cNvPr>
          <p:cNvSpPr>
            <a:spLocks noGrp="1"/>
          </p:cNvSpPr>
          <p:nvPr>
            <p:ph type="sldNum" sz="quarter" idx="12"/>
          </p:nvPr>
        </p:nvSpPr>
        <p:spPr/>
        <p:txBody>
          <a:bodyPr/>
          <a:lstStyle/>
          <a:p>
            <a:fld id="{1EA322B9-08FF-4B54-ADFF-20A0A916893B}" type="slidenum">
              <a:rPr kumimoji="1" lang="ja-JP" altLang="en-US" smtClean="0"/>
              <a:t>‹#›</a:t>
            </a:fld>
            <a:endParaRPr kumimoji="1" lang="ja-JP" altLang="en-US"/>
          </a:p>
        </p:txBody>
      </p:sp>
    </p:spTree>
    <p:extLst>
      <p:ext uri="{BB962C8B-B14F-4D97-AF65-F5344CB8AC3E}">
        <p14:creationId xmlns:p14="http://schemas.microsoft.com/office/powerpoint/2010/main" val="1684211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2CD5E5-FC79-C488-9FE6-BDA7D0E3EFF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0CD182F-2650-6741-C701-9BF99F72192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301B86F-103C-94AD-6075-C1E3B32DE05A}"/>
              </a:ext>
            </a:extLst>
          </p:cNvPr>
          <p:cNvSpPr>
            <a:spLocks noGrp="1"/>
          </p:cNvSpPr>
          <p:nvPr>
            <p:ph type="dt" sz="half" idx="10"/>
          </p:nvPr>
        </p:nvSpPr>
        <p:spPr/>
        <p:txBody>
          <a:bodyPr/>
          <a:lstStyle/>
          <a:p>
            <a:fld id="{38AA9703-0C53-43DA-BA6B-65020E63B87F}" type="datetime1">
              <a:rPr kumimoji="1" lang="ja-JP" altLang="en-US" smtClean="0"/>
              <a:t>2026/2/19</a:t>
            </a:fld>
            <a:endParaRPr kumimoji="1" lang="ja-JP" altLang="en-US"/>
          </a:p>
        </p:txBody>
      </p:sp>
      <p:sp>
        <p:nvSpPr>
          <p:cNvPr id="5" name="フッター プレースホルダー 4">
            <a:extLst>
              <a:ext uri="{FF2B5EF4-FFF2-40B4-BE49-F238E27FC236}">
                <a16:creationId xmlns:a16="http://schemas.microsoft.com/office/drawing/2014/main" id="{D1137F6E-4458-221C-360C-DA444136A05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699ACC5-ABAB-9F2F-5086-F9BF01808E61}"/>
              </a:ext>
            </a:extLst>
          </p:cNvPr>
          <p:cNvSpPr>
            <a:spLocks noGrp="1"/>
          </p:cNvSpPr>
          <p:nvPr>
            <p:ph type="sldNum" sz="quarter" idx="12"/>
          </p:nvPr>
        </p:nvSpPr>
        <p:spPr/>
        <p:txBody>
          <a:bodyPr/>
          <a:lstStyle/>
          <a:p>
            <a:fld id="{1EA322B9-08FF-4B54-ADFF-20A0A916893B}" type="slidenum">
              <a:rPr kumimoji="1" lang="ja-JP" altLang="en-US" smtClean="0"/>
              <a:t>‹#›</a:t>
            </a:fld>
            <a:endParaRPr kumimoji="1" lang="ja-JP" altLang="en-US"/>
          </a:p>
        </p:txBody>
      </p:sp>
    </p:spTree>
    <p:extLst>
      <p:ext uri="{BB962C8B-B14F-4D97-AF65-F5344CB8AC3E}">
        <p14:creationId xmlns:p14="http://schemas.microsoft.com/office/powerpoint/2010/main" val="948191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67B9B4C-1C83-10ED-3A93-33434E67053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188A925-5D60-DA6F-4EA2-50E20B31B2D2}"/>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C6D7946-6B1E-7784-9395-674095390E1A}"/>
              </a:ext>
            </a:extLst>
          </p:cNvPr>
          <p:cNvSpPr>
            <a:spLocks noGrp="1"/>
          </p:cNvSpPr>
          <p:nvPr>
            <p:ph type="dt" sz="half" idx="10"/>
          </p:nvPr>
        </p:nvSpPr>
        <p:spPr/>
        <p:txBody>
          <a:bodyPr/>
          <a:lstStyle/>
          <a:p>
            <a:fld id="{EA981148-C3EB-4C9B-AAD8-E04B3093977D}" type="datetime1">
              <a:rPr kumimoji="1" lang="ja-JP" altLang="en-US" smtClean="0"/>
              <a:t>2026/2/19</a:t>
            </a:fld>
            <a:endParaRPr kumimoji="1" lang="ja-JP" altLang="en-US"/>
          </a:p>
        </p:txBody>
      </p:sp>
      <p:sp>
        <p:nvSpPr>
          <p:cNvPr id="5" name="フッター プレースホルダー 4">
            <a:extLst>
              <a:ext uri="{FF2B5EF4-FFF2-40B4-BE49-F238E27FC236}">
                <a16:creationId xmlns:a16="http://schemas.microsoft.com/office/drawing/2014/main" id="{BE313A90-EC6F-AE3D-2FA0-B0385275825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9BC3CF6-6EB6-39FB-2F89-743FC6C732A5}"/>
              </a:ext>
            </a:extLst>
          </p:cNvPr>
          <p:cNvSpPr>
            <a:spLocks noGrp="1"/>
          </p:cNvSpPr>
          <p:nvPr>
            <p:ph type="sldNum" sz="quarter" idx="12"/>
          </p:nvPr>
        </p:nvSpPr>
        <p:spPr/>
        <p:txBody>
          <a:bodyPr/>
          <a:lstStyle/>
          <a:p>
            <a:fld id="{1EA322B9-08FF-4B54-ADFF-20A0A916893B}" type="slidenum">
              <a:rPr kumimoji="1" lang="ja-JP" altLang="en-US" smtClean="0"/>
              <a:t>‹#›</a:t>
            </a:fld>
            <a:endParaRPr kumimoji="1" lang="ja-JP" altLang="en-US"/>
          </a:p>
        </p:txBody>
      </p:sp>
    </p:spTree>
    <p:extLst>
      <p:ext uri="{BB962C8B-B14F-4D97-AF65-F5344CB8AC3E}">
        <p14:creationId xmlns:p14="http://schemas.microsoft.com/office/powerpoint/2010/main" val="2223032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E273681-7122-0251-357F-AC8AC369C2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2B87E49-20BE-A99C-B241-028435C2C9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E4C77C5-0116-DDDB-C053-AB0BF07E6F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6F762D-A491-46F4-8BF3-AA37E4D92F62}" type="datetime1">
              <a:rPr kumimoji="1" lang="ja-JP" altLang="en-US" smtClean="0"/>
              <a:t>2026/2/19</a:t>
            </a:fld>
            <a:endParaRPr kumimoji="1" lang="ja-JP" altLang="en-US"/>
          </a:p>
        </p:txBody>
      </p:sp>
      <p:sp>
        <p:nvSpPr>
          <p:cNvPr id="5" name="フッター プレースホルダー 4">
            <a:extLst>
              <a:ext uri="{FF2B5EF4-FFF2-40B4-BE49-F238E27FC236}">
                <a16:creationId xmlns:a16="http://schemas.microsoft.com/office/drawing/2014/main" id="{1C2A962F-1E2F-501B-84B9-0FB2B0CB6D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04D4F3B-C589-2523-850A-BABA9936CD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A322B9-08FF-4B54-ADFF-20A0A916893B}" type="slidenum">
              <a:rPr kumimoji="1" lang="ja-JP" altLang="en-US" smtClean="0"/>
              <a:t>‹#›</a:t>
            </a:fld>
            <a:endParaRPr kumimoji="1" lang="ja-JP" altLang="en-US"/>
          </a:p>
        </p:txBody>
      </p:sp>
    </p:spTree>
    <p:extLst>
      <p:ext uri="{BB962C8B-B14F-4D97-AF65-F5344CB8AC3E}">
        <p14:creationId xmlns:p14="http://schemas.microsoft.com/office/powerpoint/2010/main" val="8714500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2AD3B3-E76C-33DD-A58B-43EEAB432D56}"/>
              </a:ext>
            </a:extLst>
          </p:cNvPr>
          <p:cNvSpPr>
            <a:spLocks noGrp="1"/>
          </p:cNvSpPr>
          <p:nvPr>
            <p:ph type="title"/>
          </p:nvPr>
        </p:nvSpPr>
        <p:spPr>
          <a:xfrm>
            <a:off x="838200" y="365126"/>
            <a:ext cx="10515600" cy="640994"/>
          </a:xfrm>
        </p:spPr>
        <p:txBody>
          <a:bodyPr>
            <a:normAutofit fontScale="90000"/>
          </a:bodyPr>
          <a:lstStyle/>
          <a:p>
            <a:r>
              <a:rPr kumimoji="1" lang="en-US" altLang="ja-JP" sz="2400" dirty="0" err="1"/>
              <a:t>ModbusE</a:t>
            </a:r>
            <a:r>
              <a:rPr kumimoji="1" lang="en-US" altLang="ja-JP" sz="2400" dirty="0"/>
              <a:t> Interface</a:t>
            </a:r>
            <a:br>
              <a:rPr kumimoji="1" lang="en-US" altLang="ja-JP" sz="2400" dirty="0"/>
            </a:br>
            <a:r>
              <a:rPr kumimoji="1" lang="en-US" altLang="ja-JP" sz="2400" dirty="0"/>
              <a:t>(PI Interface for Modbus Ethernet PLC)</a:t>
            </a:r>
            <a:endParaRPr kumimoji="1" lang="ja-JP" altLang="en-US" sz="2400" dirty="0"/>
          </a:p>
        </p:txBody>
      </p:sp>
      <p:sp>
        <p:nvSpPr>
          <p:cNvPr id="3" name="コンテンツ プレースホルダー 2">
            <a:extLst>
              <a:ext uri="{FF2B5EF4-FFF2-40B4-BE49-F238E27FC236}">
                <a16:creationId xmlns:a16="http://schemas.microsoft.com/office/drawing/2014/main" id="{9E78A3E7-5B9B-9FB1-C6BA-44F752CB2C86}"/>
              </a:ext>
            </a:extLst>
          </p:cNvPr>
          <p:cNvSpPr>
            <a:spLocks noGrp="1"/>
          </p:cNvSpPr>
          <p:nvPr>
            <p:ph idx="1"/>
          </p:nvPr>
        </p:nvSpPr>
        <p:spPr>
          <a:xfrm>
            <a:off x="771386" y="1094896"/>
            <a:ext cx="10515600" cy="276999"/>
          </a:xfrm>
        </p:spPr>
        <p:txBody>
          <a:bodyPr>
            <a:normAutofit fontScale="92500" lnSpcReduction="20000"/>
          </a:bodyPr>
          <a:lstStyle/>
          <a:p>
            <a:r>
              <a:rPr lang="en-US" altLang="ja-JP" sz="1600" dirty="0"/>
              <a:t>PLC</a:t>
            </a:r>
            <a:r>
              <a:rPr lang="ja-JP" altLang="en-US" sz="1600" dirty="0"/>
              <a:t>側の前提条件</a:t>
            </a:r>
            <a:endParaRPr lang="en-US" altLang="ja-JP" sz="1600" dirty="0"/>
          </a:p>
        </p:txBody>
      </p:sp>
      <p:graphicFrame>
        <p:nvGraphicFramePr>
          <p:cNvPr id="4" name="表 3">
            <a:extLst>
              <a:ext uri="{FF2B5EF4-FFF2-40B4-BE49-F238E27FC236}">
                <a16:creationId xmlns:a16="http://schemas.microsoft.com/office/drawing/2014/main" id="{E0D4E4AA-B04A-FC64-C4D2-AA22B795A3F9}"/>
              </a:ext>
            </a:extLst>
          </p:cNvPr>
          <p:cNvGraphicFramePr>
            <a:graphicFrameLocks noGrp="1"/>
          </p:cNvGraphicFramePr>
          <p:nvPr>
            <p:extLst>
              <p:ext uri="{D42A27DB-BD31-4B8C-83A1-F6EECF244321}">
                <p14:modId xmlns:p14="http://schemas.microsoft.com/office/powerpoint/2010/main" val="2005211593"/>
              </p:ext>
            </p:extLst>
          </p:nvPr>
        </p:nvGraphicFramePr>
        <p:xfrm>
          <a:off x="905013" y="1325880"/>
          <a:ext cx="10381973" cy="2103120"/>
        </p:xfrm>
        <a:graphic>
          <a:graphicData uri="http://schemas.openxmlformats.org/drawingml/2006/table">
            <a:tbl>
              <a:tblPr firstRow="1" bandRow="1">
                <a:tableStyleId>{5C22544A-7EE6-4342-B048-85BDC9FD1C3A}</a:tableStyleId>
              </a:tblPr>
              <a:tblGrid>
                <a:gridCol w="1453321">
                  <a:extLst>
                    <a:ext uri="{9D8B030D-6E8A-4147-A177-3AD203B41FA5}">
                      <a16:colId xmlns:a16="http://schemas.microsoft.com/office/drawing/2014/main" val="1211358433"/>
                    </a:ext>
                  </a:extLst>
                </a:gridCol>
                <a:gridCol w="4555365">
                  <a:extLst>
                    <a:ext uri="{9D8B030D-6E8A-4147-A177-3AD203B41FA5}">
                      <a16:colId xmlns:a16="http://schemas.microsoft.com/office/drawing/2014/main" val="4038191690"/>
                    </a:ext>
                  </a:extLst>
                </a:gridCol>
                <a:gridCol w="4373287">
                  <a:extLst>
                    <a:ext uri="{9D8B030D-6E8A-4147-A177-3AD203B41FA5}">
                      <a16:colId xmlns:a16="http://schemas.microsoft.com/office/drawing/2014/main" val="3690498247"/>
                    </a:ext>
                  </a:extLst>
                </a:gridCol>
              </a:tblGrid>
              <a:tr h="224552">
                <a:tc>
                  <a:txBody>
                    <a:bodyPr/>
                    <a:lstStyle/>
                    <a:p>
                      <a:r>
                        <a:rPr kumimoji="1" lang="ja-JP" altLang="en-US" sz="1200" dirty="0"/>
                        <a:t>項目</a:t>
                      </a:r>
                    </a:p>
                  </a:txBody>
                  <a:tcPr/>
                </a:tc>
                <a:tc>
                  <a:txBody>
                    <a:bodyPr/>
                    <a:lstStyle/>
                    <a:p>
                      <a:r>
                        <a:rPr kumimoji="1" lang="ja-JP" altLang="en-US" sz="1200" dirty="0"/>
                        <a:t>内容</a:t>
                      </a:r>
                    </a:p>
                  </a:txBody>
                  <a:tcPr/>
                </a:tc>
                <a:tc>
                  <a:txBody>
                    <a:bodyPr/>
                    <a:lstStyle/>
                    <a:p>
                      <a:r>
                        <a:rPr kumimoji="1" lang="ja-JP" altLang="en-US" sz="1200" dirty="0"/>
                        <a:t>根拠・ページ・記述</a:t>
                      </a:r>
                      <a:endParaRPr kumimoji="1" lang="en-US" altLang="ja-JP" sz="1200" dirty="0"/>
                    </a:p>
                  </a:txBody>
                  <a:tcPr/>
                </a:tc>
                <a:extLst>
                  <a:ext uri="{0D108BD9-81ED-4DB2-BD59-A6C34878D82A}">
                    <a16:rowId xmlns:a16="http://schemas.microsoft.com/office/drawing/2014/main" val="418368254"/>
                  </a:ext>
                </a:extLst>
              </a:tr>
              <a:tr h="210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通信方式</a:t>
                      </a:r>
                    </a:p>
                  </a:txBody>
                  <a:tcPr/>
                </a:tc>
                <a:tc>
                  <a:txBody>
                    <a:bodyPr/>
                    <a:lstStyle/>
                    <a:p>
                      <a:r>
                        <a:rPr lang="en-US" altLang="ja-JP" sz="1200" dirty="0"/>
                        <a:t>Ethernet</a:t>
                      </a:r>
                      <a:r>
                        <a:rPr lang="ja-JP" altLang="en-US" sz="1200" dirty="0"/>
                        <a:t>経由</a:t>
                      </a:r>
                      <a:r>
                        <a:rPr lang="en-US" altLang="ja-JP" sz="1200" dirty="0"/>
                        <a:t>Modbus</a:t>
                      </a:r>
                      <a:r>
                        <a:rPr lang="ja-JP" altLang="en-US" sz="1200" dirty="0"/>
                        <a:t>通信が可能</a:t>
                      </a:r>
                      <a:r>
                        <a:rPr kumimoji="1" lang="ja-JP" altLang="en-US" sz="1200" dirty="0"/>
                        <a:t>（</a:t>
                      </a:r>
                      <a:r>
                        <a:rPr kumimoji="1" lang="en-US" altLang="ja-JP" sz="1200" dirty="0"/>
                        <a:t>Modbus TCP</a:t>
                      </a:r>
                      <a:r>
                        <a:rPr kumimoji="1" lang="ja-JP" altLang="en-US" sz="1200" dirty="0"/>
                        <a:t>対応と同義）</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t>
                      </a:r>
                      <a:r>
                        <a:rPr kumimoji="1" lang="ja-JP" altLang="en-US" sz="1200" dirty="0"/>
                        <a:t>通信方向は</a:t>
                      </a:r>
                      <a:r>
                        <a:rPr kumimoji="1" lang="en-US" altLang="ja-JP" sz="1200" dirty="0" err="1"/>
                        <a:t>ModbusE</a:t>
                      </a:r>
                      <a:r>
                        <a:rPr kumimoji="1" lang="en-US" altLang="ja-JP" sz="1200" dirty="0"/>
                        <a:t> IF</a:t>
                      </a:r>
                      <a:r>
                        <a:rPr kumimoji="1" lang="ja-JP" altLang="en-US" sz="1200" dirty="0"/>
                        <a:t>から</a:t>
                      </a:r>
                      <a:r>
                        <a:rPr kumimoji="1" lang="en-US" altLang="ja-JP" sz="1200" dirty="0"/>
                        <a:t>PLC</a:t>
                      </a:r>
                      <a:r>
                        <a:rPr kumimoji="1" lang="ja-JP" altLang="en-US" sz="1200" dirty="0"/>
                        <a:t>への定期データ読取を想定</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dirty="0"/>
                    </a:p>
                    <a:p>
                      <a:endParaRPr kumimoji="1" lang="ja-JP" altLang="en-US" sz="1200" dirty="0"/>
                    </a:p>
                  </a:txBody>
                  <a:tcPr/>
                </a:tc>
                <a:tc>
                  <a:txBody>
                    <a:bodyPr/>
                    <a:lstStyle/>
                    <a:p>
                      <a:r>
                        <a:rPr kumimoji="1" lang="en-US" altLang="ja-JP" sz="1200" dirty="0"/>
                        <a:t>P.9</a:t>
                      </a:r>
                      <a:br>
                        <a:rPr kumimoji="1" lang="en-US" altLang="ja-JP" sz="1200" dirty="0"/>
                      </a:br>
                      <a:r>
                        <a:rPr kumimoji="1" lang="en-US" altLang="ja-JP" sz="1200" b="0" i="0" u="none" strike="noStrike" kern="1200" baseline="0" dirty="0">
                          <a:solidFill>
                            <a:schemeClr val="dk1"/>
                          </a:solidFill>
                          <a:latin typeface="+mn-lt"/>
                          <a:ea typeface="+mn-ea"/>
                          <a:cs typeface="+mn-cs"/>
                        </a:rPr>
                        <a:t>Only Modbus communication with</a:t>
                      </a:r>
                      <a:r>
                        <a:rPr kumimoji="1" lang="ja-JP" altLang="en-US" sz="1200" b="0" i="0" u="none" strike="noStrike" kern="1200" baseline="0" dirty="0">
                          <a:solidFill>
                            <a:schemeClr val="dk1"/>
                          </a:solidFill>
                          <a:latin typeface="+mn-lt"/>
                          <a:ea typeface="+mn-ea"/>
                          <a:cs typeface="+mn-cs"/>
                        </a:rPr>
                        <a:t> </a:t>
                      </a:r>
                      <a:r>
                        <a:rPr kumimoji="1" lang="en-US" altLang="ja-JP" sz="1200" b="0" i="0" u="none" strike="noStrike" kern="1200" baseline="0" dirty="0">
                          <a:solidFill>
                            <a:schemeClr val="dk1"/>
                          </a:solidFill>
                          <a:latin typeface="+mn-lt"/>
                          <a:ea typeface="+mn-ea"/>
                          <a:cs typeface="+mn-cs"/>
                        </a:rPr>
                        <a:t>an ethernet device is</a:t>
                      </a:r>
                      <a:r>
                        <a:rPr kumimoji="1" lang="ja-JP" altLang="en-US" sz="1200" b="0" i="0" u="none" strike="noStrike" kern="1200" baseline="0" dirty="0">
                          <a:solidFill>
                            <a:schemeClr val="dk1"/>
                          </a:solidFill>
                          <a:latin typeface="+mn-lt"/>
                          <a:ea typeface="+mn-ea"/>
                          <a:cs typeface="+mn-cs"/>
                        </a:rPr>
                        <a:t>　</a:t>
                      </a:r>
                      <a:r>
                        <a:rPr kumimoji="1" lang="en-US" altLang="ja-JP" sz="1200" b="0" i="0" u="none" strike="noStrike" kern="1200" baseline="0" dirty="0">
                          <a:solidFill>
                            <a:schemeClr val="dk1"/>
                          </a:solidFill>
                          <a:latin typeface="+mn-lt"/>
                          <a:ea typeface="+mn-ea"/>
                          <a:cs typeface="+mn-cs"/>
                        </a:rPr>
                        <a:t>supported.</a:t>
                      </a:r>
                    </a:p>
                    <a:p>
                      <a:r>
                        <a:rPr kumimoji="1" lang="en-US" altLang="ja-JP" sz="1200" dirty="0"/>
                        <a:t>The interface is designed to read data from a PLC on a periodic or event basis</a:t>
                      </a:r>
                      <a:endParaRPr kumimoji="1" lang="ja-JP" altLang="en-US" sz="1200" dirty="0"/>
                    </a:p>
                  </a:txBody>
                  <a:tcPr/>
                </a:tc>
                <a:extLst>
                  <a:ext uri="{0D108BD9-81ED-4DB2-BD59-A6C34878D82A}">
                    <a16:rowId xmlns:a16="http://schemas.microsoft.com/office/drawing/2014/main" val="3036631503"/>
                  </a:ext>
                </a:extLst>
              </a:tr>
              <a:tr h="0">
                <a:tc>
                  <a:txBody>
                    <a:bodyPr/>
                    <a:lstStyle/>
                    <a:p>
                      <a:r>
                        <a:rPr kumimoji="1" lang="ja-JP" altLang="en-US" sz="1200" dirty="0"/>
                        <a:t>通信障害時の</a:t>
                      </a:r>
                      <a:endParaRPr kumimoji="1" lang="en-US" altLang="ja-JP" sz="1200" dirty="0"/>
                    </a:p>
                    <a:p>
                      <a:r>
                        <a:rPr kumimoji="1" lang="ja-JP" altLang="en-US" sz="1200" dirty="0"/>
                        <a:t>再接続</a:t>
                      </a:r>
                    </a:p>
                  </a:txBody>
                  <a:tcPr/>
                </a:tc>
                <a:tc>
                  <a:txBody>
                    <a:bodyPr/>
                    <a:lstStyle/>
                    <a:p>
                      <a:r>
                        <a:rPr kumimoji="1" lang="en-US" altLang="ja-JP" sz="1200" dirty="0" err="1"/>
                        <a:t>ModbusE</a:t>
                      </a:r>
                      <a:r>
                        <a:rPr kumimoji="1" lang="ja-JP" altLang="en-US" sz="1200" dirty="0"/>
                        <a:t>は</a:t>
                      </a:r>
                      <a:r>
                        <a:rPr kumimoji="1" lang="en-US" altLang="ja-JP" sz="1200" dirty="0"/>
                        <a:t>PLC</a:t>
                      </a:r>
                      <a:r>
                        <a:rPr kumimoji="1" lang="ja-JP" altLang="en-US" sz="1200" dirty="0"/>
                        <a:t>との通信異常時に、</a:t>
                      </a:r>
                      <a:r>
                        <a:rPr kumimoji="1" lang="en-US" altLang="ja-JP" sz="1200" dirty="0"/>
                        <a:t>PLC</a:t>
                      </a:r>
                      <a:r>
                        <a:rPr kumimoji="1" lang="ja-JP" altLang="en-US" sz="1200" dirty="0"/>
                        <a:t>へ再接続を試みる</a:t>
                      </a:r>
                      <a:endParaRPr kumimoji="1" lang="en-US" altLang="ja-JP" sz="1200" dirty="0"/>
                    </a:p>
                  </a:txBody>
                  <a:tcPr/>
                </a:tc>
                <a:tc>
                  <a:txBody>
                    <a:bodyPr/>
                    <a:lstStyle/>
                    <a:p>
                      <a:r>
                        <a:rPr kumimoji="1" lang="en-US" altLang="ja-JP" sz="1200" dirty="0"/>
                        <a:t>P.14</a:t>
                      </a:r>
                    </a:p>
                    <a:p>
                      <a:r>
                        <a:rPr kumimoji="1" lang="en-US" altLang="ja-JP" sz="1200" dirty="0"/>
                        <a:t>If a communication error occurs while attempting to read data from a PLC, the interface will attempt to re-establish communication until it is successful.</a:t>
                      </a:r>
                    </a:p>
                  </a:txBody>
                  <a:tcPr/>
                </a:tc>
                <a:extLst>
                  <a:ext uri="{0D108BD9-81ED-4DB2-BD59-A6C34878D82A}">
                    <a16:rowId xmlns:a16="http://schemas.microsoft.com/office/drawing/2014/main" val="2136742154"/>
                  </a:ext>
                </a:extLst>
              </a:tr>
            </a:tbl>
          </a:graphicData>
        </a:graphic>
      </p:graphicFrame>
      <p:sp>
        <p:nvSpPr>
          <p:cNvPr id="6" name="テキスト ボックス 5">
            <a:extLst>
              <a:ext uri="{FF2B5EF4-FFF2-40B4-BE49-F238E27FC236}">
                <a16:creationId xmlns:a16="http://schemas.microsoft.com/office/drawing/2014/main" id="{D1BE9448-BB68-B982-B6D2-13B3E94978AB}"/>
              </a:ext>
            </a:extLst>
          </p:cNvPr>
          <p:cNvSpPr txBox="1"/>
          <p:nvPr/>
        </p:nvSpPr>
        <p:spPr>
          <a:xfrm>
            <a:off x="6477275" y="1048881"/>
            <a:ext cx="5647911" cy="276999"/>
          </a:xfrm>
          <a:prstGeom prst="rect">
            <a:avLst/>
          </a:prstGeom>
          <a:noFill/>
        </p:spPr>
        <p:txBody>
          <a:bodyPr wrap="square">
            <a:spAutoFit/>
          </a:bodyPr>
          <a:lstStyle/>
          <a:p>
            <a:r>
              <a:rPr lang="ja-JP" altLang="en-US" sz="1200" dirty="0"/>
              <a:t>参照</a:t>
            </a:r>
            <a:r>
              <a:rPr lang="en-US" altLang="ja-JP" sz="1200" dirty="0"/>
              <a:t>: </a:t>
            </a:r>
            <a:r>
              <a:rPr lang="ja-JP" altLang="en-US" sz="1200" dirty="0"/>
              <a:t>PI-Interface-for-Modbus-Ethernet-PLC-4.3.1-User-Guide.pdf</a:t>
            </a:r>
          </a:p>
        </p:txBody>
      </p:sp>
      <p:sp>
        <p:nvSpPr>
          <p:cNvPr id="9" name="コンテンツ プレースホルダー 2">
            <a:extLst>
              <a:ext uri="{FF2B5EF4-FFF2-40B4-BE49-F238E27FC236}">
                <a16:creationId xmlns:a16="http://schemas.microsoft.com/office/drawing/2014/main" id="{457BA847-71A5-BB16-A6D1-F308FAA710ED}"/>
              </a:ext>
            </a:extLst>
          </p:cNvPr>
          <p:cNvSpPr txBox="1">
            <a:spLocks/>
          </p:cNvSpPr>
          <p:nvPr/>
        </p:nvSpPr>
        <p:spPr>
          <a:xfrm>
            <a:off x="771386" y="3521484"/>
            <a:ext cx="10515600" cy="27699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600" dirty="0"/>
              <a:t>PLC</a:t>
            </a:r>
            <a:r>
              <a:rPr lang="ja-JP" altLang="en-US" sz="1600" dirty="0"/>
              <a:t>側の設定制約</a:t>
            </a:r>
            <a:endParaRPr lang="en-US" altLang="ja-JP" sz="1600" dirty="0"/>
          </a:p>
        </p:txBody>
      </p:sp>
      <p:graphicFrame>
        <p:nvGraphicFramePr>
          <p:cNvPr id="10" name="表 9">
            <a:extLst>
              <a:ext uri="{FF2B5EF4-FFF2-40B4-BE49-F238E27FC236}">
                <a16:creationId xmlns:a16="http://schemas.microsoft.com/office/drawing/2014/main" id="{4C5B6B47-9947-29EA-0EE6-56106BE16960}"/>
              </a:ext>
            </a:extLst>
          </p:cNvPr>
          <p:cNvGraphicFramePr>
            <a:graphicFrameLocks noGrp="1"/>
          </p:cNvGraphicFramePr>
          <p:nvPr>
            <p:extLst>
              <p:ext uri="{D42A27DB-BD31-4B8C-83A1-F6EECF244321}">
                <p14:modId xmlns:p14="http://schemas.microsoft.com/office/powerpoint/2010/main" val="2018332134"/>
              </p:ext>
            </p:extLst>
          </p:nvPr>
        </p:nvGraphicFramePr>
        <p:xfrm>
          <a:off x="905013" y="3798483"/>
          <a:ext cx="10381973" cy="3017520"/>
        </p:xfrm>
        <a:graphic>
          <a:graphicData uri="http://schemas.openxmlformats.org/drawingml/2006/table">
            <a:tbl>
              <a:tblPr firstRow="1" bandRow="1">
                <a:tableStyleId>{5C22544A-7EE6-4342-B048-85BDC9FD1C3A}</a:tableStyleId>
              </a:tblPr>
              <a:tblGrid>
                <a:gridCol w="1453321">
                  <a:extLst>
                    <a:ext uri="{9D8B030D-6E8A-4147-A177-3AD203B41FA5}">
                      <a16:colId xmlns:a16="http://schemas.microsoft.com/office/drawing/2014/main" val="1211358433"/>
                    </a:ext>
                  </a:extLst>
                </a:gridCol>
                <a:gridCol w="4555365">
                  <a:extLst>
                    <a:ext uri="{9D8B030D-6E8A-4147-A177-3AD203B41FA5}">
                      <a16:colId xmlns:a16="http://schemas.microsoft.com/office/drawing/2014/main" val="4038191690"/>
                    </a:ext>
                  </a:extLst>
                </a:gridCol>
                <a:gridCol w="4373287">
                  <a:extLst>
                    <a:ext uri="{9D8B030D-6E8A-4147-A177-3AD203B41FA5}">
                      <a16:colId xmlns:a16="http://schemas.microsoft.com/office/drawing/2014/main" val="3690498247"/>
                    </a:ext>
                  </a:extLst>
                </a:gridCol>
              </a:tblGrid>
              <a:tr h="224552">
                <a:tc>
                  <a:txBody>
                    <a:bodyPr/>
                    <a:lstStyle/>
                    <a:p>
                      <a:r>
                        <a:rPr kumimoji="1" lang="ja-JP" altLang="en-US" sz="1200" dirty="0"/>
                        <a:t>項目</a:t>
                      </a:r>
                    </a:p>
                  </a:txBody>
                  <a:tcPr/>
                </a:tc>
                <a:tc>
                  <a:txBody>
                    <a:bodyPr/>
                    <a:lstStyle/>
                    <a:p>
                      <a:r>
                        <a:rPr kumimoji="1" lang="ja-JP" altLang="en-US" sz="1200" dirty="0"/>
                        <a:t>内容</a:t>
                      </a:r>
                    </a:p>
                  </a:txBody>
                  <a:tcPr/>
                </a:tc>
                <a:tc>
                  <a:txBody>
                    <a:bodyPr/>
                    <a:lstStyle/>
                    <a:p>
                      <a:r>
                        <a:rPr kumimoji="1" lang="ja-JP" altLang="en-US" sz="1200" dirty="0"/>
                        <a:t>根拠・ページ・記述</a:t>
                      </a:r>
                      <a:endParaRPr kumimoji="1" lang="en-US" altLang="ja-JP" sz="1200" dirty="0"/>
                    </a:p>
                  </a:txBody>
                  <a:tcPr/>
                </a:tc>
                <a:extLst>
                  <a:ext uri="{0D108BD9-81ED-4DB2-BD59-A6C34878D82A}">
                    <a16:rowId xmlns:a16="http://schemas.microsoft.com/office/drawing/2014/main" val="418368254"/>
                  </a:ext>
                </a:extLst>
              </a:tr>
              <a:tr h="210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読取効率と最適配置</a:t>
                      </a:r>
                    </a:p>
                  </a:txBody>
                  <a:tcPr/>
                </a:tc>
                <a:tc>
                  <a:txBody>
                    <a:bodyPr/>
                    <a:lstStyle/>
                    <a:p>
                      <a:r>
                        <a:rPr lang="ja-JP" altLang="en-US" sz="1200" dirty="0"/>
                        <a:t>取得対象データを</a:t>
                      </a:r>
                      <a:r>
                        <a:rPr lang="en-US" altLang="ja-JP" sz="1200" dirty="0"/>
                        <a:t>PLC</a:t>
                      </a:r>
                      <a:r>
                        <a:rPr lang="ja-JP" altLang="en-US" sz="1200" dirty="0"/>
                        <a:t>メモリ上で連続配置することで</a:t>
                      </a:r>
                      <a:r>
                        <a:rPr lang="en-US" altLang="ja-JP" sz="1200" dirty="0"/>
                        <a:t>PI</a:t>
                      </a:r>
                      <a:r>
                        <a:rPr lang="ja-JP" altLang="en-US" sz="1200" dirty="0"/>
                        <a:t>からの通信回数を削減でき効率化可能。</a:t>
                      </a:r>
                      <a:br>
                        <a:rPr lang="ja-JP" altLang="en-US" sz="1200" dirty="0"/>
                      </a:br>
                      <a:r>
                        <a:rPr lang="en-US" altLang="ja-JP" sz="1200" dirty="0"/>
                        <a:t>※</a:t>
                      </a:r>
                      <a:r>
                        <a:rPr lang="en-US" altLang="ja-JP" sz="1200" dirty="0" err="1"/>
                        <a:t>ModbusE</a:t>
                      </a:r>
                      <a:r>
                        <a:rPr lang="en-US" altLang="ja-JP" sz="1200" dirty="0"/>
                        <a:t> IF</a:t>
                      </a:r>
                      <a:r>
                        <a:rPr lang="ja-JP" altLang="en-US" sz="1200" dirty="0"/>
                        <a:t>の最大読取サイズは約</a:t>
                      </a:r>
                      <a:r>
                        <a:rPr lang="en-US" altLang="ja-JP" sz="1200" dirty="0"/>
                        <a:t>250</a:t>
                      </a:r>
                      <a:r>
                        <a:rPr lang="ja-JP" altLang="en-US" sz="1200" dirty="0"/>
                        <a:t>バイト</a:t>
                      </a:r>
                      <a:r>
                        <a:rPr lang="en-US" altLang="ja-JP" sz="1200" dirty="0"/>
                        <a:t>/</a:t>
                      </a:r>
                      <a:r>
                        <a:rPr lang="ja-JP" altLang="en-US" sz="1200" dirty="0"/>
                        <a:t>回であるため、なるべく連続領域で</a:t>
                      </a:r>
                      <a:r>
                        <a:rPr lang="en-US" altLang="ja-JP" sz="1200" dirty="0"/>
                        <a:t>1</a:t>
                      </a:r>
                      <a:r>
                        <a:rPr lang="ja-JP" altLang="en-US" sz="1200" dirty="0"/>
                        <a:t>スキャンでデータを取得できる事が望ましい</a:t>
                      </a:r>
                      <a:endParaRPr kumimoji="1" lang="ja-JP" altLang="en-US" sz="1200" dirty="0"/>
                    </a:p>
                    <a:p>
                      <a:endParaRPr kumimoji="1" lang="ja-JP" altLang="en-US" sz="1200" dirty="0"/>
                    </a:p>
                  </a:txBody>
                  <a:tcPr/>
                </a:tc>
                <a:tc>
                  <a:txBody>
                    <a:bodyPr/>
                    <a:lstStyle/>
                    <a:p>
                      <a:r>
                        <a:rPr kumimoji="1" lang="en-US" altLang="ja-JP" sz="1200" dirty="0"/>
                        <a:t>P.14</a:t>
                      </a:r>
                      <a:br>
                        <a:rPr kumimoji="1" lang="en-US" altLang="ja-JP" sz="1200" dirty="0"/>
                      </a:br>
                      <a:r>
                        <a:rPr kumimoji="1" lang="en-US" altLang="ja-JP" sz="1200" dirty="0"/>
                        <a:t>The interface is designed to optimize data transfer and minimize communication traffic by collecting input data</a:t>
                      </a:r>
                    </a:p>
                    <a:p>
                      <a:r>
                        <a:rPr kumimoji="1" lang="en-US" altLang="ja-JP" sz="1200" dirty="0"/>
                        <a:t>into groups. Input points that are configured with the same function code, scan rate, and PLC destination node</a:t>
                      </a:r>
                    </a:p>
                    <a:p>
                      <a:r>
                        <a:rPr kumimoji="1" lang="en-US" altLang="ja-JP" sz="1200" dirty="0"/>
                        <a:t>are grouped together. When the amount of data that is requested for a given group exceeds the maximum data</a:t>
                      </a:r>
                    </a:p>
                    <a:p>
                      <a:r>
                        <a:rPr kumimoji="1" lang="en-US" altLang="ja-JP" sz="1200" dirty="0"/>
                        <a:t>transfer size (up to 250 bytes) a new group is created. The proper use of PLC memory can greatly enhance the</a:t>
                      </a:r>
                    </a:p>
                    <a:p>
                      <a:r>
                        <a:rPr kumimoji="1" lang="en-US" altLang="ja-JP" sz="1200" dirty="0"/>
                        <a:t>efficiency and overall data throughput of the interface.</a:t>
                      </a:r>
                      <a:endParaRPr kumimoji="1" lang="ja-JP" altLang="en-US" sz="1200" dirty="0"/>
                    </a:p>
                  </a:txBody>
                  <a:tcPr/>
                </a:tc>
                <a:extLst>
                  <a:ext uri="{0D108BD9-81ED-4DB2-BD59-A6C34878D82A}">
                    <a16:rowId xmlns:a16="http://schemas.microsoft.com/office/drawing/2014/main" val="3036631503"/>
                  </a:ext>
                </a:extLst>
              </a:tr>
              <a:tr h="0">
                <a:tc>
                  <a:txBody>
                    <a:bodyPr/>
                    <a:lstStyle/>
                    <a:p>
                      <a:r>
                        <a:rPr kumimoji="1" lang="ja-JP" altLang="en-US" sz="1200" dirty="0"/>
                        <a:t>最短更新周期</a:t>
                      </a:r>
                    </a:p>
                  </a:txBody>
                  <a:tcPr/>
                </a:tc>
                <a:tc>
                  <a:txBody>
                    <a:bodyPr/>
                    <a:lstStyle/>
                    <a:p>
                      <a:r>
                        <a:rPr kumimoji="1" lang="en-US" altLang="ja-JP" sz="1200" dirty="0"/>
                        <a:t>PLC</a:t>
                      </a:r>
                      <a:r>
                        <a:rPr kumimoji="1" lang="ja-JP" altLang="en-US" sz="1200" dirty="0"/>
                        <a:t>側で読取り対象データが更新される最短更新周期</a:t>
                      </a:r>
                      <a:endParaRPr kumimoji="1" lang="en-US" altLang="ja-JP" sz="1200" dirty="0"/>
                    </a:p>
                    <a:p>
                      <a:r>
                        <a:rPr kumimoji="1" lang="en-US" altLang="ja-JP" sz="1200" dirty="0"/>
                        <a:t>※</a:t>
                      </a:r>
                      <a:r>
                        <a:rPr kumimoji="1" lang="ja-JP" altLang="en-US" sz="1200" dirty="0"/>
                        <a:t>スキャン周期設定をデータ更新の最短周期より短く設定しても同一データの重複読取となるため、最短更新周期を確認したい</a:t>
                      </a:r>
                      <a:endParaRPr kumimoji="1" lang="en-US" altLang="ja-JP" sz="1200" dirty="0"/>
                    </a:p>
                  </a:txBody>
                  <a:tcPr/>
                </a:tc>
                <a:tc>
                  <a:txBody>
                    <a:bodyPr/>
                    <a:lstStyle/>
                    <a:p>
                      <a:r>
                        <a:rPr kumimoji="1" lang="en-US" altLang="ja-JP" sz="1200" dirty="0"/>
                        <a:t>P.34 </a:t>
                      </a:r>
                    </a:p>
                    <a:p>
                      <a:r>
                        <a:rPr kumimoji="1" lang="en-US" altLang="ja-JP" sz="1200" dirty="0"/>
                        <a:t>The scan class determines the frequency at which input points are scanned for new values.</a:t>
                      </a:r>
                    </a:p>
                  </a:txBody>
                  <a:tcPr/>
                </a:tc>
                <a:extLst>
                  <a:ext uri="{0D108BD9-81ED-4DB2-BD59-A6C34878D82A}">
                    <a16:rowId xmlns:a16="http://schemas.microsoft.com/office/drawing/2014/main" val="2136742154"/>
                  </a:ext>
                </a:extLst>
              </a:tr>
            </a:tbl>
          </a:graphicData>
        </a:graphic>
      </p:graphicFrame>
      <p:sp>
        <p:nvSpPr>
          <p:cNvPr id="5" name="スライド番号プレースホルダー 4">
            <a:extLst>
              <a:ext uri="{FF2B5EF4-FFF2-40B4-BE49-F238E27FC236}">
                <a16:creationId xmlns:a16="http://schemas.microsoft.com/office/drawing/2014/main" id="{BF6A7437-C978-9F5D-04FB-44A071C9DBB2}"/>
              </a:ext>
            </a:extLst>
          </p:cNvPr>
          <p:cNvSpPr>
            <a:spLocks noGrp="1"/>
          </p:cNvSpPr>
          <p:nvPr>
            <p:ph type="sldNum" sz="quarter" idx="12"/>
          </p:nvPr>
        </p:nvSpPr>
        <p:spPr/>
        <p:txBody>
          <a:bodyPr/>
          <a:lstStyle/>
          <a:p>
            <a:fld id="{1EA322B9-08FF-4B54-ADFF-20A0A916893B}" type="slidenum">
              <a:rPr kumimoji="1" lang="ja-JP" altLang="en-US" smtClean="0"/>
              <a:t>1</a:t>
            </a:fld>
            <a:endParaRPr kumimoji="1" lang="ja-JP" altLang="en-US"/>
          </a:p>
        </p:txBody>
      </p:sp>
    </p:spTree>
    <p:extLst>
      <p:ext uri="{BB962C8B-B14F-4D97-AF65-F5344CB8AC3E}">
        <p14:creationId xmlns:p14="http://schemas.microsoft.com/office/powerpoint/2010/main" val="3846716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コンテンツ プレースホルダー 2">
            <a:extLst>
              <a:ext uri="{FF2B5EF4-FFF2-40B4-BE49-F238E27FC236}">
                <a16:creationId xmlns:a16="http://schemas.microsoft.com/office/drawing/2014/main" id="{0AE9FEE5-C30A-8943-75F9-A3D9038452E5}"/>
              </a:ext>
            </a:extLst>
          </p:cNvPr>
          <p:cNvSpPr>
            <a:spLocks noGrp="1"/>
          </p:cNvSpPr>
          <p:nvPr>
            <p:ph idx="1"/>
          </p:nvPr>
        </p:nvSpPr>
        <p:spPr>
          <a:xfrm>
            <a:off x="838200" y="1006120"/>
            <a:ext cx="10515600" cy="276999"/>
          </a:xfrm>
        </p:spPr>
        <p:txBody>
          <a:bodyPr>
            <a:normAutofit fontScale="92500" lnSpcReduction="20000"/>
          </a:bodyPr>
          <a:lstStyle/>
          <a:p>
            <a:r>
              <a:rPr lang="en-US" altLang="ja-JP" sz="1600" dirty="0"/>
              <a:t>PLC</a:t>
            </a:r>
            <a:r>
              <a:rPr lang="ja-JP" altLang="en-US" sz="1600" dirty="0"/>
              <a:t>側の受領するべき情報</a:t>
            </a:r>
            <a:endParaRPr lang="en-US" altLang="ja-JP" sz="1600" dirty="0"/>
          </a:p>
        </p:txBody>
      </p:sp>
      <p:graphicFrame>
        <p:nvGraphicFramePr>
          <p:cNvPr id="5" name="表 4">
            <a:extLst>
              <a:ext uri="{FF2B5EF4-FFF2-40B4-BE49-F238E27FC236}">
                <a16:creationId xmlns:a16="http://schemas.microsoft.com/office/drawing/2014/main" id="{94AFECA5-5C2C-F3D6-0CAD-09282C9E5D50}"/>
              </a:ext>
            </a:extLst>
          </p:cNvPr>
          <p:cNvGraphicFramePr>
            <a:graphicFrameLocks noGrp="1"/>
          </p:cNvGraphicFramePr>
          <p:nvPr>
            <p:extLst>
              <p:ext uri="{D42A27DB-BD31-4B8C-83A1-F6EECF244321}">
                <p14:modId xmlns:p14="http://schemas.microsoft.com/office/powerpoint/2010/main" val="722424748"/>
              </p:ext>
            </p:extLst>
          </p:nvPr>
        </p:nvGraphicFramePr>
        <p:xfrm>
          <a:off x="971827" y="1274800"/>
          <a:ext cx="10381973" cy="5029200"/>
        </p:xfrm>
        <a:graphic>
          <a:graphicData uri="http://schemas.openxmlformats.org/drawingml/2006/table">
            <a:tbl>
              <a:tblPr firstRow="1" bandRow="1">
                <a:tableStyleId>{5C22544A-7EE6-4342-B048-85BDC9FD1C3A}</a:tableStyleId>
              </a:tblPr>
              <a:tblGrid>
                <a:gridCol w="1453321">
                  <a:extLst>
                    <a:ext uri="{9D8B030D-6E8A-4147-A177-3AD203B41FA5}">
                      <a16:colId xmlns:a16="http://schemas.microsoft.com/office/drawing/2014/main" val="1211358433"/>
                    </a:ext>
                  </a:extLst>
                </a:gridCol>
                <a:gridCol w="4555365">
                  <a:extLst>
                    <a:ext uri="{9D8B030D-6E8A-4147-A177-3AD203B41FA5}">
                      <a16:colId xmlns:a16="http://schemas.microsoft.com/office/drawing/2014/main" val="4038191690"/>
                    </a:ext>
                  </a:extLst>
                </a:gridCol>
                <a:gridCol w="4373287">
                  <a:extLst>
                    <a:ext uri="{9D8B030D-6E8A-4147-A177-3AD203B41FA5}">
                      <a16:colId xmlns:a16="http://schemas.microsoft.com/office/drawing/2014/main" val="3690498247"/>
                    </a:ext>
                  </a:extLst>
                </a:gridCol>
              </a:tblGrid>
              <a:tr h="224552">
                <a:tc>
                  <a:txBody>
                    <a:bodyPr/>
                    <a:lstStyle/>
                    <a:p>
                      <a:r>
                        <a:rPr kumimoji="1" lang="ja-JP" altLang="en-US" sz="1200" dirty="0"/>
                        <a:t>項目</a:t>
                      </a:r>
                    </a:p>
                  </a:txBody>
                  <a:tcPr/>
                </a:tc>
                <a:tc>
                  <a:txBody>
                    <a:bodyPr/>
                    <a:lstStyle/>
                    <a:p>
                      <a:r>
                        <a:rPr kumimoji="1" lang="ja-JP" altLang="en-US" sz="1200" dirty="0"/>
                        <a:t>内容</a:t>
                      </a:r>
                    </a:p>
                  </a:txBody>
                  <a:tcPr/>
                </a:tc>
                <a:tc>
                  <a:txBody>
                    <a:bodyPr/>
                    <a:lstStyle/>
                    <a:p>
                      <a:r>
                        <a:rPr kumimoji="1" lang="ja-JP" altLang="en-US" sz="1200" dirty="0"/>
                        <a:t>根拠・ページ・記述</a:t>
                      </a:r>
                      <a:endParaRPr kumimoji="1" lang="en-US" altLang="ja-JP" sz="1200" dirty="0"/>
                    </a:p>
                  </a:txBody>
                  <a:tcPr/>
                </a:tc>
                <a:extLst>
                  <a:ext uri="{0D108BD9-81ED-4DB2-BD59-A6C34878D82A}">
                    <a16:rowId xmlns:a16="http://schemas.microsoft.com/office/drawing/2014/main" val="418368254"/>
                  </a:ext>
                </a:extLst>
              </a:tr>
              <a:tr h="210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PLC</a:t>
                      </a:r>
                      <a:r>
                        <a:rPr kumimoji="1" lang="ja-JP" altLang="en-US" sz="1200" dirty="0"/>
                        <a:t>モデル詳細</a:t>
                      </a:r>
                    </a:p>
                  </a:txBody>
                  <a:tcPr/>
                </a:tc>
                <a:tc>
                  <a:txBody>
                    <a:bodyPr/>
                    <a:lstStyle/>
                    <a:p>
                      <a:r>
                        <a:rPr kumimoji="1" lang="en-US" altLang="ja-JP" sz="1200" dirty="0"/>
                        <a:t>PLC</a:t>
                      </a:r>
                      <a:r>
                        <a:rPr kumimoji="1" lang="ja-JP" altLang="en-US" sz="1200" dirty="0"/>
                        <a:t>製造メーカー、型番、追加されているユニット（あれば）</a:t>
                      </a:r>
                    </a:p>
                  </a:txBody>
                  <a:tcPr/>
                </a:tc>
                <a:tc>
                  <a:txBody>
                    <a:bodyPr/>
                    <a:lstStyle/>
                    <a:p>
                      <a:r>
                        <a:rPr kumimoji="1" lang="en-US" altLang="ja-JP" sz="1200" dirty="0"/>
                        <a:t>-</a:t>
                      </a:r>
                      <a:endParaRPr kumimoji="1" lang="ja-JP" altLang="en-US" sz="1200" dirty="0"/>
                    </a:p>
                  </a:txBody>
                  <a:tcPr/>
                </a:tc>
                <a:extLst>
                  <a:ext uri="{0D108BD9-81ED-4DB2-BD59-A6C34878D82A}">
                    <a16:rowId xmlns:a16="http://schemas.microsoft.com/office/drawing/2014/main" val="4131416957"/>
                  </a:ext>
                </a:extLst>
              </a:tr>
              <a:tr h="210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通信先の</a:t>
                      </a:r>
                      <a:r>
                        <a:rPr kumimoji="1" lang="en-US" altLang="ja-JP" sz="1200" dirty="0"/>
                        <a:t>PLC</a:t>
                      </a:r>
                      <a:r>
                        <a:rPr kumimoji="1" lang="ja-JP" altLang="en-US" sz="1200" dirty="0"/>
                        <a:t>設定</a:t>
                      </a:r>
                    </a:p>
                  </a:txBody>
                  <a:tcPr/>
                </a:tc>
                <a:tc>
                  <a:txBody>
                    <a:bodyPr/>
                    <a:lstStyle/>
                    <a:p>
                      <a:r>
                        <a:rPr kumimoji="1" lang="ja-JP" altLang="en-US" sz="1200" dirty="0"/>
                        <a:t>対象となる</a:t>
                      </a:r>
                      <a:r>
                        <a:rPr kumimoji="1" lang="en-US" altLang="ja-JP" sz="1200" dirty="0"/>
                        <a:t>PLC</a:t>
                      </a:r>
                      <a:r>
                        <a:rPr kumimoji="1" lang="ja-JP" altLang="en-US" sz="1200" dirty="0"/>
                        <a:t>の</a:t>
                      </a:r>
                      <a:r>
                        <a:rPr kumimoji="1" lang="en-US" altLang="ja-JP" sz="1200" dirty="0"/>
                        <a:t>IP</a:t>
                      </a:r>
                      <a:r>
                        <a:rPr kumimoji="1" lang="ja-JP" altLang="en-US" sz="1200" dirty="0"/>
                        <a:t>アドレスまたはホスト名</a:t>
                      </a:r>
                      <a:endParaRPr kumimoji="1" lang="en-US" altLang="ja-JP" sz="1200" dirty="0"/>
                    </a:p>
                    <a:p>
                      <a:r>
                        <a:rPr kumimoji="1" lang="en-US" altLang="ja-JP" sz="1200" dirty="0"/>
                        <a:t>※Modbus TCP</a:t>
                      </a:r>
                      <a:r>
                        <a:rPr kumimoji="1" lang="ja-JP" altLang="en-US" sz="1200" dirty="0"/>
                        <a:t>ポートはデフォルト</a:t>
                      </a:r>
                      <a:r>
                        <a:rPr kumimoji="1" lang="en-US" altLang="ja-JP" sz="1200" dirty="0" err="1"/>
                        <a:t>tcp</a:t>
                      </a:r>
                      <a:r>
                        <a:rPr kumimoji="1" lang="en-US" altLang="ja-JP" sz="1200" dirty="0"/>
                        <a:t>/502</a:t>
                      </a:r>
                      <a:r>
                        <a:rPr kumimoji="1" lang="ja-JP" altLang="en-US" sz="1200" dirty="0"/>
                        <a:t>だが、変更していれば加えてポート番号</a:t>
                      </a:r>
                    </a:p>
                  </a:txBody>
                  <a:tcPr/>
                </a:tc>
                <a:tc>
                  <a:txBody>
                    <a:bodyPr/>
                    <a:lstStyle/>
                    <a:p>
                      <a:r>
                        <a:rPr kumimoji="1" lang="en-US" altLang="ja-JP" sz="1200" dirty="0"/>
                        <a:t>P.34 The interface will validate that the </a:t>
                      </a:r>
                      <a:r>
                        <a:rPr kumimoji="1" lang="en-US" altLang="ja-JP" sz="1200" dirty="0" err="1"/>
                        <a:t>InstrumentTag</a:t>
                      </a:r>
                      <a:r>
                        <a:rPr kumimoji="1" lang="en-US" altLang="ja-JP" sz="1200" dirty="0"/>
                        <a:t> attribute specifies a valid IP address or hostname when loading</a:t>
                      </a:r>
                      <a:r>
                        <a:rPr kumimoji="1" lang="ja-JP" altLang="en-US" sz="1200" dirty="0"/>
                        <a:t> </a:t>
                      </a:r>
                      <a:r>
                        <a:rPr kumimoji="1" lang="en-US" altLang="ja-JP" sz="1200" dirty="0"/>
                        <a:t>the PI Point</a:t>
                      </a:r>
                    </a:p>
                    <a:p>
                      <a:r>
                        <a:rPr kumimoji="1" lang="en-US" altLang="ja-JP" sz="1200" dirty="0"/>
                        <a:t>P.78 The /</a:t>
                      </a:r>
                      <a:r>
                        <a:rPr kumimoji="1" lang="en-US" altLang="ja-JP" sz="1200" dirty="0" err="1"/>
                        <a:t>dn</a:t>
                      </a:r>
                      <a:r>
                        <a:rPr kumimoji="1" lang="en-US" altLang="ja-JP" sz="1200" dirty="0"/>
                        <a:t> parameter defines the device name (Ethernet</a:t>
                      </a:r>
                    </a:p>
                    <a:p>
                      <a:r>
                        <a:rPr kumimoji="1" lang="en-US" altLang="ja-JP" sz="1200" dirty="0"/>
                        <a:t>node) in which x:p represents the node (e.g.</a:t>
                      </a:r>
                    </a:p>
                    <a:p>
                      <a:r>
                        <a:rPr kumimoji="1" lang="en-US" altLang="ja-JP" sz="1200" dirty="0"/>
                        <a:t>192.168.70.190:502).</a:t>
                      </a:r>
                    </a:p>
                    <a:p>
                      <a:r>
                        <a:rPr kumimoji="1" lang="en-US" altLang="ja-JP" sz="1200" dirty="0"/>
                        <a:t>x must be a valid IP address or host name and p must</a:t>
                      </a:r>
                    </a:p>
                    <a:p>
                      <a:r>
                        <a:rPr kumimoji="1" lang="en-US" altLang="ja-JP" sz="1200" dirty="0"/>
                        <a:t>be a valid service port in which x is separated from p</a:t>
                      </a:r>
                    </a:p>
                    <a:p>
                      <a:r>
                        <a:rPr kumimoji="1" lang="en-US" altLang="ja-JP" sz="1200" dirty="0"/>
                        <a:t>by a colon.</a:t>
                      </a:r>
                    </a:p>
                    <a:p>
                      <a:r>
                        <a:rPr kumimoji="1" lang="en-US" altLang="ja-JP" sz="1200" dirty="0"/>
                        <a:t>For example, node 192.168.70.190:502 consists of IP</a:t>
                      </a:r>
                    </a:p>
                    <a:p>
                      <a:r>
                        <a:rPr kumimoji="1" lang="en-US" altLang="ja-JP" sz="1200" dirty="0"/>
                        <a:t>address 192.168.70.190 and port 502.</a:t>
                      </a:r>
                      <a:endParaRPr kumimoji="1" lang="ja-JP" altLang="en-US" sz="1200" dirty="0"/>
                    </a:p>
                  </a:txBody>
                  <a:tcPr/>
                </a:tc>
                <a:extLst>
                  <a:ext uri="{0D108BD9-81ED-4DB2-BD59-A6C34878D82A}">
                    <a16:rowId xmlns:a16="http://schemas.microsoft.com/office/drawing/2014/main" val="3036631503"/>
                  </a:ext>
                </a:extLst>
              </a:tr>
              <a:tr h="0">
                <a:tc>
                  <a:txBody>
                    <a:bodyPr/>
                    <a:lstStyle/>
                    <a:p>
                      <a:r>
                        <a:rPr kumimoji="1" lang="ja-JP" altLang="en-US" sz="1200" strike="noStrike" dirty="0"/>
                        <a:t>スレーブの</a:t>
                      </a:r>
                      <a:r>
                        <a:rPr kumimoji="1" lang="en-US" altLang="ja-JP" sz="1200" strike="noStrike" dirty="0" err="1"/>
                        <a:t>NodeID</a:t>
                      </a:r>
                      <a:endParaRPr kumimoji="1" lang="ja-JP" altLang="en-US" sz="1200" strike="noStrike" dirty="0"/>
                    </a:p>
                  </a:txBody>
                  <a:tcPr/>
                </a:tc>
                <a:tc>
                  <a:txBody>
                    <a:bodyPr/>
                    <a:lstStyle/>
                    <a:p>
                      <a:r>
                        <a:rPr kumimoji="1" lang="en-US" altLang="ja-JP" sz="1200" strike="noStrike" dirty="0"/>
                        <a:t>PLC</a:t>
                      </a:r>
                      <a:r>
                        <a:rPr kumimoji="1" lang="ja-JP" altLang="en-US" sz="1200" strike="noStrike" dirty="0"/>
                        <a:t>に割り当てた</a:t>
                      </a:r>
                      <a:r>
                        <a:rPr kumimoji="1" lang="en-US" altLang="ja-JP" sz="1200" strike="noStrike" dirty="0"/>
                        <a:t>Modbus</a:t>
                      </a:r>
                      <a:r>
                        <a:rPr kumimoji="1" lang="ja-JP" altLang="en-US" sz="1200" strike="noStrike" dirty="0"/>
                        <a:t>の</a:t>
                      </a:r>
                      <a:r>
                        <a:rPr kumimoji="1" lang="en-US" altLang="ja-JP" sz="1200" strike="noStrike" dirty="0"/>
                        <a:t>Node-ID(Unit ID</a:t>
                      </a:r>
                      <a:r>
                        <a:rPr kumimoji="1" lang="ja-JP" altLang="en-US" sz="1200" strike="noStrike" dirty="0"/>
                        <a:t>と同義</a:t>
                      </a:r>
                      <a:r>
                        <a:rPr kumimoji="1" lang="en-US" altLang="ja-JP" sz="1200" strike="noStrike" dirty="0"/>
                        <a:t>)</a:t>
                      </a:r>
                    </a:p>
                    <a:p>
                      <a:r>
                        <a:rPr kumimoji="1" lang="en-US" altLang="ja-JP" sz="1200" strike="noStrike" dirty="0"/>
                        <a:t>※</a:t>
                      </a:r>
                      <a:r>
                        <a:rPr kumimoji="1" lang="ja-JP" altLang="en-US" sz="1200" strike="noStrike" dirty="0"/>
                        <a:t>ただし</a:t>
                      </a:r>
                      <a:r>
                        <a:rPr kumimoji="1" lang="en-US" altLang="ja-JP" sz="1200" strike="noStrike" dirty="0"/>
                        <a:t>PLC</a:t>
                      </a:r>
                      <a:r>
                        <a:rPr kumimoji="1" lang="ja-JP" altLang="en-US" sz="1200" strike="noStrike" dirty="0"/>
                        <a:t>モデル、構成によっては設定が必要な可能性があるので要確認</a:t>
                      </a:r>
                      <a:endParaRPr kumimoji="1" lang="en-US" altLang="ja-JP" sz="1200" strike="noStrike" dirty="0"/>
                    </a:p>
                  </a:txBody>
                  <a:tcPr/>
                </a:tc>
                <a:tc>
                  <a:txBody>
                    <a:bodyPr/>
                    <a:lstStyle/>
                    <a:p>
                      <a:r>
                        <a:rPr kumimoji="1" lang="en-US" altLang="ja-JP" sz="1200" strike="noStrike" dirty="0"/>
                        <a:t>P.28</a:t>
                      </a:r>
                      <a:r>
                        <a:rPr kumimoji="1" lang="ja-JP" altLang="en-US" sz="1200" strike="noStrike" dirty="0"/>
                        <a:t> </a:t>
                      </a:r>
                      <a:r>
                        <a:rPr kumimoji="1" lang="en-US" altLang="ja-JP" sz="1200" strike="noStrike" dirty="0"/>
                        <a:t>Location2 identifies the destination PLC node. The node is identified with a number between 0 and 255,</a:t>
                      </a:r>
                    </a:p>
                    <a:p>
                      <a:r>
                        <a:rPr kumimoji="1" lang="en-US" altLang="ja-JP" sz="1200" strike="noStrike" dirty="0"/>
                        <a:t>inclusive. Only the destination node number is specified in Location2.</a:t>
                      </a:r>
                      <a:r>
                        <a:rPr kumimoji="1" lang="ja-JP" altLang="en-US" sz="1200" strike="noStrike" dirty="0"/>
                        <a:t> </a:t>
                      </a:r>
                      <a:r>
                        <a:rPr kumimoji="1" lang="en-US" altLang="ja-JP" sz="1200" strike="noStrike" dirty="0"/>
                        <a:t>Note that some PLCs use an octal or hexadecimal representation for the node ID. The corresponding integer</a:t>
                      </a:r>
                      <a:r>
                        <a:rPr kumimoji="1" lang="ja-JP" altLang="en-US" sz="1200" strike="noStrike" dirty="0"/>
                        <a:t> </a:t>
                      </a:r>
                      <a:r>
                        <a:rPr kumimoji="1" lang="en-US" altLang="ja-JP" sz="1200" strike="noStrike" dirty="0"/>
                        <a:t>value should be placed in Location2</a:t>
                      </a:r>
                    </a:p>
                  </a:txBody>
                  <a:tcPr/>
                </a:tc>
                <a:extLst>
                  <a:ext uri="{0D108BD9-81ED-4DB2-BD59-A6C34878D82A}">
                    <a16:rowId xmlns:a16="http://schemas.microsoft.com/office/drawing/2014/main" val="245909259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読取対象の</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アドレス定義</a:t>
                      </a:r>
                    </a:p>
                    <a:p>
                      <a:endParaRPr kumimoji="1" lang="ja-JP" altLang="en-US" sz="1200" dirty="0"/>
                    </a:p>
                  </a:txBody>
                  <a:tcPr/>
                </a:tc>
                <a:tc>
                  <a:txBody>
                    <a:bodyPr/>
                    <a:lstStyle/>
                    <a:p>
                      <a:r>
                        <a:rPr kumimoji="1" lang="ja-JP" altLang="en-US" sz="1200" dirty="0"/>
                        <a:t>すべての読取可能項目について</a:t>
                      </a:r>
                      <a:endParaRPr kumimoji="1" lang="en-US" altLang="ja-JP" sz="1200" dirty="0"/>
                    </a:p>
                    <a:p>
                      <a:pPr marL="228600" indent="-228600">
                        <a:buAutoNum type="arabicPeriod"/>
                      </a:pPr>
                      <a:r>
                        <a:rPr lang="ja-JP" altLang="en-US" sz="1200" dirty="0"/>
                        <a:t>データ領域</a:t>
                      </a:r>
                      <a:r>
                        <a:rPr kumimoji="1" lang="en-US" altLang="ja-JP" sz="1200" dirty="0"/>
                        <a:t>: </a:t>
                      </a:r>
                      <a:r>
                        <a:rPr lang="en-US" altLang="ja-JP" sz="1200" dirty="0"/>
                        <a:t>Coil</a:t>
                      </a:r>
                      <a:r>
                        <a:rPr lang="ja-JP" altLang="en-US" sz="1200" dirty="0"/>
                        <a:t>、</a:t>
                      </a:r>
                      <a:r>
                        <a:rPr lang="en-US" altLang="ja-JP" sz="1200" dirty="0"/>
                        <a:t>Discrete Input</a:t>
                      </a:r>
                      <a:r>
                        <a:rPr lang="ja-JP" altLang="en-US" sz="1200" dirty="0"/>
                        <a:t>、</a:t>
                      </a:r>
                      <a:r>
                        <a:rPr lang="en-US" altLang="ja-JP" sz="1200" dirty="0"/>
                        <a:t>Holding Register</a:t>
                      </a:r>
                      <a:r>
                        <a:rPr lang="ja-JP" altLang="en-US" sz="1200" dirty="0"/>
                        <a:t>、</a:t>
                      </a:r>
                      <a:r>
                        <a:rPr lang="en-US" altLang="ja-JP" sz="1200" dirty="0"/>
                        <a:t>Input Register</a:t>
                      </a:r>
                    </a:p>
                    <a:p>
                      <a:pPr marL="228600" indent="-228600">
                        <a:buAutoNum type="arabicPeriod"/>
                      </a:pPr>
                      <a:r>
                        <a:rPr lang="ja-JP" altLang="en-US" sz="1200" dirty="0"/>
                        <a:t>データ表現形式</a:t>
                      </a:r>
                      <a:r>
                        <a:rPr lang="en-US" altLang="ja-JP" sz="1200" dirty="0"/>
                        <a:t>:  bit</a:t>
                      </a:r>
                      <a:r>
                        <a:rPr lang="ja-JP" altLang="en-US" sz="1200" dirty="0"/>
                        <a:t>、</a:t>
                      </a:r>
                      <a:r>
                        <a:rPr lang="en-US" altLang="ja-JP" sz="1200" dirty="0"/>
                        <a:t>INT16, INT32, BCD</a:t>
                      </a:r>
                      <a:r>
                        <a:rPr lang="ja-JP" altLang="en-US" sz="1200" dirty="0"/>
                        <a:t>など</a:t>
                      </a:r>
                      <a:endParaRPr lang="en-US" altLang="ja-JP" sz="1200" dirty="0"/>
                    </a:p>
                    <a:p>
                      <a:pPr marL="228600" indent="-228600">
                        <a:buAutoNum type="arabicPeriod"/>
                      </a:pPr>
                      <a:r>
                        <a:rPr lang="ja-JP" altLang="en-US" sz="1200" dirty="0"/>
                        <a:t>相対アドレス値</a:t>
                      </a:r>
                      <a:endParaRPr kumimoji="1" lang="en-US" altLang="ja-JP" sz="1200" dirty="0"/>
                    </a:p>
                  </a:txBody>
                  <a:tcPr/>
                </a:tc>
                <a:tc>
                  <a:txBody>
                    <a:bodyPr/>
                    <a:lstStyle/>
                    <a:p>
                      <a:r>
                        <a:rPr kumimoji="1" lang="en-US" altLang="ja-JP" sz="1200" dirty="0"/>
                        <a:t>P.29 Location3 specifies the data type and the function code of the PI Point.</a:t>
                      </a:r>
                      <a:br>
                        <a:rPr kumimoji="1" lang="en-US" altLang="ja-JP" sz="1200" dirty="0"/>
                      </a:br>
                      <a:r>
                        <a:rPr kumimoji="1" lang="en-US" altLang="ja-JP" sz="1200" dirty="0"/>
                        <a:t>P.34 Location5 is used to specify an offset (one relative) to a particular coil, input status, holding register, or input</a:t>
                      </a:r>
                    </a:p>
                    <a:p>
                      <a:r>
                        <a:rPr kumimoji="1" lang="en-US" altLang="ja-JP" sz="1200" dirty="0"/>
                        <a:t>register. It is important to realize that Location5 is used to specify an offset, not an absolute address.</a:t>
                      </a:r>
                    </a:p>
                  </a:txBody>
                  <a:tcPr/>
                </a:tc>
                <a:extLst>
                  <a:ext uri="{0D108BD9-81ED-4DB2-BD59-A6C34878D82A}">
                    <a16:rowId xmlns:a16="http://schemas.microsoft.com/office/drawing/2014/main" val="2136742154"/>
                  </a:ext>
                </a:extLst>
              </a:tr>
            </a:tbl>
          </a:graphicData>
        </a:graphic>
      </p:graphicFrame>
      <p:sp>
        <p:nvSpPr>
          <p:cNvPr id="6" name="タイトル 1">
            <a:extLst>
              <a:ext uri="{FF2B5EF4-FFF2-40B4-BE49-F238E27FC236}">
                <a16:creationId xmlns:a16="http://schemas.microsoft.com/office/drawing/2014/main" id="{B5E9293B-2FFC-6D70-BD92-41EB68112634}"/>
              </a:ext>
            </a:extLst>
          </p:cNvPr>
          <p:cNvSpPr txBox="1">
            <a:spLocks/>
          </p:cNvSpPr>
          <p:nvPr/>
        </p:nvSpPr>
        <p:spPr>
          <a:xfrm>
            <a:off x="838200" y="365126"/>
            <a:ext cx="10515600" cy="640994"/>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err="1"/>
              <a:t>ModbusE</a:t>
            </a:r>
            <a:r>
              <a:rPr lang="en-US" altLang="ja-JP" sz="2400" dirty="0"/>
              <a:t> Interface</a:t>
            </a:r>
            <a:br>
              <a:rPr lang="en-US" altLang="ja-JP" sz="2400" dirty="0"/>
            </a:br>
            <a:r>
              <a:rPr lang="en-US" altLang="ja-JP" sz="2400" dirty="0"/>
              <a:t>(PI Interface for Modbus Ethernet PLC)</a:t>
            </a:r>
            <a:endParaRPr lang="ja-JP" altLang="en-US" sz="2400" dirty="0"/>
          </a:p>
        </p:txBody>
      </p:sp>
      <p:sp>
        <p:nvSpPr>
          <p:cNvPr id="9" name="テキスト ボックス 8">
            <a:extLst>
              <a:ext uri="{FF2B5EF4-FFF2-40B4-BE49-F238E27FC236}">
                <a16:creationId xmlns:a16="http://schemas.microsoft.com/office/drawing/2014/main" id="{06C1C9EA-6077-564E-E5BC-691CBDF7432D}"/>
              </a:ext>
            </a:extLst>
          </p:cNvPr>
          <p:cNvSpPr txBox="1"/>
          <p:nvPr/>
        </p:nvSpPr>
        <p:spPr>
          <a:xfrm>
            <a:off x="6477275" y="1048881"/>
            <a:ext cx="5647911" cy="276999"/>
          </a:xfrm>
          <a:prstGeom prst="rect">
            <a:avLst/>
          </a:prstGeom>
          <a:noFill/>
        </p:spPr>
        <p:txBody>
          <a:bodyPr wrap="square">
            <a:spAutoFit/>
          </a:bodyPr>
          <a:lstStyle/>
          <a:p>
            <a:r>
              <a:rPr lang="ja-JP" altLang="en-US" sz="1200" dirty="0"/>
              <a:t>参照</a:t>
            </a:r>
            <a:r>
              <a:rPr lang="en-US" altLang="ja-JP" sz="1200" dirty="0"/>
              <a:t>: </a:t>
            </a:r>
            <a:r>
              <a:rPr lang="ja-JP" altLang="en-US" sz="1200" dirty="0"/>
              <a:t>PI-Interface-for-Modbus-Ethernet-PLC-4.3.1-User-Guide.pdf</a:t>
            </a:r>
          </a:p>
        </p:txBody>
      </p:sp>
      <p:sp>
        <p:nvSpPr>
          <p:cNvPr id="2" name="スライド番号プレースホルダー 1">
            <a:extLst>
              <a:ext uri="{FF2B5EF4-FFF2-40B4-BE49-F238E27FC236}">
                <a16:creationId xmlns:a16="http://schemas.microsoft.com/office/drawing/2014/main" id="{CFBECE98-1825-03DF-F88F-C9E010DD3E82}"/>
              </a:ext>
            </a:extLst>
          </p:cNvPr>
          <p:cNvSpPr>
            <a:spLocks noGrp="1"/>
          </p:cNvSpPr>
          <p:nvPr>
            <p:ph type="sldNum" sz="quarter" idx="12"/>
          </p:nvPr>
        </p:nvSpPr>
        <p:spPr/>
        <p:txBody>
          <a:bodyPr/>
          <a:lstStyle/>
          <a:p>
            <a:fld id="{1EA322B9-08FF-4B54-ADFF-20A0A916893B}" type="slidenum">
              <a:rPr kumimoji="1" lang="ja-JP" altLang="en-US" smtClean="0"/>
              <a:t>2</a:t>
            </a:fld>
            <a:endParaRPr kumimoji="1" lang="ja-JP" altLang="en-US"/>
          </a:p>
        </p:txBody>
      </p:sp>
    </p:spTree>
    <p:extLst>
      <p:ext uri="{BB962C8B-B14F-4D97-AF65-F5344CB8AC3E}">
        <p14:creationId xmlns:p14="http://schemas.microsoft.com/office/powerpoint/2010/main" val="746950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D76D3B2D-BDDD-B6D0-E686-EB8AE58C6BDC}"/>
              </a:ext>
            </a:extLst>
          </p:cNvPr>
          <p:cNvSpPr>
            <a:spLocks noGrp="1"/>
          </p:cNvSpPr>
          <p:nvPr>
            <p:ph type="sldNum" sz="quarter" idx="12"/>
          </p:nvPr>
        </p:nvSpPr>
        <p:spPr/>
        <p:txBody>
          <a:bodyPr/>
          <a:lstStyle/>
          <a:p>
            <a:fld id="{1EA322B9-08FF-4B54-ADFF-20A0A916893B}" type="slidenum">
              <a:rPr kumimoji="1" lang="ja-JP" altLang="en-US" smtClean="0"/>
              <a:t>3</a:t>
            </a:fld>
            <a:endParaRPr kumimoji="1" lang="ja-JP" altLang="en-US"/>
          </a:p>
        </p:txBody>
      </p:sp>
      <p:sp>
        <p:nvSpPr>
          <p:cNvPr id="5" name="タイトル 1">
            <a:extLst>
              <a:ext uri="{FF2B5EF4-FFF2-40B4-BE49-F238E27FC236}">
                <a16:creationId xmlns:a16="http://schemas.microsoft.com/office/drawing/2014/main" id="{6CDCFED4-6E11-CAD0-E466-DA971BCB7AE0}"/>
              </a:ext>
            </a:extLst>
          </p:cNvPr>
          <p:cNvSpPr txBox="1">
            <a:spLocks/>
          </p:cNvSpPr>
          <p:nvPr/>
        </p:nvSpPr>
        <p:spPr>
          <a:xfrm>
            <a:off x="838200" y="365126"/>
            <a:ext cx="10515600" cy="64099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sz="2400" dirty="0"/>
              <a:t>Modbus TCP</a:t>
            </a:r>
            <a:r>
              <a:rPr lang="ja-JP" altLang="en-US" sz="2400" dirty="0"/>
              <a:t>仕様の概要</a:t>
            </a:r>
          </a:p>
        </p:txBody>
      </p:sp>
      <p:graphicFrame>
        <p:nvGraphicFramePr>
          <p:cNvPr id="6" name="表 5">
            <a:extLst>
              <a:ext uri="{FF2B5EF4-FFF2-40B4-BE49-F238E27FC236}">
                <a16:creationId xmlns:a16="http://schemas.microsoft.com/office/drawing/2014/main" id="{B6DC0B99-4761-7EA9-C676-83FC5A9E4AD1}"/>
              </a:ext>
            </a:extLst>
          </p:cNvPr>
          <p:cNvGraphicFramePr>
            <a:graphicFrameLocks noGrp="1"/>
          </p:cNvGraphicFramePr>
          <p:nvPr>
            <p:extLst>
              <p:ext uri="{D42A27DB-BD31-4B8C-83A1-F6EECF244321}">
                <p14:modId xmlns:p14="http://schemas.microsoft.com/office/powerpoint/2010/main" val="318484021"/>
              </p:ext>
            </p:extLst>
          </p:nvPr>
        </p:nvGraphicFramePr>
        <p:xfrm>
          <a:off x="838200" y="1136045"/>
          <a:ext cx="10722429" cy="4587240"/>
        </p:xfrm>
        <a:graphic>
          <a:graphicData uri="http://schemas.openxmlformats.org/drawingml/2006/table">
            <a:tbl>
              <a:tblPr firstRow="1" bandRow="1">
                <a:tableStyleId>{5C22544A-7EE6-4342-B048-85BDC9FD1C3A}</a:tableStyleId>
              </a:tblPr>
              <a:tblGrid>
                <a:gridCol w="1390650">
                  <a:extLst>
                    <a:ext uri="{9D8B030D-6E8A-4147-A177-3AD203B41FA5}">
                      <a16:colId xmlns:a16="http://schemas.microsoft.com/office/drawing/2014/main" val="2593407499"/>
                    </a:ext>
                  </a:extLst>
                </a:gridCol>
                <a:gridCol w="2228850">
                  <a:extLst>
                    <a:ext uri="{9D8B030D-6E8A-4147-A177-3AD203B41FA5}">
                      <a16:colId xmlns:a16="http://schemas.microsoft.com/office/drawing/2014/main" val="3800445443"/>
                    </a:ext>
                  </a:extLst>
                </a:gridCol>
                <a:gridCol w="7102929">
                  <a:extLst>
                    <a:ext uri="{9D8B030D-6E8A-4147-A177-3AD203B41FA5}">
                      <a16:colId xmlns:a16="http://schemas.microsoft.com/office/drawing/2014/main" val="392295715"/>
                    </a:ext>
                  </a:extLst>
                </a:gridCol>
              </a:tblGrid>
              <a:tr h="370840">
                <a:tc>
                  <a:txBody>
                    <a:bodyPr/>
                    <a:lstStyle/>
                    <a:p>
                      <a:endParaRPr kumimoji="1" lang="ja-JP" altLang="en-US" sz="1200" dirty="0"/>
                    </a:p>
                  </a:txBody>
                  <a:tcPr/>
                </a:tc>
                <a:tc>
                  <a:txBody>
                    <a:bodyPr/>
                    <a:lstStyle/>
                    <a:p>
                      <a:endParaRPr kumimoji="1" lang="ja-JP" altLang="en-US" sz="1200"/>
                    </a:p>
                  </a:txBody>
                  <a:tcPr/>
                </a:tc>
                <a:tc>
                  <a:txBody>
                    <a:bodyPr/>
                    <a:lstStyle/>
                    <a:p>
                      <a:endParaRPr kumimoji="1" lang="ja-JP" altLang="en-US" sz="1200"/>
                    </a:p>
                  </a:txBody>
                  <a:tcPr/>
                </a:tc>
                <a:extLst>
                  <a:ext uri="{0D108BD9-81ED-4DB2-BD59-A6C34878D82A}">
                    <a16:rowId xmlns:a16="http://schemas.microsoft.com/office/drawing/2014/main" val="730340797"/>
                  </a:ext>
                </a:extLst>
              </a:tr>
              <a:tr h="171874">
                <a:tc>
                  <a:txBody>
                    <a:bodyPr/>
                    <a:lstStyle/>
                    <a:p>
                      <a:r>
                        <a:rPr kumimoji="1" lang="ja-JP" altLang="en-US" sz="1200" dirty="0"/>
                        <a:t>基本事項</a:t>
                      </a:r>
                    </a:p>
                  </a:txBody>
                  <a:tcPr/>
                </a:tc>
                <a:tc>
                  <a:txBody>
                    <a:bodyPr/>
                    <a:lstStyle/>
                    <a:p>
                      <a:r>
                        <a:rPr kumimoji="1" lang="ja-JP" altLang="en-US" sz="1200" dirty="0"/>
                        <a:t>通信方式</a:t>
                      </a:r>
                    </a:p>
                  </a:txBody>
                  <a:tcPr/>
                </a:tc>
                <a:tc>
                  <a:txBody>
                    <a:bodyPr/>
                    <a:lstStyle/>
                    <a:p>
                      <a:r>
                        <a:rPr kumimoji="1" lang="en-US" altLang="ja-JP" sz="1200" dirty="0"/>
                        <a:t>Client/Server</a:t>
                      </a:r>
                      <a:r>
                        <a:rPr kumimoji="1" lang="ja-JP" altLang="en-US" sz="1200" dirty="0"/>
                        <a:t>モデル</a:t>
                      </a:r>
                      <a:endParaRPr kumimoji="1" lang="en-US" altLang="ja-JP" sz="1200" dirty="0"/>
                    </a:p>
                    <a:p>
                      <a:r>
                        <a:rPr kumimoji="1" lang="en-US" altLang="ja-JP" sz="1200" dirty="0"/>
                        <a:t>Client = Master</a:t>
                      </a:r>
                      <a:r>
                        <a:rPr kumimoji="1" lang="ja-JP" altLang="en-US" sz="1200" dirty="0"/>
                        <a:t>（リクエスト送信）</a:t>
                      </a:r>
                      <a:endParaRPr kumimoji="1" lang="en-US" altLang="ja-JP" sz="1200" dirty="0"/>
                    </a:p>
                    <a:p>
                      <a:r>
                        <a:rPr kumimoji="1" lang="en-US" altLang="ja-JP" sz="1200" dirty="0"/>
                        <a:t>Server = Slave</a:t>
                      </a:r>
                      <a:r>
                        <a:rPr kumimoji="1" lang="ja-JP" altLang="en-US" sz="1200" dirty="0"/>
                        <a:t>（リクエスト受信・応答）</a:t>
                      </a:r>
                    </a:p>
                  </a:txBody>
                  <a:tcPr/>
                </a:tc>
                <a:extLst>
                  <a:ext uri="{0D108BD9-81ED-4DB2-BD59-A6C34878D82A}">
                    <a16:rowId xmlns:a16="http://schemas.microsoft.com/office/drawing/2014/main" val="3801684893"/>
                  </a:ext>
                </a:extLst>
              </a:tr>
              <a:tr h="370840">
                <a:tc>
                  <a:txBody>
                    <a:bodyPr/>
                    <a:lstStyle/>
                    <a:p>
                      <a:endParaRPr kumimoji="1" lang="ja-JP" altLang="en-US" sz="1200" dirty="0"/>
                    </a:p>
                  </a:txBody>
                  <a:tcPr/>
                </a:tc>
                <a:tc>
                  <a:txBody>
                    <a:bodyPr/>
                    <a:lstStyle/>
                    <a:p>
                      <a:r>
                        <a:rPr kumimoji="1" lang="ja-JP" altLang="en-US" sz="1200" dirty="0"/>
                        <a:t>標準</a:t>
                      </a:r>
                      <a:r>
                        <a:rPr kumimoji="1" lang="en-US" altLang="ja-JP" sz="1200" dirty="0"/>
                        <a:t>Server</a:t>
                      </a:r>
                      <a:r>
                        <a:rPr kumimoji="1" lang="ja-JP" altLang="en-US" sz="1200" dirty="0"/>
                        <a:t>ポート</a:t>
                      </a:r>
                    </a:p>
                  </a:txBody>
                  <a:tcPr/>
                </a:tc>
                <a:tc>
                  <a:txBody>
                    <a:bodyPr/>
                    <a:lstStyle/>
                    <a:p>
                      <a:r>
                        <a:rPr kumimoji="1" lang="en-US" altLang="ja-JP" sz="1200" dirty="0"/>
                        <a:t>TCP/502</a:t>
                      </a:r>
                      <a:endParaRPr kumimoji="1" lang="ja-JP" altLang="en-US" sz="1200" dirty="0"/>
                    </a:p>
                  </a:txBody>
                  <a:tcPr/>
                </a:tc>
                <a:extLst>
                  <a:ext uri="{0D108BD9-81ED-4DB2-BD59-A6C34878D82A}">
                    <a16:rowId xmlns:a16="http://schemas.microsoft.com/office/drawing/2014/main" val="3154583455"/>
                  </a:ext>
                </a:extLst>
              </a:tr>
              <a:tr h="370840">
                <a:tc>
                  <a:txBody>
                    <a:bodyPr/>
                    <a:lstStyle/>
                    <a:p>
                      <a:r>
                        <a:rPr kumimoji="1" lang="ja-JP" altLang="en-US" sz="1200" dirty="0"/>
                        <a:t>データ分類</a:t>
                      </a:r>
                      <a:endParaRPr kumimoji="1" lang="en-US" altLang="ja-JP" sz="1200" dirty="0"/>
                    </a:p>
                  </a:txBody>
                  <a:tcPr/>
                </a:tc>
                <a:tc>
                  <a:txBody>
                    <a:bodyPr/>
                    <a:lstStyle/>
                    <a:p>
                      <a:r>
                        <a:rPr kumimoji="1" lang="ja-JP" altLang="en-US" sz="1200" dirty="0"/>
                        <a:t>データモデル</a:t>
                      </a:r>
                    </a:p>
                  </a:txBody>
                  <a:tcPr/>
                </a:tc>
                <a:tc>
                  <a:txBody>
                    <a:bodyPr/>
                    <a:lstStyle/>
                    <a:p>
                      <a:r>
                        <a:rPr kumimoji="1" lang="ja-JP" altLang="en-US" sz="1200" dirty="0"/>
                        <a:t>外部から読取専用な領域と外部から書換可能な領域とで分類される</a:t>
                      </a:r>
                      <a:endParaRPr kumimoji="1" lang="en-US" altLang="ja-JP" sz="1200"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1" lang="ja-JP" altLang="en-US" sz="1200" dirty="0"/>
                        <a:t>読取専用領域</a:t>
                      </a:r>
                      <a:r>
                        <a:rPr kumimoji="1" lang="en-US" altLang="ja-JP" sz="1200" dirty="0"/>
                        <a:t>: </a:t>
                      </a:r>
                      <a:r>
                        <a:rPr kumimoji="1" lang="en-US" altLang="ja-JP" sz="1200" dirty="0" err="1"/>
                        <a:t>Discretes</a:t>
                      </a:r>
                      <a:r>
                        <a:rPr kumimoji="1" lang="en-US" altLang="ja-JP" sz="1200" dirty="0"/>
                        <a:t> Input(1bit), Input Registers(16bit)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1" lang="ja-JP" altLang="en-US" sz="1200" dirty="0"/>
                        <a:t>書換可能領域</a:t>
                      </a:r>
                      <a:r>
                        <a:rPr kumimoji="1" lang="en-US" altLang="ja-JP" sz="1200" dirty="0"/>
                        <a:t>:</a:t>
                      </a:r>
                      <a:r>
                        <a:rPr kumimoji="1" lang="ja-JP" altLang="en-US" sz="1200" dirty="0"/>
                        <a:t> </a:t>
                      </a:r>
                      <a:r>
                        <a:rPr kumimoji="1" lang="en-US" altLang="ja-JP" sz="1200" dirty="0"/>
                        <a:t>Coils(1bit), Holding Registers(16bit)</a:t>
                      </a:r>
                    </a:p>
                  </a:txBody>
                  <a:tcPr/>
                </a:tc>
                <a:extLst>
                  <a:ext uri="{0D108BD9-81ED-4DB2-BD59-A6C34878D82A}">
                    <a16:rowId xmlns:a16="http://schemas.microsoft.com/office/drawing/2014/main" val="1582075332"/>
                  </a:ext>
                </a:extLst>
              </a:tr>
              <a:tr h="370840">
                <a:tc>
                  <a:txBody>
                    <a:bodyPr/>
                    <a:lstStyle/>
                    <a:p>
                      <a:endParaRPr kumimoji="1" lang="ja-JP" altLang="en-US" sz="1200"/>
                    </a:p>
                  </a:txBody>
                  <a:tcPr/>
                </a:tc>
                <a:tc>
                  <a:txBody>
                    <a:bodyPr/>
                    <a:lstStyle/>
                    <a:p>
                      <a:r>
                        <a:rPr kumimoji="1" lang="ja-JP" altLang="en-US" sz="1200" dirty="0"/>
                        <a:t>データアドレッシング</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各領域ごとに</a:t>
                      </a:r>
                      <a:r>
                        <a:rPr kumimoji="1" lang="en-US" altLang="ja-JP" sz="1200" dirty="0"/>
                        <a:t>65535</a:t>
                      </a:r>
                      <a:r>
                        <a:rPr kumimoji="1" lang="ja-JP" altLang="en-US" sz="1200" dirty="0"/>
                        <a:t>種類のアドレスが割り当てられる</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割当アドレスの詳細は、</a:t>
                      </a:r>
                      <a:r>
                        <a:rPr kumimoji="1" lang="en-US" altLang="ja-JP" sz="1200" dirty="0"/>
                        <a:t>PLC</a:t>
                      </a:r>
                      <a:r>
                        <a:rPr kumimoji="1" lang="ja-JP" altLang="en-US" sz="1200" dirty="0"/>
                        <a:t>実装を要確認</a:t>
                      </a:r>
                      <a:endParaRPr kumimoji="1" lang="en-US" altLang="ja-JP" sz="1200" dirty="0"/>
                    </a:p>
                  </a:txBody>
                  <a:tcPr/>
                </a:tc>
                <a:extLst>
                  <a:ext uri="{0D108BD9-81ED-4DB2-BD59-A6C34878D82A}">
                    <a16:rowId xmlns:a16="http://schemas.microsoft.com/office/drawing/2014/main" val="3591930132"/>
                  </a:ext>
                </a:extLst>
              </a:tr>
              <a:tr h="370840">
                <a:tc>
                  <a:txBody>
                    <a:bodyPr/>
                    <a:lstStyle/>
                    <a:p>
                      <a:r>
                        <a:rPr kumimoji="1" lang="en-US" altLang="ja-JP" sz="1200" dirty="0" err="1"/>
                        <a:t>FunctionCode</a:t>
                      </a:r>
                      <a:endParaRPr kumimoji="1" lang="ja-JP" altLang="en-US" sz="1200" dirty="0"/>
                    </a:p>
                  </a:txBody>
                  <a:tcPr/>
                </a:tc>
                <a:tc>
                  <a:txBody>
                    <a:bodyPr/>
                    <a:lstStyle/>
                    <a:p>
                      <a:r>
                        <a:rPr kumimoji="1" lang="ja-JP" altLang="en-US" sz="1200" dirty="0"/>
                        <a:t>読取用</a:t>
                      </a:r>
                    </a:p>
                  </a:txBody>
                  <a:tcPr/>
                </a:tc>
                <a:tc>
                  <a:txBody>
                    <a:bodyPr/>
                    <a:lstStyle/>
                    <a:p>
                      <a:r>
                        <a:rPr kumimoji="1" lang="en-US" altLang="ja-JP" sz="1200" dirty="0"/>
                        <a:t>01</a:t>
                      </a:r>
                      <a:r>
                        <a:rPr kumimoji="1" lang="ja-JP" altLang="en-US" sz="1200" dirty="0"/>
                        <a:t>：</a:t>
                      </a:r>
                      <a:r>
                        <a:rPr kumimoji="1" lang="en-US" altLang="ja-JP" sz="1200" dirty="0"/>
                        <a:t>Read Coils</a:t>
                      </a:r>
                    </a:p>
                    <a:p>
                      <a:r>
                        <a:rPr kumimoji="1" lang="en-US" altLang="ja-JP" sz="1200" dirty="0"/>
                        <a:t>02</a:t>
                      </a:r>
                      <a:r>
                        <a:rPr kumimoji="1" lang="ja-JP" altLang="en-US" sz="1200" dirty="0"/>
                        <a:t>：</a:t>
                      </a:r>
                      <a:r>
                        <a:rPr kumimoji="1" lang="en-US" altLang="ja-JP" sz="1200" dirty="0"/>
                        <a:t>Read Discrete Inputs</a:t>
                      </a:r>
                    </a:p>
                    <a:p>
                      <a:r>
                        <a:rPr kumimoji="1" lang="en-US" altLang="ja-JP" sz="1200" dirty="0"/>
                        <a:t>03</a:t>
                      </a:r>
                      <a:r>
                        <a:rPr kumimoji="1" lang="ja-JP" altLang="en-US" sz="1200" dirty="0"/>
                        <a:t>：</a:t>
                      </a:r>
                      <a:r>
                        <a:rPr kumimoji="1" lang="en-US" altLang="ja-JP" sz="1200" dirty="0"/>
                        <a:t>Read Holding Registers</a:t>
                      </a:r>
                    </a:p>
                    <a:p>
                      <a:r>
                        <a:rPr kumimoji="1" lang="en-US" altLang="ja-JP" sz="1200" dirty="0"/>
                        <a:t>04</a:t>
                      </a:r>
                      <a:r>
                        <a:rPr kumimoji="1" lang="ja-JP" altLang="en-US" sz="1200" dirty="0"/>
                        <a:t>：</a:t>
                      </a:r>
                      <a:r>
                        <a:rPr kumimoji="1" lang="en-US" altLang="ja-JP" sz="1200" dirty="0"/>
                        <a:t>Read Input Registers</a:t>
                      </a:r>
                    </a:p>
                    <a:p>
                      <a:r>
                        <a:rPr kumimoji="1" lang="en-US" altLang="ja-JP" sz="1200" dirty="0"/>
                        <a:t>07</a:t>
                      </a:r>
                      <a:r>
                        <a:rPr kumimoji="1" lang="ja-JP" altLang="en-US" sz="1200" dirty="0"/>
                        <a:t>：</a:t>
                      </a:r>
                      <a:r>
                        <a:rPr kumimoji="1" lang="en-US" altLang="ja-JP" sz="1200" dirty="0"/>
                        <a:t>Read Exception status</a:t>
                      </a:r>
                    </a:p>
                    <a:p>
                      <a:r>
                        <a:rPr kumimoji="1" lang="en-US" altLang="ja-JP" sz="1200" dirty="0"/>
                        <a:t>20</a:t>
                      </a:r>
                      <a:r>
                        <a:rPr kumimoji="1" lang="ja-JP" altLang="en-US" sz="1200" dirty="0"/>
                        <a:t>：</a:t>
                      </a:r>
                      <a:r>
                        <a:rPr kumimoji="1" lang="en-US" altLang="ja-JP" sz="1200" dirty="0"/>
                        <a:t>Read File record</a:t>
                      </a:r>
                    </a:p>
                    <a:p>
                      <a:r>
                        <a:rPr kumimoji="1" lang="en-US" altLang="ja-JP" sz="1200" dirty="0"/>
                        <a:t>23</a:t>
                      </a:r>
                      <a:r>
                        <a:rPr kumimoji="1" lang="ja-JP" altLang="en-US" sz="1200" dirty="0"/>
                        <a:t>：</a:t>
                      </a:r>
                      <a:r>
                        <a:rPr kumimoji="1" lang="en-US" altLang="ja-JP" sz="1200" dirty="0"/>
                        <a:t>Read/Write Multiple Registers</a:t>
                      </a:r>
                    </a:p>
                    <a:p>
                      <a:r>
                        <a:rPr kumimoji="1" lang="en-US" altLang="ja-JP" sz="1200" dirty="0"/>
                        <a:t>24</a:t>
                      </a:r>
                      <a:r>
                        <a:rPr kumimoji="1" lang="ja-JP" altLang="en-US" sz="1200" dirty="0"/>
                        <a:t>：</a:t>
                      </a:r>
                      <a:r>
                        <a:rPr kumimoji="1" lang="en-US" altLang="ja-JP" sz="1200" dirty="0"/>
                        <a:t>Read FIFO queue</a:t>
                      </a:r>
                    </a:p>
                    <a:p>
                      <a:r>
                        <a:rPr kumimoji="1" lang="en-US" altLang="ja-JP" sz="1200" dirty="0"/>
                        <a:t>43</a:t>
                      </a:r>
                      <a:r>
                        <a:rPr kumimoji="1" lang="ja-JP" altLang="en-US" sz="1200" dirty="0"/>
                        <a:t>：</a:t>
                      </a:r>
                      <a:r>
                        <a:rPr kumimoji="1" lang="en-US" altLang="ja-JP" sz="1200" dirty="0"/>
                        <a:t>Read device Identification</a:t>
                      </a:r>
                    </a:p>
                  </a:txBody>
                  <a:tcPr/>
                </a:tc>
                <a:extLst>
                  <a:ext uri="{0D108BD9-81ED-4DB2-BD59-A6C34878D82A}">
                    <a16:rowId xmlns:a16="http://schemas.microsoft.com/office/drawing/2014/main" val="3849938891"/>
                  </a:ext>
                </a:extLst>
              </a:tr>
              <a:tr h="370840">
                <a:tc>
                  <a:txBody>
                    <a:bodyPr/>
                    <a:lstStyle/>
                    <a:p>
                      <a:endParaRPr kumimoji="1" lang="ja-JP" altLang="en-US" sz="1200"/>
                    </a:p>
                  </a:txBody>
                  <a:tcPr/>
                </a:tc>
                <a:tc>
                  <a:txBody>
                    <a:bodyPr/>
                    <a:lstStyle/>
                    <a:p>
                      <a:r>
                        <a:rPr kumimoji="1" lang="ja-JP" altLang="en-US" sz="1200" dirty="0"/>
                        <a:t>書込用</a:t>
                      </a:r>
                    </a:p>
                  </a:txBody>
                  <a:tcPr/>
                </a:tc>
                <a:tc>
                  <a:txBody>
                    <a:bodyPr/>
                    <a:lstStyle/>
                    <a:p>
                      <a:r>
                        <a:rPr kumimoji="1" lang="ja-JP" altLang="en-US" sz="1200" dirty="0"/>
                        <a:t>不使用につき省略</a:t>
                      </a:r>
                    </a:p>
                  </a:txBody>
                  <a:tcPr/>
                </a:tc>
                <a:extLst>
                  <a:ext uri="{0D108BD9-81ED-4DB2-BD59-A6C34878D82A}">
                    <a16:rowId xmlns:a16="http://schemas.microsoft.com/office/drawing/2014/main" val="2669553324"/>
                  </a:ext>
                </a:extLst>
              </a:tr>
            </a:tbl>
          </a:graphicData>
        </a:graphic>
      </p:graphicFrame>
    </p:spTree>
    <p:extLst>
      <p:ext uri="{BB962C8B-B14F-4D97-AF65-F5344CB8AC3E}">
        <p14:creationId xmlns:p14="http://schemas.microsoft.com/office/powerpoint/2010/main" val="1215469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07AEC-1E4D-E198-8F7F-8DF55590A9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68ADCA5-20F1-E194-F59A-045A798ABC8C}"/>
              </a:ext>
            </a:extLst>
          </p:cNvPr>
          <p:cNvSpPr>
            <a:spLocks noGrp="1"/>
          </p:cNvSpPr>
          <p:nvPr>
            <p:ph type="title"/>
          </p:nvPr>
        </p:nvSpPr>
        <p:spPr>
          <a:xfrm>
            <a:off x="838200" y="365125"/>
            <a:ext cx="10515600" cy="459823"/>
          </a:xfrm>
        </p:spPr>
        <p:txBody>
          <a:bodyPr>
            <a:normAutofit/>
          </a:bodyPr>
          <a:lstStyle/>
          <a:p>
            <a:r>
              <a:rPr kumimoji="1" lang="en-US" altLang="ja-JP" sz="2200" dirty="0"/>
              <a:t>PI Connector for Ethernet IP</a:t>
            </a:r>
            <a:endParaRPr kumimoji="1" lang="ja-JP" altLang="en-US" sz="2200" dirty="0"/>
          </a:p>
        </p:txBody>
      </p:sp>
      <p:sp>
        <p:nvSpPr>
          <p:cNvPr id="3" name="コンテンツ プレースホルダー 2">
            <a:extLst>
              <a:ext uri="{FF2B5EF4-FFF2-40B4-BE49-F238E27FC236}">
                <a16:creationId xmlns:a16="http://schemas.microsoft.com/office/drawing/2014/main" id="{5857EE3E-C3E1-431B-53AA-0354D7CB9C6D}"/>
              </a:ext>
            </a:extLst>
          </p:cNvPr>
          <p:cNvSpPr>
            <a:spLocks noGrp="1"/>
          </p:cNvSpPr>
          <p:nvPr>
            <p:ph idx="1"/>
          </p:nvPr>
        </p:nvSpPr>
        <p:spPr>
          <a:xfrm>
            <a:off x="771386" y="1094896"/>
            <a:ext cx="10515600" cy="276999"/>
          </a:xfrm>
        </p:spPr>
        <p:txBody>
          <a:bodyPr>
            <a:normAutofit fontScale="92500" lnSpcReduction="20000"/>
          </a:bodyPr>
          <a:lstStyle/>
          <a:p>
            <a:r>
              <a:rPr lang="en-US" altLang="ja-JP" sz="1600" dirty="0"/>
              <a:t>PLC</a:t>
            </a:r>
            <a:r>
              <a:rPr lang="ja-JP" altLang="en-US" sz="1600" dirty="0"/>
              <a:t>側の前提条件</a:t>
            </a:r>
            <a:endParaRPr lang="en-US" altLang="ja-JP" sz="1600" dirty="0"/>
          </a:p>
        </p:txBody>
      </p:sp>
      <p:graphicFrame>
        <p:nvGraphicFramePr>
          <p:cNvPr id="4" name="表 3">
            <a:extLst>
              <a:ext uri="{FF2B5EF4-FFF2-40B4-BE49-F238E27FC236}">
                <a16:creationId xmlns:a16="http://schemas.microsoft.com/office/drawing/2014/main" id="{ABC98892-553B-F7AA-6FF2-A7B6BF32E783}"/>
              </a:ext>
            </a:extLst>
          </p:cNvPr>
          <p:cNvGraphicFramePr>
            <a:graphicFrameLocks noGrp="1"/>
          </p:cNvGraphicFramePr>
          <p:nvPr>
            <p:extLst>
              <p:ext uri="{D42A27DB-BD31-4B8C-83A1-F6EECF244321}">
                <p14:modId xmlns:p14="http://schemas.microsoft.com/office/powerpoint/2010/main" val="3891661220"/>
              </p:ext>
            </p:extLst>
          </p:nvPr>
        </p:nvGraphicFramePr>
        <p:xfrm>
          <a:off x="905013" y="1325880"/>
          <a:ext cx="10381973" cy="3383280"/>
        </p:xfrm>
        <a:graphic>
          <a:graphicData uri="http://schemas.openxmlformats.org/drawingml/2006/table">
            <a:tbl>
              <a:tblPr firstRow="1" bandRow="1">
                <a:tableStyleId>{5C22544A-7EE6-4342-B048-85BDC9FD1C3A}</a:tableStyleId>
              </a:tblPr>
              <a:tblGrid>
                <a:gridCol w="1453321">
                  <a:extLst>
                    <a:ext uri="{9D8B030D-6E8A-4147-A177-3AD203B41FA5}">
                      <a16:colId xmlns:a16="http://schemas.microsoft.com/office/drawing/2014/main" val="1211358433"/>
                    </a:ext>
                  </a:extLst>
                </a:gridCol>
                <a:gridCol w="4555365">
                  <a:extLst>
                    <a:ext uri="{9D8B030D-6E8A-4147-A177-3AD203B41FA5}">
                      <a16:colId xmlns:a16="http://schemas.microsoft.com/office/drawing/2014/main" val="4038191690"/>
                    </a:ext>
                  </a:extLst>
                </a:gridCol>
                <a:gridCol w="4373287">
                  <a:extLst>
                    <a:ext uri="{9D8B030D-6E8A-4147-A177-3AD203B41FA5}">
                      <a16:colId xmlns:a16="http://schemas.microsoft.com/office/drawing/2014/main" val="3690498247"/>
                    </a:ext>
                  </a:extLst>
                </a:gridCol>
              </a:tblGrid>
              <a:tr h="224552">
                <a:tc>
                  <a:txBody>
                    <a:bodyPr/>
                    <a:lstStyle/>
                    <a:p>
                      <a:r>
                        <a:rPr kumimoji="1" lang="ja-JP" altLang="en-US" sz="1200" dirty="0"/>
                        <a:t>項目</a:t>
                      </a:r>
                    </a:p>
                  </a:txBody>
                  <a:tcPr/>
                </a:tc>
                <a:tc>
                  <a:txBody>
                    <a:bodyPr/>
                    <a:lstStyle/>
                    <a:p>
                      <a:r>
                        <a:rPr kumimoji="1" lang="ja-JP" altLang="en-US" sz="1200" dirty="0"/>
                        <a:t>内容</a:t>
                      </a:r>
                    </a:p>
                  </a:txBody>
                  <a:tcPr/>
                </a:tc>
                <a:tc>
                  <a:txBody>
                    <a:bodyPr/>
                    <a:lstStyle/>
                    <a:p>
                      <a:r>
                        <a:rPr kumimoji="1" lang="ja-JP" altLang="en-US" sz="1200" dirty="0"/>
                        <a:t>根拠・ページ・記述</a:t>
                      </a:r>
                      <a:endParaRPr kumimoji="1" lang="en-US" altLang="ja-JP" sz="1200" dirty="0"/>
                    </a:p>
                  </a:txBody>
                  <a:tcPr/>
                </a:tc>
                <a:extLst>
                  <a:ext uri="{0D108BD9-81ED-4DB2-BD59-A6C34878D82A}">
                    <a16:rowId xmlns:a16="http://schemas.microsoft.com/office/drawing/2014/main" val="418368254"/>
                  </a:ext>
                </a:extLst>
              </a:tr>
              <a:tr h="210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通信方式</a:t>
                      </a:r>
                    </a:p>
                  </a:txBody>
                  <a:tcPr/>
                </a:tc>
                <a:tc>
                  <a:txBody>
                    <a:bodyPr/>
                    <a:lstStyle/>
                    <a:p>
                      <a:pPr marL="0" indent="0">
                        <a:buFont typeface="Arial" panose="020B0604020202020204" pitchFamily="34" charset="0"/>
                        <a:buNone/>
                      </a:pPr>
                      <a:r>
                        <a:rPr lang="en-US" altLang="ja-JP" sz="1200" dirty="0" err="1"/>
                        <a:t>EtherNet</a:t>
                      </a:r>
                      <a:r>
                        <a:rPr lang="en-US" altLang="ja-JP" sz="1200" dirty="0"/>
                        <a:t>/IP</a:t>
                      </a:r>
                      <a:r>
                        <a:rPr lang="ja-JP" altLang="en-US" sz="1200" dirty="0"/>
                        <a:t> </a:t>
                      </a:r>
                      <a:r>
                        <a:rPr lang="en-US" altLang="ja-JP" sz="1200" dirty="0"/>
                        <a:t>Class1/Implicit</a:t>
                      </a:r>
                      <a:r>
                        <a:rPr lang="ja-JP" altLang="en-US" sz="1200" dirty="0"/>
                        <a:t>通信（サイクリック通信）でデータを周期送信</a:t>
                      </a:r>
                      <a:endParaRPr lang="en-US" altLang="ja-JP" sz="1200" dirty="0"/>
                    </a:p>
                    <a:p>
                      <a:pPr marL="0" indent="0">
                        <a:buFont typeface="Arial" panose="020B0604020202020204" pitchFamily="34" charset="0"/>
                        <a:buNone/>
                      </a:pPr>
                      <a:r>
                        <a:rPr lang="en-US" altLang="ja-JP" sz="1200" dirty="0"/>
                        <a:t>※Class3/Explicit</a:t>
                      </a:r>
                      <a:r>
                        <a:rPr lang="ja-JP" altLang="en-US" sz="1200" dirty="0"/>
                        <a:t>通信（メッセージ通信）は</a:t>
                      </a:r>
                      <a:r>
                        <a:rPr lang="en-US" altLang="ja-JP" sz="1200" dirty="0"/>
                        <a:t>FORWARD</a:t>
                      </a:r>
                      <a:r>
                        <a:rPr lang="ja-JP" altLang="en-US" sz="1200" dirty="0"/>
                        <a:t> </a:t>
                      </a:r>
                      <a:r>
                        <a:rPr lang="en-US" altLang="ja-JP" sz="1200" dirty="0"/>
                        <a:t>OPEN</a:t>
                      </a:r>
                      <a:r>
                        <a:rPr lang="ja-JP" altLang="en-US" sz="1200" dirty="0"/>
                        <a:t>（本</a:t>
                      </a:r>
                      <a:r>
                        <a:rPr lang="en-US" altLang="ja-JP" sz="1200" dirty="0"/>
                        <a:t>Connector</a:t>
                      </a:r>
                      <a:r>
                        <a:rPr lang="ja-JP" altLang="en-US" sz="1200" dirty="0"/>
                        <a:t>との接続確立）の用途で使用され、</a:t>
                      </a:r>
                      <a:r>
                        <a:rPr lang="en-US" altLang="ja-JP" sz="1200" dirty="0"/>
                        <a:t>PLC</a:t>
                      </a:r>
                      <a:r>
                        <a:rPr lang="ja-JP" altLang="en-US" sz="1200" dirty="0"/>
                        <a:t>から「</a:t>
                      </a:r>
                      <a:r>
                        <a:rPr lang="en-US" altLang="ja-JP" sz="1200" dirty="0"/>
                        <a:t>Scanner</a:t>
                      </a:r>
                      <a:r>
                        <a:rPr lang="ja-JP" altLang="en-US" sz="1200" dirty="0"/>
                        <a:t>」として「</a:t>
                      </a:r>
                      <a:r>
                        <a:rPr lang="en-US" altLang="ja-JP" sz="1200" dirty="0"/>
                        <a:t>Adapter</a:t>
                      </a:r>
                      <a:r>
                        <a:rPr lang="ja-JP" altLang="en-US" sz="1200" dirty="0"/>
                        <a:t>」である本</a:t>
                      </a:r>
                      <a:r>
                        <a:rPr lang="en-US" altLang="ja-JP" sz="1200" dirty="0"/>
                        <a:t>Connector</a:t>
                      </a:r>
                      <a:r>
                        <a:rPr lang="ja-JP" altLang="en-US" sz="1200" dirty="0"/>
                        <a:t>に</a:t>
                      </a:r>
                      <a:r>
                        <a:rPr lang="en-US" altLang="ja-JP" sz="1200" dirty="0" err="1"/>
                        <a:t>OutputAssembly</a:t>
                      </a:r>
                      <a:r>
                        <a:rPr lang="ja-JP" altLang="en-US" sz="1200" dirty="0"/>
                        <a:t>データを</a:t>
                      </a:r>
                      <a:r>
                        <a:rPr lang="en-US" altLang="ja-JP" sz="1200" dirty="0"/>
                        <a:t>RPI</a:t>
                      </a:r>
                      <a:r>
                        <a:rPr lang="ja-JP" altLang="en-US" sz="1200" dirty="0"/>
                        <a:t>に従い周期送信する</a:t>
                      </a:r>
                      <a:endParaRPr lang="en-US" altLang="ja-JP" sz="1200" dirty="0"/>
                    </a:p>
                    <a:p>
                      <a:pPr marL="171450" indent="-171450">
                        <a:buFont typeface="Arial" panose="020B0604020202020204" pitchFamily="34" charset="0"/>
                        <a:buChar char="•"/>
                      </a:pPr>
                      <a:endParaRPr kumimoji="1" lang="ja-JP" altLang="en-US" sz="1200" dirty="0"/>
                    </a:p>
                    <a:p>
                      <a:endParaRPr kumimoji="1" lang="ja-JP" altLang="en-US" sz="1200" dirty="0"/>
                    </a:p>
                  </a:txBody>
                  <a:tcPr/>
                </a:tc>
                <a:tc>
                  <a:txBody>
                    <a:bodyPr/>
                    <a:lstStyle/>
                    <a:p>
                      <a:r>
                        <a:rPr kumimoji="1" lang="en-US" altLang="ja-JP" sz="1200" dirty="0"/>
                        <a:t>P.1 PI Connector for </a:t>
                      </a:r>
                      <a:r>
                        <a:rPr kumimoji="1" lang="en-US" altLang="ja-JP" sz="1200" dirty="0" err="1"/>
                        <a:t>EtherNet</a:t>
                      </a:r>
                      <a:r>
                        <a:rPr kumimoji="1" lang="en-US" altLang="ja-JP" sz="1200" dirty="0"/>
                        <a:t>/IP uses Class 1 IO messaging, which uses UDP, for high-speed data</a:t>
                      </a:r>
                    </a:p>
                    <a:p>
                      <a:r>
                        <a:rPr kumimoji="1" lang="en-US" altLang="ja-JP" sz="1200" dirty="0"/>
                        <a:t>collection, and supports device data rates from 1 millisecond to 750 milliseconds.</a:t>
                      </a:r>
                    </a:p>
                    <a:p>
                      <a:r>
                        <a:rPr kumimoji="1" lang="en-US" altLang="ja-JP" sz="1200" dirty="0"/>
                        <a:t>P.2</a:t>
                      </a:r>
                      <a:r>
                        <a:rPr kumimoji="1" lang="ja-JP" altLang="en-US" sz="1200" dirty="0"/>
                        <a:t> </a:t>
                      </a:r>
                      <a:r>
                        <a:rPr kumimoji="1" lang="en-US" altLang="ja-JP" sz="1200" dirty="0"/>
                        <a:t>PI Connector for </a:t>
                      </a:r>
                      <a:r>
                        <a:rPr kumimoji="1" lang="en-US" altLang="ja-JP" sz="1200" dirty="0" err="1"/>
                        <a:t>EtherNet</a:t>
                      </a:r>
                      <a:r>
                        <a:rPr kumimoji="1" lang="en-US" altLang="ja-JP" sz="1200" dirty="0"/>
                        <a:t>/IP uses TCP/IP to connect to industrial devices and UDP to receive</a:t>
                      </a:r>
                    </a:p>
                    <a:p>
                      <a:r>
                        <a:rPr kumimoji="1" lang="en-US" altLang="ja-JP" sz="1200" dirty="0"/>
                        <a:t>data packets, as described by ODVA on their website http://odva.org. The IO module sends a FORWARD OPEN request to the connector via TCP/IP. The connector replies back with a status SUCCESS indicating that it is ready to accept data.</a:t>
                      </a:r>
                    </a:p>
                    <a:p>
                      <a:r>
                        <a:rPr kumimoji="1" lang="en-US" altLang="ja-JP" sz="1200" dirty="0"/>
                        <a:t>P.21</a:t>
                      </a:r>
                      <a:r>
                        <a:rPr kumimoji="1" lang="ja-JP" altLang="en-US" sz="1200" dirty="0"/>
                        <a:t> </a:t>
                      </a:r>
                      <a:r>
                        <a:rPr kumimoji="1" lang="en-US" altLang="ja-JP" sz="1200" dirty="0"/>
                        <a:t>PI Connector for </a:t>
                      </a:r>
                      <a:r>
                        <a:rPr kumimoji="1" lang="en-US" altLang="ja-JP" sz="1200" dirty="0" err="1"/>
                        <a:t>EtherNet</a:t>
                      </a:r>
                      <a:r>
                        <a:rPr kumimoji="1" lang="en-US" altLang="ja-JP" sz="1200" dirty="0"/>
                        <a:t>/IP acts as an adapter and accepts connections from scanners to</a:t>
                      </a:r>
                      <a:r>
                        <a:rPr kumimoji="1" lang="ja-JP" altLang="en-US" sz="1200" dirty="0"/>
                        <a:t> </a:t>
                      </a:r>
                      <a:r>
                        <a:rPr kumimoji="1" lang="en-US" altLang="ja-JP" sz="1200" dirty="0"/>
                        <a:t>process explicit and implicit messages.</a:t>
                      </a:r>
                      <a:endParaRPr kumimoji="1" lang="ja-JP" altLang="en-US" sz="1200" dirty="0"/>
                    </a:p>
                  </a:txBody>
                  <a:tcPr/>
                </a:tc>
                <a:extLst>
                  <a:ext uri="{0D108BD9-81ED-4DB2-BD59-A6C34878D82A}">
                    <a16:rowId xmlns:a16="http://schemas.microsoft.com/office/drawing/2014/main" val="3036631503"/>
                  </a:ext>
                </a:extLst>
              </a:tr>
              <a:tr h="0">
                <a:tc>
                  <a:txBody>
                    <a:bodyPr/>
                    <a:lstStyle/>
                    <a:p>
                      <a:r>
                        <a:rPr kumimoji="1" lang="ja-JP" altLang="en-US" sz="1200" dirty="0"/>
                        <a:t>通信障害時の</a:t>
                      </a:r>
                      <a:endParaRPr kumimoji="1" lang="en-US" altLang="ja-JP" sz="1200" dirty="0"/>
                    </a:p>
                    <a:p>
                      <a:r>
                        <a:rPr kumimoji="1" lang="ja-JP" altLang="en-US" sz="1200" dirty="0"/>
                        <a:t>再接続</a:t>
                      </a:r>
                    </a:p>
                  </a:txBody>
                  <a:tcPr/>
                </a:tc>
                <a:tc>
                  <a:txBody>
                    <a:bodyPr/>
                    <a:lstStyle/>
                    <a:p>
                      <a:r>
                        <a:rPr kumimoji="1" lang="en-US" altLang="ja-JP" sz="1200" dirty="0"/>
                        <a:t>PLC</a:t>
                      </a:r>
                      <a:r>
                        <a:rPr kumimoji="1" lang="ja-JP" altLang="en-US" sz="1200" dirty="0"/>
                        <a:t>から本</a:t>
                      </a:r>
                      <a:r>
                        <a:rPr kumimoji="1" lang="en-US" altLang="ja-JP" sz="1200" dirty="0"/>
                        <a:t>Connector</a:t>
                      </a:r>
                      <a:r>
                        <a:rPr kumimoji="1" lang="ja-JP" altLang="en-US" sz="1200" dirty="0"/>
                        <a:t>に再接続する</a:t>
                      </a:r>
                      <a:endParaRPr kumimoji="1" lang="en-US" altLang="ja-JP" sz="1200" dirty="0"/>
                    </a:p>
                  </a:txBody>
                  <a:tcPr/>
                </a:tc>
                <a:tc>
                  <a:txBody>
                    <a:bodyPr/>
                    <a:lstStyle/>
                    <a:p>
                      <a:r>
                        <a:rPr kumimoji="1" lang="en-US" altLang="ja-JP" sz="1200" dirty="0"/>
                        <a:t>-</a:t>
                      </a:r>
                    </a:p>
                  </a:txBody>
                  <a:tcPr/>
                </a:tc>
                <a:extLst>
                  <a:ext uri="{0D108BD9-81ED-4DB2-BD59-A6C34878D82A}">
                    <a16:rowId xmlns:a16="http://schemas.microsoft.com/office/drawing/2014/main" val="2136742154"/>
                  </a:ext>
                </a:extLst>
              </a:tr>
            </a:tbl>
          </a:graphicData>
        </a:graphic>
      </p:graphicFrame>
      <p:sp>
        <p:nvSpPr>
          <p:cNvPr id="5" name="テキスト ボックス 4">
            <a:extLst>
              <a:ext uri="{FF2B5EF4-FFF2-40B4-BE49-F238E27FC236}">
                <a16:creationId xmlns:a16="http://schemas.microsoft.com/office/drawing/2014/main" id="{511DFE49-33F5-8188-AB0D-53E04DEDCC9E}"/>
              </a:ext>
            </a:extLst>
          </p:cNvPr>
          <p:cNvSpPr txBox="1"/>
          <p:nvPr/>
        </p:nvSpPr>
        <p:spPr>
          <a:xfrm>
            <a:off x="7114089" y="1048881"/>
            <a:ext cx="5647911" cy="276999"/>
          </a:xfrm>
          <a:prstGeom prst="rect">
            <a:avLst/>
          </a:prstGeom>
          <a:noFill/>
        </p:spPr>
        <p:txBody>
          <a:bodyPr wrap="square">
            <a:spAutoFit/>
          </a:bodyPr>
          <a:lstStyle/>
          <a:p>
            <a:r>
              <a:rPr lang="ja-JP" altLang="en-US" sz="1200" dirty="0"/>
              <a:t>参照</a:t>
            </a:r>
            <a:r>
              <a:rPr lang="en-US" altLang="ja-JP" sz="1200" dirty="0"/>
              <a:t>: PI-Connector-for-EtherNet-IP-1.1.0-User-Guide.pdf</a:t>
            </a:r>
            <a:endParaRPr lang="ja-JP" altLang="en-US" sz="1200" dirty="0"/>
          </a:p>
        </p:txBody>
      </p:sp>
      <p:sp>
        <p:nvSpPr>
          <p:cNvPr id="8" name="スライド番号プレースホルダー 7">
            <a:extLst>
              <a:ext uri="{FF2B5EF4-FFF2-40B4-BE49-F238E27FC236}">
                <a16:creationId xmlns:a16="http://schemas.microsoft.com/office/drawing/2014/main" id="{5513B2EF-1363-1502-A4E4-BA65498F3128}"/>
              </a:ext>
            </a:extLst>
          </p:cNvPr>
          <p:cNvSpPr>
            <a:spLocks noGrp="1"/>
          </p:cNvSpPr>
          <p:nvPr>
            <p:ph type="sldNum" sz="quarter" idx="12"/>
          </p:nvPr>
        </p:nvSpPr>
        <p:spPr/>
        <p:txBody>
          <a:bodyPr/>
          <a:lstStyle/>
          <a:p>
            <a:fld id="{1EA322B9-08FF-4B54-ADFF-20A0A916893B}" type="slidenum">
              <a:rPr kumimoji="1" lang="ja-JP" altLang="en-US" smtClean="0"/>
              <a:t>4</a:t>
            </a:fld>
            <a:endParaRPr kumimoji="1" lang="ja-JP" altLang="en-US"/>
          </a:p>
        </p:txBody>
      </p:sp>
    </p:spTree>
    <p:extLst>
      <p:ext uri="{BB962C8B-B14F-4D97-AF65-F5344CB8AC3E}">
        <p14:creationId xmlns:p14="http://schemas.microsoft.com/office/powerpoint/2010/main" val="2195253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6BD03438-1EF1-AB8F-2A22-427461A9F02E}"/>
              </a:ext>
            </a:extLst>
          </p:cNvPr>
          <p:cNvSpPr>
            <a:spLocks noGrp="1"/>
          </p:cNvSpPr>
          <p:nvPr>
            <p:ph type="title"/>
          </p:nvPr>
        </p:nvSpPr>
        <p:spPr>
          <a:xfrm>
            <a:off x="838200" y="365125"/>
            <a:ext cx="10515600" cy="459823"/>
          </a:xfrm>
        </p:spPr>
        <p:txBody>
          <a:bodyPr>
            <a:normAutofit/>
          </a:bodyPr>
          <a:lstStyle/>
          <a:p>
            <a:r>
              <a:rPr kumimoji="1" lang="en-US" altLang="ja-JP" sz="2200" dirty="0"/>
              <a:t>PI Connector for Ethernet IP</a:t>
            </a:r>
            <a:endParaRPr kumimoji="1" lang="ja-JP" altLang="en-US" sz="2200" dirty="0"/>
          </a:p>
        </p:txBody>
      </p:sp>
      <p:sp>
        <p:nvSpPr>
          <p:cNvPr id="5" name="コンテンツ プレースホルダー 2">
            <a:extLst>
              <a:ext uri="{FF2B5EF4-FFF2-40B4-BE49-F238E27FC236}">
                <a16:creationId xmlns:a16="http://schemas.microsoft.com/office/drawing/2014/main" id="{E20FE973-8788-37AE-E1ED-308D856E0300}"/>
              </a:ext>
            </a:extLst>
          </p:cNvPr>
          <p:cNvSpPr>
            <a:spLocks noGrp="1"/>
          </p:cNvSpPr>
          <p:nvPr>
            <p:ph idx="1"/>
          </p:nvPr>
        </p:nvSpPr>
        <p:spPr>
          <a:xfrm>
            <a:off x="771386" y="1094896"/>
            <a:ext cx="10515600" cy="276999"/>
          </a:xfrm>
        </p:spPr>
        <p:txBody>
          <a:bodyPr>
            <a:normAutofit fontScale="92500" lnSpcReduction="20000"/>
          </a:bodyPr>
          <a:lstStyle/>
          <a:p>
            <a:r>
              <a:rPr lang="en-US" altLang="ja-JP" sz="1600" dirty="0"/>
              <a:t>PLC</a:t>
            </a:r>
            <a:r>
              <a:rPr lang="ja-JP" altLang="en-US" sz="1600" dirty="0"/>
              <a:t>側の制約条件</a:t>
            </a:r>
            <a:endParaRPr lang="en-US" altLang="ja-JP" sz="1600" dirty="0"/>
          </a:p>
        </p:txBody>
      </p:sp>
      <p:graphicFrame>
        <p:nvGraphicFramePr>
          <p:cNvPr id="6" name="表 5">
            <a:extLst>
              <a:ext uri="{FF2B5EF4-FFF2-40B4-BE49-F238E27FC236}">
                <a16:creationId xmlns:a16="http://schemas.microsoft.com/office/drawing/2014/main" id="{C2919701-0D74-E2BA-FB70-42E9A77ED5E5}"/>
              </a:ext>
            </a:extLst>
          </p:cNvPr>
          <p:cNvGraphicFramePr>
            <a:graphicFrameLocks noGrp="1"/>
          </p:cNvGraphicFramePr>
          <p:nvPr>
            <p:extLst>
              <p:ext uri="{D42A27DB-BD31-4B8C-83A1-F6EECF244321}">
                <p14:modId xmlns:p14="http://schemas.microsoft.com/office/powerpoint/2010/main" val="83952446"/>
              </p:ext>
            </p:extLst>
          </p:nvPr>
        </p:nvGraphicFramePr>
        <p:xfrm>
          <a:off x="905013" y="1325880"/>
          <a:ext cx="10381973" cy="2103120"/>
        </p:xfrm>
        <a:graphic>
          <a:graphicData uri="http://schemas.openxmlformats.org/drawingml/2006/table">
            <a:tbl>
              <a:tblPr firstRow="1" bandRow="1">
                <a:tableStyleId>{5C22544A-7EE6-4342-B048-85BDC9FD1C3A}</a:tableStyleId>
              </a:tblPr>
              <a:tblGrid>
                <a:gridCol w="1453321">
                  <a:extLst>
                    <a:ext uri="{9D8B030D-6E8A-4147-A177-3AD203B41FA5}">
                      <a16:colId xmlns:a16="http://schemas.microsoft.com/office/drawing/2014/main" val="1211358433"/>
                    </a:ext>
                  </a:extLst>
                </a:gridCol>
                <a:gridCol w="4555365">
                  <a:extLst>
                    <a:ext uri="{9D8B030D-6E8A-4147-A177-3AD203B41FA5}">
                      <a16:colId xmlns:a16="http://schemas.microsoft.com/office/drawing/2014/main" val="4038191690"/>
                    </a:ext>
                  </a:extLst>
                </a:gridCol>
                <a:gridCol w="4373287">
                  <a:extLst>
                    <a:ext uri="{9D8B030D-6E8A-4147-A177-3AD203B41FA5}">
                      <a16:colId xmlns:a16="http://schemas.microsoft.com/office/drawing/2014/main" val="3690498247"/>
                    </a:ext>
                  </a:extLst>
                </a:gridCol>
              </a:tblGrid>
              <a:tr h="224552">
                <a:tc>
                  <a:txBody>
                    <a:bodyPr/>
                    <a:lstStyle/>
                    <a:p>
                      <a:r>
                        <a:rPr kumimoji="1" lang="ja-JP" altLang="en-US" sz="1200" dirty="0"/>
                        <a:t>項目</a:t>
                      </a:r>
                    </a:p>
                  </a:txBody>
                  <a:tcPr/>
                </a:tc>
                <a:tc>
                  <a:txBody>
                    <a:bodyPr/>
                    <a:lstStyle/>
                    <a:p>
                      <a:r>
                        <a:rPr kumimoji="1" lang="ja-JP" altLang="en-US" sz="1200" dirty="0"/>
                        <a:t>内容</a:t>
                      </a:r>
                    </a:p>
                  </a:txBody>
                  <a:tcPr/>
                </a:tc>
                <a:tc>
                  <a:txBody>
                    <a:bodyPr/>
                    <a:lstStyle/>
                    <a:p>
                      <a:r>
                        <a:rPr kumimoji="1" lang="ja-JP" altLang="en-US" sz="1200" dirty="0"/>
                        <a:t>根拠・ページ・記述</a:t>
                      </a:r>
                      <a:endParaRPr kumimoji="1" lang="en-US" altLang="ja-JP" sz="1200" dirty="0"/>
                    </a:p>
                  </a:txBody>
                  <a:tcPr/>
                </a:tc>
                <a:extLst>
                  <a:ext uri="{0D108BD9-81ED-4DB2-BD59-A6C34878D82A}">
                    <a16:rowId xmlns:a16="http://schemas.microsoft.com/office/drawing/2014/main" val="418368254"/>
                  </a:ext>
                </a:extLst>
              </a:tr>
              <a:tr h="0">
                <a:tc>
                  <a:txBody>
                    <a:bodyPr/>
                    <a:lstStyle/>
                    <a:p>
                      <a:r>
                        <a:rPr kumimoji="1" lang="ja-JP" altLang="en-US" sz="1200" dirty="0"/>
                        <a:t>データ送信周期</a:t>
                      </a:r>
                    </a:p>
                  </a:txBody>
                  <a:tcPr/>
                </a:tc>
                <a:tc>
                  <a:txBody>
                    <a:bodyPr/>
                    <a:lstStyle/>
                    <a:p>
                      <a:r>
                        <a:rPr kumimoji="1" lang="ja-JP" altLang="en-US" sz="1200" dirty="0"/>
                        <a:t>最小の</a:t>
                      </a:r>
                      <a:r>
                        <a:rPr kumimoji="1" lang="en-US" altLang="ja-JP" sz="1200" dirty="0"/>
                        <a:t>RPI</a:t>
                      </a:r>
                      <a:r>
                        <a:rPr kumimoji="1" lang="ja-JP" altLang="en-US" sz="1200" dirty="0"/>
                        <a:t>設定値（最短のデータ送信周期）</a:t>
                      </a:r>
                      <a:endParaRPr kumimoji="1" lang="en-US" altLang="ja-JP" sz="1200" dirty="0"/>
                    </a:p>
                    <a:p>
                      <a:r>
                        <a:rPr kumimoji="1" lang="en-US" altLang="ja-JP" sz="1200" dirty="0"/>
                        <a:t>※</a:t>
                      </a:r>
                      <a:r>
                        <a:rPr kumimoji="1" lang="ja-JP" altLang="en-US" sz="1200" dirty="0"/>
                        <a:t>本</a:t>
                      </a:r>
                      <a:r>
                        <a:rPr kumimoji="1" lang="en-US" altLang="ja-JP" sz="1200" dirty="0"/>
                        <a:t>Connector</a:t>
                      </a:r>
                      <a:r>
                        <a:rPr kumimoji="1" lang="ja-JP" altLang="en-US" sz="1200" dirty="0"/>
                        <a:t>では</a:t>
                      </a:r>
                      <a:r>
                        <a:rPr kumimoji="1" lang="en-US" altLang="ja-JP" sz="1200" dirty="0"/>
                        <a:t>1ms</a:t>
                      </a:r>
                      <a:r>
                        <a:rPr kumimoji="1" lang="ja-JP" altLang="en-US" sz="1200" dirty="0"/>
                        <a:t>から</a:t>
                      </a:r>
                      <a:r>
                        <a:rPr kumimoji="1" lang="en-US" altLang="ja-JP" sz="1200" dirty="0"/>
                        <a:t>750ms</a:t>
                      </a:r>
                      <a:r>
                        <a:rPr kumimoji="1" lang="ja-JP" altLang="en-US" sz="1200" dirty="0"/>
                        <a:t>までの</a:t>
                      </a:r>
                      <a:r>
                        <a:rPr kumimoji="1" lang="en-US" altLang="ja-JP" sz="1200" dirty="0"/>
                        <a:t>RPI</a:t>
                      </a:r>
                      <a:r>
                        <a:rPr kumimoji="1" lang="ja-JP" altLang="en-US" sz="1200" dirty="0"/>
                        <a:t>をサポート</a:t>
                      </a:r>
                      <a:endParaRPr kumimoji="1" lang="en-US" altLang="ja-JP" sz="1200" dirty="0"/>
                    </a:p>
                  </a:txBody>
                  <a:tcPr/>
                </a:tc>
                <a:tc>
                  <a:txBody>
                    <a:bodyPr/>
                    <a:lstStyle/>
                    <a:p>
                      <a:r>
                        <a:rPr kumimoji="1" lang="en-US" altLang="ja-JP" sz="1200" dirty="0"/>
                        <a:t>P.2</a:t>
                      </a:r>
                      <a:r>
                        <a:rPr kumimoji="1" lang="ja-JP" altLang="en-US" sz="1200" dirty="0"/>
                        <a:t> </a:t>
                      </a:r>
                      <a:r>
                        <a:rPr kumimoji="1" lang="en-US" altLang="ja-JP" sz="1200" dirty="0"/>
                        <a:t>The Request Packet Interval (RPI) update rate is configured on the IO module. RPI rates can</a:t>
                      </a:r>
                      <a:r>
                        <a:rPr kumimoji="1" lang="ja-JP" altLang="en-US" sz="1200" dirty="0"/>
                        <a:t> </a:t>
                      </a:r>
                      <a:r>
                        <a:rPr kumimoji="1" lang="en-US" altLang="ja-JP" sz="1200" dirty="0"/>
                        <a:t>normally be set from 0.2 milliseconds to 750 milliseconds. PI Connector for </a:t>
                      </a:r>
                      <a:r>
                        <a:rPr kumimoji="1" lang="en-US" altLang="ja-JP" sz="1200" dirty="0" err="1"/>
                        <a:t>EtherNet</a:t>
                      </a:r>
                      <a:r>
                        <a:rPr kumimoji="1" lang="en-US" altLang="ja-JP" sz="1200" dirty="0"/>
                        <a:t>/IP</a:t>
                      </a:r>
                      <a:r>
                        <a:rPr kumimoji="1" lang="ja-JP" altLang="en-US" sz="1200" dirty="0"/>
                        <a:t> </a:t>
                      </a:r>
                      <a:r>
                        <a:rPr kumimoji="1" lang="en-US" altLang="ja-JP" sz="1200" dirty="0"/>
                        <a:t>currently supports a minimum RPI rate of 1 millisecond.</a:t>
                      </a:r>
                    </a:p>
                  </a:txBody>
                  <a:tcPr/>
                </a:tc>
                <a:extLst>
                  <a:ext uri="{0D108BD9-81ED-4DB2-BD59-A6C34878D82A}">
                    <a16:rowId xmlns:a16="http://schemas.microsoft.com/office/drawing/2014/main" val="2566753513"/>
                  </a:ext>
                </a:extLst>
              </a:tr>
              <a:tr h="0">
                <a:tc>
                  <a:txBody>
                    <a:bodyPr/>
                    <a:lstStyle/>
                    <a:p>
                      <a:r>
                        <a:rPr kumimoji="1" lang="ja-JP" altLang="en-US" sz="1200" dirty="0"/>
                        <a:t>データサイズ</a:t>
                      </a:r>
                    </a:p>
                  </a:txBody>
                  <a:tcPr/>
                </a:tc>
                <a:tc>
                  <a:txBody>
                    <a:bodyPr/>
                    <a:lstStyle/>
                    <a:p>
                      <a:r>
                        <a:rPr lang="en-US" altLang="ja-JP" sz="1200" dirty="0"/>
                        <a:t>PLC</a:t>
                      </a:r>
                      <a:r>
                        <a:rPr lang="ja-JP" altLang="en-US" sz="1200" dirty="0"/>
                        <a:t>から</a:t>
                      </a:r>
                      <a:r>
                        <a:rPr lang="en-US" altLang="ja-JP" sz="1200" dirty="0"/>
                        <a:t>1</a:t>
                      </a:r>
                      <a:r>
                        <a:rPr lang="ja-JP" altLang="en-US" sz="1200" dirty="0"/>
                        <a:t>回の</a:t>
                      </a:r>
                      <a:r>
                        <a:rPr lang="en-US" altLang="ja-JP" sz="1200" dirty="0"/>
                        <a:t>Implicit</a:t>
                      </a:r>
                      <a:r>
                        <a:rPr lang="ja-JP" altLang="en-US" sz="1200" dirty="0"/>
                        <a:t>通信は</a:t>
                      </a:r>
                      <a:r>
                        <a:rPr lang="en-US" altLang="ja-JP" sz="1200" dirty="0"/>
                        <a:t>UDP</a:t>
                      </a:r>
                      <a:r>
                        <a:rPr lang="ja-JP" altLang="en-US" sz="1200" dirty="0"/>
                        <a:t>送信であり、送信可能な</a:t>
                      </a:r>
                      <a:r>
                        <a:rPr lang="en-US" altLang="ja-JP" sz="1200" dirty="0" err="1"/>
                        <a:t>OutputAssembly</a:t>
                      </a:r>
                      <a:r>
                        <a:rPr lang="ja-JP" altLang="en-US" sz="1200" dirty="0"/>
                        <a:t>サイズは</a:t>
                      </a:r>
                      <a:r>
                        <a:rPr lang="en-US" altLang="ja-JP" sz="1200" dirty="0"/>
                        <a:t>Ethernet</a:t>
                      </a:r>
                      <a:r>
                        <a:rPr lang="ja-JP" altLang="en-US" sz="1200" dirty="0"/>
                        <a:t>制約</a:t>
                      </a:r>
                      <a:r>
                        <a:rPr lang="en-US" altLang="ja-JP" sz="1200" dirty="0"/>
                        <a:t>(MTU1500</a:t>
                      </a:r>
                      <a:r>
                        <a:rPr lang="ja-JP" altLang="en-US" sz="1200" dirty="0"/>
                        <a:t>バイト</a:t>
                      </a:r>
                      <a:r>
                        <a:rPr lang="en-US" altLang="ja-JP" sz="1200" dirty="0"/>
                        <a:t>)</a:t>
                      </a:r>
                      <a:r>
                        <a:rPr lang="ja-JP" altLang="en-US" sz="1200" dirty="0"/>
                        <a:t>及び</a:t>
                      </a:r>
                      <a:r>
                        <a:rPr lang="en-US" altLang="ja-JP" sz="1200" dirty="0"/>
                        <a:t>UDP</a:t>
                      </a:r>
                      <a:r>
                        <a:rPr lang="ja-JP" altLang="en-US" sz="1200" dirty="0"/>
                        <a:t>制約</a:t>
                      </a:r>
                      <a:r>
                        <a:rPr lang="en-US" altLang="ja-JP" sz="1200" dirty="0"/>
                        <a:t>(</a:t>
                      </a:r>
                      <a:r>
                        <a:rPr lang="ja-JP" altLang="en-US" sz="1200" dirty="0"/>
                        <a:t>ペイロード</a:t>
                      </a:r>
                      <a:r>
                        <a:rPr lang="en-US" altLang="ja-JP" sz="1200" dirty="0"/>
                        <a:t>1472</a:t>
                      </a:r>
                      <a:r>
                        <a:rPr lang="ja-JP" altLang="en-US" sz="1200" dirty="0"/>
                        <a:t>バイト</a:t>
                      </a:r>
                      <a:r>
                        <a:rPr lang="en-US" altLang="ja-JP" sz="1200" dirty="0"/>
                        <a:t>)</a:t>
                      </a:r>
                      <a:r>
                        <a:rPr lang="ja-JP" altLang="en-US" sz="1200" dirty="0"/>
                        <a:t>により、実用上</a:t>
                      </a:r>
                      <a:r>
                        <a:rPr lang="en-US" altLang="ja-JP" sz="1200" dirty="0"/>
                        <a:t>1400byte</a:t>
                      </a:r>
                      <a:r>
                        <a:rPr lang="ja-JP" altLang="en-US" sz="1200" dirty="0"/>
                        <a:t>以下程度が推奨とされる</a:t>
                      </a:r>
                      <a:endParaRPr kumimoji="1" lang="en-US" altLang="ja-JP" sz="1200" dirty="0"/>
                    </a:p>
                  </a:txBody>
                  <a:tcPr/>
                </a:tc>
                <a:tc>
                  <a:txBody>
                    <a:bodyPr/>
                    <a:lstStyle/>
                    <a:p>
                      <a:r>
                        <a:rPr kumimoji="1" lang="en-US" altLang="ja-JP" sz="1200" dirty="0"/>
                        <a:t>P.1</a:t>
                      </a:r>
                      <a:r>
                        <a:rPr kumimoji="1" lang="ja-JP" altLang="en-US" sz="1200" dirty="0"/>
                        <a:t> </a:t>
                      </a:r>
                      <a:r>
                        <a:rPr kumimoji="1" lang="en-US" altLang="ja-JP" sz="1200" dirty="0"/>
                        <a:t>The device streams data using a UDP</a:t>
                      </a:r>
                      <a:r>
                        <a:rPr kumimoji="1" lang="ja-JP" altLang="en-US" sz="1200" dirty="0"/>
                        <a:t> </a:t>
                      </a:r>
                      <a:r>
                        <a:rPr kumimoji="1" lang="en-US" altLang="ja-JP" sz="1200" dirty="0"/>
                        <a:t>connection to the connector at the rate configured on the IO module. </a:t>
                      </a:r>
                    </a:p>
                    <a:p>
                      <a:r>
                        <a:rPr kumimoji="1" lang="en-US" altLang="ja-JP" sz="1200" dirty="0"/>
                        <a:t>※</a:t>
                      </a:r>
                      <a:r>
                        <a:rPr kumimoji="1" lang="ja-JP" altLang="en-US" sz="1200" dirty="0"/>
                        <a:t>データサイズ制約は</a:t>
                      </a:r>
                      <a:r>
                        <a:rPr kumimoji="1" lang="en-US" altLang="ja-JP" sz="1200" dirty="0"/>
                        <a:t>Ethernet MTU(1500byte)</a:t>
                      </a:r>
                      <a:r>
                        <a:rPr kumimoji="1" lang="ja-JP" altLang="en-US" sz="1200" dirty="0"/>
                        <a:t>および</a:t>
                      </a:r>
                      <a:r>
                        <a:rPr kumimoji="1" lang="en-US" altLang="ja-JP" sz="1200" dirty="0"/>
                        <a:t>IP/UDP</a:t>
                      </a:r>
                      <a:r>
                        <a:rPr kumimoji="1" lang="ja-JP" altLang="en-US" sz="1200" dirty="0"/>
                        <a:t>ヘッダによるネットワーク仕様に基づく</a:t>
                      </a:r>
                      <a:endParaRPr kumimoji="1" lang="en-US" altLang="ja-JP" sz="1200" dirty="0"/>
                    </a:p>
                  </a:txBody>
                  <a:tcPr/>
                </a:tc>
                <a:extLst>
                  <a:ext uri="{0D108BD9-81ED-4DB2-BD59-A6C34878D82A}">
                    <a16:rowId xmlns:a16="http://schemas.microsoft.com/office/drawing/2014/main" val="2136742154"/>
                  </a:ext>
                </a:extLst>
              </a:tr>
            </a:tbl>
          </a:graphicData>
        </a:graphic>
      </p:graphicFrame>
      <p:sp>
        <p:nvSpPr>
          <p:cNvPr id="7" name="テキスト ボックス 6">
            <a:extLst>
              <a:ext uri="{FF2B5EF4-FFF2-40B4-BE49-F238E27FC236}">
                <a16:creationId xmlns:a16="http://schemas.microsoft.com/office/drawing/2014/main" id="{BEDC5310-1BF2-A4A2-9360-EB544A628618}"/>
              </a:ext>
            </a:extLst>
          </p:cNvPr>
          <p:cNvSpPr txBox="1"/>
          <p:nvPr/>
        </p:nvSpPr>
        <p:spPr>
          <a:xfrm>
            <a:off x="7114089" y="1048881"/>
            <a:ext cx="5647911" cy="276999"/>
          </a:xfrm>
          <a:prstGeom prst="rect">
            <a:avLst/>
          </a:prstGeom>
          <a:noFill/>
        </p:spPr>
        <p:txBody>
          <a:bodyPr wrap="square">
            <a:spAutoFit/>
          </a:bodyPr>
          <a:lstStyle/>
          <a:p>
            <a:r>
              <a:rPr lang="ja-JP" altLang="en-US" sz="1200" dirty="0"/>
              <a:t>参照</a:t>
            </a:r>
            <a:r>
              <a:rPr lang="en-US" altLang="ja-JP" sz="1200" dirty="0"/>
              <a:t>: PI-Connector-for-EtherNet-IP-1.1.0-User-Guide.pdf</a:t>
            </a:r>
            <a:endParaRPr lang="ja-JP" altLang="en-US" sz="1200" dirty="0"/>
          </a:p>
        </p:txBody>
      </p:sp>
      <p:sp>
        <p:nvSpPr>
          <p:cNvPr id="8" name="コンテンツ プレースホルダー 2">
            <a:extLst>
              <a:ext uri="{FF2B5EF4-FFF2-40B4-BE49-F238E27FC236}">
                <a16:creationId xmlns:a16="http://schemas.microsoft.com/office/drawing/2014/main" id="{8AFBC33C-1C82-E6A7-29AB-02085FEEBD98}"/>
              </a:ext>
            </a:extLst>
          </p:cNvPr>
          <p:cNvSpPr txBox="1">
            <a:spLocks/>
          </p:cNvSpPr>
          <p:nvPr/>
        </p:nvSpPr>
        <p:spPr>
          <a:xfrm>
            <a:off x="771386" y="3521484"/>
            <a:ext cx="10515600" cy="27699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600" dirty="0"/>
              <a:t>PLC</a:t>
            </a:r>
            <a:r>
              <a:rPr lang="ja-JP" altLang="en-US" sz="1600" dirty="0"/>
              <a:t>側に設定するべき情報</a:t>
            </a:r>
            <a:endParaRPr lang="en-US" altLang="ja-JP" sz="1600" dirty="0"/>
          </a:p>
        </p:txBody>
      </p:sp>
      <p:graphicFrame>
        <p:nvGraphicFramePr>
          <p:cNvPr id="9" name="表 8">
            <a:extLst>
              <a:ext uri="{FF2B5EF4-FFF2-40B4-BE49-F238E27FC236}">
                <a16:creationId xmlns:a16="http://schemas.microsoft.com/office/drawing/2014/main" id="{E93893C8-FB23-ECC8-8288-9678D2C41D6A}"/>
              </a:ext>
            </a:extLst>
          </p:cNvPr>
          <p:cNvGraphicFramePr>
            <a:graphicFrameLocks noGrp="1"/>
          </p:cNvGraphicFramePr>
          <p:nvPr>
            <p:extLst>
              <p:ext uri="{D42A27DB-BD31-4B8C-83A1-F6EECF244321}">
                <p14:modId xmlns:p14="http://schemas.microsoft.com/office/powerpoint/2010/main" val="713018970"/>
              </p:ext>
            </p:extLst>
          </p:nvPr>
        </p:nvGraphicFramePr>
        <p:xfrm>
          <a:off x="905013" y="3790164"/>
          <a:ext cx="10381973" cy="2468880"/>
        </p:xfrm>
        <a:graphic>
          <a:graphicData uri="http://schemas.openxmlformats.org/drawingml/2006/table">
            <a:tbl>
              <a:tblPr firstRow="1" bandRow="1">
                <a:tableStyleId>{5C22544A-7EE6-4342-B048-85BDC9FD1C3A}</a:tableStyleId>
              </a:tblPr>
              <a:tblGrid>
                <a:gridCol w="1453321">
                  <a:extLst>
                    <a:ext uri="{9D8B030D-6E8A-4147-A177-3AD203B41FA5}">
                      <a16:colId xmlns:a16="http://schemas.microsoft.com/office/drawing/2014/main" val="1211358433"/>
                    </a:ext>
                  </a:extLst>
                </a:gridCol>
                <a:gridCol w="4555365">
                  <a:extLst>
                    <a:ext uri="{9D8B030D-6E8A-4147-A177-3AD203B41FA5}">
                      <a16:colId xmlns:a16="http://schemas.microsoft.com/office/drawing/2014/main" val="4038191690"/>
                    </a:ext>
                  </a:extLst>
                </a:gridCol>
                <a:gridCol w="4373287">
                  <a:extLst>
                    <a:ext uri="{9D8B030D-6E8A-4147-A177-3AD203B41FA5}">
                      <a16:colId xmlns:a16="http://schemas.microsoft.com/office/drawing/2014/main" val="3690498247"/>
                    </a:ext>
                  </a:extLst>
                </a:gridCol>
              </a:tblGrid>
              <a:tr h="224552">
                <a:tc>
                  <a:txBody>
                    <a:bodyPr/>
                    <a:lstStyle/>
                    <a:p>
                      <a:r>
                        <a:rPr kumimoji="1" lang="ja-JP" altLang="en-US" sz="1200" dirty="0"/>
                        <a:t>項目</a:t>
                      </a:r>
                    </a:p>
                  </a:txBody>
                  <a:tcPr/>
                </a:tc>
                <a:tc>
                  <a:txBody>
                    <a:bodyPr/>
                    <a:lstStyle/>
                    <a:p>
                      <a:r>
                        <a:rPr kumimoji="1" lang="ja-JP" altLang="en-US" sz="1200" dirty="0"/>
                        <a:t>内容</a:t>
                      </a:r>
                    </a:p>
                  </a:txBody>
                  <a:tcPr/>
                </a:tc>
                <a:tc>
                  <a:txBody>
                    <a:bodyPr/>
                    <a:lstStyle/>
                    <a:p>
                      <a:r>
                        <a:rPr kumimoji="1" lang="ja-JP" altLang="en-US" sz="1200" dirty="0"/>
                        <a:t>根拠・ページ・記述</a:t>
                      </a:r>
                      <a:endParaRPr kumimoji="1" lang="en-US" altLang="ja-JP" sz="1200" dirty="0"/>
                    </a:p>
                  </a:txBody>
                  <a:tcPr/>
                </a:tc>
                <a:extLst>
                  <a:ext uri="{0D108BD9-81ED-4DB2-BD59-A6C34878D82A}">
                    <a16:rowId xmlns:a16="http://schemas.microsoft.com/office/drawing/2014/main" val="418368254"/>
                  </a:ext>
                </a:extLst>
              </a:tr>
              <a:tr h="210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通信先の</a:t>
                      </a:r>
                      <a:r>
                        <a:rPr kumimoji="1" lang="en-US" altLang="ja-JP" sz="1200" dirty="0"/>
                        <a:t>Adapter</a:t>
                      </a:r>
                      <a:r>
                        <a:rPr kumimoji="1" lang="ja-JP" altLang="en-US" sz="1200" dirty="0"/>
                        <a:t>設定</a:t>
                      </a:r>
                    </a:p>
                  </a:txBody>
                  <a:tcPr/>
                </a:tc>
                <a:tc>
                  <a:txBody>
                    <a:bodyPr/>
                    <a:lstStyle/>
                    <a:p>
                      <a:r>
                        <a:rPr kumimoji="1" lang="en-US" altLang="ja-JP" sz="1200" dirty="0"/>
                        <a:t>PLC</a:t>
                      </a:r>
                      <a:r>
                        <a:rPr kumimoji="1" lang="ja-JP" altLang="en-US" sz="1200" dirty="0"/>
                        <a:t>が</a:t>
                      </a:r>
                      <a:r>
                        <a:rPr kumimoji="1" lang="en-US" altLang="ja-JP" sz="1200" dirty="0"/>
                        <a:t>Scanner</a:t>
                      </a:r>
                      <a:r>
                        <a:rPr kumimoji="1" lang="ja-JP" altLang="en-US" sz="1200" dirty="0"/>
                        <a:t>となるため、</a:t>
                      </a:r>
                      <a:r>
                        <a:rPr kumimoji="1" lang="en-US" altLang="ja-JP" sz="1200" dirty="0"/>
                        <a:t>PI</a:t>
                      </a:r>
                      <a:r>
                        <a:rPr kumimoji="1" lang="ja-JP" altLang="en-US" sz="1200" dirty="0"/>
                        <a:t> </a:t>
                      </a:r>
                      <a:r>
                        <a:rPr kumimoji="1" lang="en-US" altLang="ja-JP" sz="1200" dirty="0"/>
                        <a:t>Connector</a:t>
                      </a:r>
                      <a:r>
                        <a:rPr kumimoji="1" lang="ja-JP" altLang="en-US" sz="1200" dirty="0"/>
                        <a:t>の</a:t>
                      </a:r>
                      <a:r>
                        <a:rPr kumimoji="1" lang="en-US" altLang="ja-JP" sz="1200" dirty="0"/>
                        <a:t>IP</a:t>
                      </a:r>
                      <a:r>
                        <a:rPr kumimoji="1" lang="ja-JP" altLang="en-US" sz="1200" dirty="0"/>
                        <a:t>アドレスまたはホスト名を通信先</a:t>
                      </a:r>
                      <a:r>
                        <a:rPr kumimoji="1" lang="en-US" altLang="ja-JP" sz="1200" dirty="0"/>
                        <a:t>Adapter</a:t>
                      </a:r>
                      <a:r>
                        <a:rPr kumimoji="1" lang="ja-JP" altLang="en-US" sz="1200" dirty="0"/>
                        <a:t>として設定する</a:t>
                      </a:r>
                    </a:p>
                  </a:txBody>
                  <a:tcPr/>
                </a:tc>
                <a:tc>
                  <a:txBody>
                    <a:bodyPr/>
                    <a:lstStyle/>
                    <a:p>
                      <a:r>
                        <a:rPr kumimoji="1" lang="en-US" altLang="ja-JP" sz="1200" dirty="0"/>
                        <a:t>P.21 PI Connector for </a:t>
                      </a:r>
                      <a:r>
                        <a:rPr kumimoji="1" lang="en-US" altLang="ja-JP" sz="1200" dirty="0" err="1"/>
                        <a:t>EtherNet</a:t>
                      </a:r>
                      <a:r>
                        <a:rPr kumimoji="1" lang="en-US" altLang="ja-JP" sz="1200" dirty="0"/>
                        <a:t>/IP acts as an adapter and accepts connections from scanners to</a:t>
                      </a:r>
                    </a:p>
                    <a:p>
                      <a:r>
                        <a:rPr kumimoji="1" lang="en-US" altLang="ja-JP" sz="1200" dirty="0"/>
                        <a:t>process explicit and implicit messages. To establish communications over an </a:t>
                      </a:r>
                      <a:r>
                        <a:rPr kumimoji="1" lang="en-US" altLang="ja-JP" sz="1200" dirty="0" err="1"/>
                        <a:t>EtherNet</a:t>
                      </a:r>
                      <a:r>
                        <a:rPr kumimoji="1" lang="en-US" altLang="ja-JP" sz="1200" dirty="0"/>
                        <a:t>/IP</a:t>
                      </a:r>
                    </a:p>
                    <a:p>
                      <a:r>
                        <a:rPr kumimoji="1" lang="en-US" altLang="ja-JP" sz="1200" dirty="0"/>
                        <a:t>network, configure the </a:t>
                      </a:r>
                      <a:r>
                        <a:rPr kumimoji="1" lang="en-US" altLang="ja-JP" sz="1200" dirty="0" err="1"/>
                        <a:t>EtherNet</a:t>
                      </a:r>
                      <a:r>
                        <a:rPr kumimoji="1" lang="en-US" altLang="ja-JP" sz="1200" dirty="0"/>
                        <a:t>/IP compliant device so that it can establish communication</a:t>
                      </a:r>
                    </a:p>
                    <a:p>
                      <a:r>
                        <a:rPr kumimoji="1" lang="en-US" altLang="ja-JP" sz="1200" dirty="0"/>
                        <a:t>with the connector according to the </a:t>
                      </a:r>
                      <a:r>
                        <a:rPr kumimoji="1" lang="en-US" altLang="ja-JP" sz="1200" dirty="0" err="1"/>
                        <a:t>manufactuers</a:t>
                      </a:r>
                      <a:r>
                        <a:rPr kumimoji="1" lang="en-US" altLang="ja-JP" sz="1200" dirty="0"/>
                        <a:t> guidance.</a:t>
                      </a:r>
                      <a:endParaRPr kumimoji="1" lang="ja-JP" altLang="en-US" sz="1200" dirty="0"/>
                    </a:p>
                  </a:txBody>
                  <a:tcPr/>
                </a:tc>
                <a:extLst>
                  <a:ext uri="{0D108BD9-81ED-4DB2-BD59-A6C34878D82A}">
                    <a16:rowId xmlns:a16="http://schemas.microsoft.com/office/drawing/2014/main" val="2305110777"/>
                  </a:ext>
                </a:extLst>
              </a:tr>
              <a:tr h="210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Assembly</a:t>
                      </a:r>
                      <a:r>
                        <a:rPr kumimoji="1" lang="ja-JP" altLang="en-US" sz="1200" dirty="0"/>
                        <a:t>番号</a:t>
                      </a:r>
                    </a:p>
                  </a:txBody>
                  <a:tcPr/>
                </a:tc>
                <a:tc>
                  <a:txBody>
                    <a:bodyPr/>
                    <a:lstStyle/>
                    <a:p>
                      <a:r>
                        <a:rPr kumimoji="1" lang="ja-JP" altLang="en-US" sz="1200" dirty="0"/>
                        <a:t>予め双方で定めた</a:t>
                      </a:r>
                      <a:r>
                        <a:rPr kumimoji="1" lang="en-US" altLang="ja-JP" sz="1200" dirty="0"/>
                        <a:t>Output</a:t>
                      </a:r>
                      <a:r>
                        <a:rPr kumimoji="1" lang="ja-JP" altLang="en-US" sz="1200" dirty="0"/>
                        <a:t> </a:t>
                      </a:r>
                      <a:r>
                        <a:rPr kumimoji="1" lang="en-US" altLang="ja-JP" sz="1200" dirty="0"/>
                        <a:t>Assembly</a:t>
                      </a:r>
                      <a:r>
                        <a:rPr kumimoji="1" lang="ja-JP" altLang="en-US" sz="1200" dirty="0"/>
                        <a:t>番号を</a:t>
                      </a:r>
                      <a:r>
                        <a:rPr kumimoji="1" lang="en-US" altLang="ja-JP" sz="1200" dirty="0"/>
                        <a:t>PLC</a:t>
                      </a:r>
                      <a:r>
                        <a:rPr kumimoji="1" lang="ja-JP" altLang="en-US" sz="1200" dirty="0"/>
                        <a:t>に設定する</a:t>
                      </a:r>
                      <a:endParaRPr kumimoji="1" lang="en-US" altLang="ja-JP" sz="1200" dirty="0"/>
                    </a:p>
                    <a:p>
                      <a:r>
                        <a:rPr kumimoji="1" lang="en-US" altLang="ja-JP" sz="1200" dirty="0"/>
                        <a:t>※PLC</a:t>
                      </a:r>
                      <a:r>
                        <a:rPr kumimoji="1" lang="ja-JP" altLang="en-US" sz="1200" dirty="0"/>
                        <a:t>の</a:t>
                      </a:r>
                      <a:r>
                        <a:rPr kumimoji="1" lang="en-US" altLang="ja-JP" sz="1200" dirty="0"/>
                        <a:t>Output Assembly</a:t>
                      </a:r>
                      <a:r>
                        <a:rPr kumimoji="1" lang="ja-JP" altLang="en-US" sz="1200" dirty="0"/>
                        <a:t>番号と本</a:t>
                      </a:r>
                      <a:r>
                        <a:rPr kumimoji="1" lang="en-US" altLang="ja-JP" sz="1200" dirty="0"/>
                        <a:t>Connector</a:t>
                      </a:r>
                      <a:r>
                        <a:rPr kumimoji="1" lang="ja-JP" altLang="en-US" sz="1200" dirty="0"/>
                        <a:t>の</a:t>
                      </a:r>
                      <a:r>
                        <a:rPr kumimoji="1" lang="en-US" altLang="ja-JP" sz="1200" dirty="0"/>
                        <a:t>Input Assembly</a:t>
                      </a:r>
                      <a:r>
                        <a:rPr kumimoji="1" lang="ja-JP" altLang="en-US" sz="1200" dirty="0"/>
                        <a:t>番号</a:t>
                      </a:r>
                      <a:r>
                        <a:rPr kumimoji="1" lang="en-US" altLang="ja-JP" sz="1200" dirty="0"/>
                        <a:t>(Input ID)</a:t>
                      </a:r>
                      <a:r>
                        <a:rPr kumimoji="1" lang="ja-JP" altLang="en-US" sz="1200" dirty="0"/>
                        <a:t>が一致している必要がある</a:t>
                      </a:r>
                    </a:p>
                  </a:txBody>
                  <a:tcPr/>
                </a:tc>
                <a:tc>
                  <a:txBody>
                    <a:bodyPr/>
                    <a:lstStyle/>
                    <a:p>
                      <a:r>
                        <a:rPr kumimoji="1" lang="en-US" altLang="ja-JP" sz="1200" dirty="0"/>
                        <a:t>P.23 </a:t>
                      </a:r>
                    </a:p>
                    <a:p>
                      <a:r>
                        <a:rPr kumimoji="1" lang="en-US" altLang="ja-JP" sz="1200" dirty="0"/>
                        <a:t>Input ID</a:t>
                      </a:r>
                    </a:p>
                    <a:p>
                      <a:r>
                        <a:rPr kumimoji="1" lang="en-US" altLang="ja-JP" sz="1200" dirty="0"/>
                        <a:t>Required: The input ID of the assembly entry.</a:t>
                      </a:r>
                    </a:p>
                  </a:txBody>
                  <a:tcPr/>
                </a:tc>
                <a:extLst>
                  <a:ext uri="{0D108BD9-81ED-4DB2-BD59-A6C34878D82A}">
                    <a16:rowId xmlns:a16="http://schemas.microsoft.com/office/drawing/2014/main" val="3862076608"/>
                  </a:ext>
                </a:extLst>
              </a:tr>
            </a:tbl>
          </a:graphicData>
        </a:graphic>
      </p:graphicFrame>
      <p:sp>
        <p:nvSpPr>
          <p:cNvPr id="12" name="スライド番号プレースホルダー 11">
            <a:extLst>
              <a:ext uri="{FF2B5EF4-FFF2-40B4-BE49-F238E27FC236}">
                <a16:creationId xmlns:a16="http://schemas.microsoft.com/office/drawing/2014/main" id="{66DF0456-256F-B593-4003-14474CC1BC92}"/>
              </a:ext>
            </a:extLst>
          </p:cNvPr>
          <p:cNvSpPr>
            <a:spLocks noGrp="1"/>
          </p:cNvSpPr>
          <p:nvPr>
            <p:ph type="sldNum" sz="quarter" idx="12"/>
          </p:nvPr>
        </p:nvSpPr>
        <p:spPr/>
        <p:txBody>
          <a:bodyPr/>
          <a:lstStyle/>
          <a:p>
            <a:fld id="{1EA322B9-08FF-4B54-ADFF-20A0A916893B}" type="slidenum">
              <a:rPr kumimoji="1" lang="ja-JP" altLang="en-US" smtClean="0"/>
              <a:t>5</a:t>
            </a:fld>
            <a:endParaRPr kumimoji="1" lang="ja-JP" altLang="en-US"/>
          </a:p>
        </p:txBody>
      </p:sp>
    </p:spTree>
    <p:extLst>
      <p:ext uri="{BB962C8B-B14F-4D97-AF65-F5344CB8AC3E}">
        <p14:creationId xmlns:p14="http://schemas.microsoft.com/office/powerpoint/2010/main" val="257848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C55A9-4161-5C70-12BF-A0FFC931C95C}"/>
            </a:ext>
          </a:extLst>
        </p:cNvPr>
        <p:cNvGrpSpPr/>
        <p:nvPr/>
      </p:nvGrpSpPr>
      <p:grpSpPr>
        <a:xfrm>
          <a:off x="0" y="0"/>
          <a:ext cx="0" cy="0"/>
          <a:chOff x="0" y="0"/>
          <a:chExt cx="0" cy="0"/>
        </a:xfrm>
      </p:grpSpPr>
      <p:sp>
        <p:nvSpPr>
          <p:cNvPr id="4" name="コンテンツ プレースホルダー 2">
            <a:extLst>
              <a:ext uri="{FF2B5EF4-FFF2-40B4-BE49-F238E27FC236}">
                <a16:creationId xmlns:a16="http://schemas.microsoft.com/office/drawing/2014/main" id="{F7F8B02D-E764-7DF0-CDCF-5AFC981BFB20}"/>
              </a:ext>
            </a:extLst>
          </p:cNvPr>
          <p:cNvSpPr>
            <a:spLocks noGrp="1"/>
          </p:cNvSpPr>
          <p:nvPr>
            <p:ph idx="1"/>
          </p:nvPr>
        </p:nvSpPr>
        <p:spPr>
          <a:xfrm>
            <a:off x="838200" y="1006120"/>
            <a:ext cx="10515600" cy="276999"/>
          </a:xfrm>
        </p:spPr>
        <p:txBody>
          <a:bodyPr>
            <a:normAutofit fontScale="92500" lnSpcReduction="20000"/>
          </a:bodyPr>
          <a:lstStyle/>
          <a:p>
            <a:r>
              <a:rPr lang="en-US" altLang="ja-JP" sz="1600" dirty="0"/>
              <a:t>PLC</a:t>
            </a:r>
            <a:r>
              <a:rPr lang="ja-JP" altLang="en-US" sz="1600" dirty="0"/>
              <a:t>側の受領するべき情報</a:t>
            </a:r>
            <a:endParaRPr lang="en-US" altLang="ja-JP" sz="1600" dirty="0"/>
          </a:p>
        </p:txBody>
      </p:sp>
      <p:graphicFrame>
        <p:nvGraphicFramePr>
          <p:cNvPr id="5" name="表 4">
            <a:extLst>
              <a:ext uri="{FF2B5EF4-FFF2-40B4-BE49-F238E27FC236}">
                <a16:creationId xmlns:a16="http://schemas.microsoft.com/office/drawing/2014/main" id="{B07FBE29-0449-3659-32B5-8628C74174D1}"/>
              </a:ext>
            </a:extLst>
          </p:cNvPr>
          <p:cNvGraphicFramePr>
            <a:graphicFrameLocks noGrp="1"/>
          </p:cNvGraphicFramePr>
          <p:nvPr>
            <p:extLst>
              <p:ext uri="{D42A27DB-BD31-4B8C-83A1-F6EECF244321}">
                <p14:modId xmlns:p14="http://schemas.microsoft.com/office/powerpoint/2010/main" val="317392236"/>
              </p:ext>
            </p:extLst>
          </p:nvPr>
        </p:nvGraphicFramePr>
        <p:xfrm>
          <a:off x="971827" y="1274800"/>
          <a:ext cx="10381973" cy="2743200"/>
        </p:xfrm>
        <a:graphic>
          <a:graphicData uri="http://schemas.openxmlformats.org/drawingml/2006/table">
            <a:tbl>
              <a:tblPr firstRow="1" bandRow="1">
                <a:tableStyleId>{5C22544A-7EE6-4342-B048-85BDC9FD1C3A}</a:tableStyleId>
              </a:tblPr>
              <a:tblGrid>
                <a:gridCol w="1453321">
                  <a:extLst>
                    <a:ext uri="{9D8B030D-6E8A-4147-A177-3AD203B41FA5}">
                      <a16:colId xmlns:a16="http://schemas.microsoft.com/office/drawing/2014/main" val="1211358433"/>
                    </a:ext>
                  </a:extLst>
                </a:gridCol>
                <a:gridCol w="4555365">
                  <a:extLst>
                    <a:ext uri="{9D8B030D-6E8A-4147-A177-3AD203B41FA5}">
                      <a16:colId xmlns:a16="http://schemas.microsoft.com/office/drawing/2014/main" val="4038191690"/>
                    </a:ext>
                  </a:extLst>
                </a:gridCol>
                <a:gridCol w="4373287">
                  <a:extLst>
                    <a:ext uri="{9D8B030D-6E8A-4147-A177-3AD203B41FA5}">
                      <a16:colId xmlns:a16="http://schemas.microsoft.com/office/drawing/2014/main" val="3690498247"/>
                    </a:ext>
                  </a:extLst>
                </a:gridCol>
              </a:tblGrid>
              <a:tr h="224552">
                <a:tc>
                  <a:txBody>
                    <a:bodyPr/>
                    <a:lstStyle/>
                    <a:p>
                      <a:r>
                        <a:rPr kumimoji="1" lang="ja-JP" altLang="en-US" sz="1200" dirty="0"/>
                        <a:t>項目</a:t>
                      </a:r>
                    </a:p>
                  </a:txBody>
                  <a:tcPr/>
                </a:tc>
                <a:tc>
                  <a:txBody>
                    <a:bodyPr/>
                    <a:lstStyle/>
                    <a:p>
                      <a:r>
                        <a:rPr kumimoji="1" lang="ja-JP" altLang="en-US" sz="1200" dirty="0"/>
                        <a:t>内容</a:t>
                      </a:r>
                    </a:p>
                  </a:txBody>
                  <a:tcPr/>
                </a:tc>
                <a:tc>
                  <a:txBody>
                    <a:bodyPr/>
                    <a:lstStyle/>
                    <a:p>
                      <a:r>
                        <a:rPr kumimoji="1" lang="ja-JP" altLang="en-US" sz="1200" dirty="0"/>
                        <a:t>根拠・ページ・記述</a:t>
                      </a:r>
                      <a:endParaRPr kumimoji="1" lang="en-US" altLang="ja-JP" sz="1200" dirty="0"/>
                    </a:p>
                  </a:txBody>
                  <a:tcPr/>
                </a:tc>
                <a:extLst>
                  <a:ext uri="{0D108BD9-81ED-4DB2-BD59-A6C34878D82A}">
                    <a16:rowId xmlns:a16="http://schemas.microsoft.com/office/drawing/2014/main" val="418368254"/>
                  </a:ext>
                </a:extLst>
              </a:tr>
              <a:tr h="210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PLC</a:t>
                      </a:r>
                      <a:r>
                        <a:rPr kumimoji="1" lang="ja-JP" altLang="en-US" sz="1200" dirty="0"/>
                        <a:t>モデル詳細</a:t>
                      </a:r>
                    </a:p>
                  </a:txBody>
                  <a:tcPr/>
                </a:tc>
                <a:tc>
                  <a:txBody>
                    <a:bodyPr/>
                    <a:lstStyle/>
                    <a:p>
                      <a:r>
                        <a:rPr kumimoji="1" lang="en-US" altLang="ja-JP" sz="1200" dirty="0"/>
                        <a:t>PLC</a:t>
                      </a:r>
                      <a:r>
                        <a:rPr kumimoji="1" lang="ja-JP" altLang="en-US" sz="1200" dirty="0"/>
                        <a:t>製造メーカー、型番、追加されているユニット（あれば）</a:t>
                      </a:r>
                    </a:p>
                  </a:txBody>
                  <a:tcPr/>
                </a:tc>
                <a:tc>
                  <a:txBody>
                    <a:bodyPr/>
                    <a:lstStyle/>
                    <a:p>
                      <a:r>
                        <a:rPr kumimoji="1" lang="en-US" altLang="ja-JP" sz="1200" dirty="0"/>
                        <a:t>-</a:t>
                      </a:r>
                      <a:endParaRPr kumimoji="1" lang="ja-JP" altLang="en-US" sz="1200" dirty="0"/>
                    </a:p>
                  </a:txBody>
                  <a:tcPr/>
                </a:tc>
                <a:extLst>
                  <a:ext uri="{0D108BD9-81ED-4DB2-BD59-A6C34878D82A}">
                    <a16:rowId xmlns:a16="http://schemas.microsoft.com/office/drawing/2014/main" val="4131416957"/>
                  </a:ext>
                </a:extLst>
              </a:tr>
              <a:tr h="210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通信先の</a:t>
                      </a:r>
                      <a:r>
                        <a:rPr kumimoji="1" lang="en-US" altLang="ja-JP" sz="1200" dirty="0"/>
                        <a:t>PLC</a:t>
                      </a:r>
                      <a:r>
                        <a:rPr kumimoji="1" lang="ja-JP" altLang="en-US" sz="1200" dirty="0"/>
                        <a:t>設定</a:t>
                      </a:r>
                    </a:p>
                  </a:txBody>
                  <a:tcPr/>
                </a:tc>
                <a:tc>
                  <a:txBody>
                    <a:bodyPr/>
                    <a:lstStyle/>
                    <a:p>
                      <a:r>
                        <a:rPr kumimoji="1" lang="ja-JP" altLang="en-US" sz="1200" dirty="0"/>
                        <a:t>対象となる</a:t>
                      </a:r>
                      <a:r>
                        <a:rPr kumimoji="1" lang="en-US" altLang="ja-JP" sz="1200" dirty="0"/>
                        <a:t>PLC</a:t>
                      </a:r>
                      <a:r>
                        <a:rPr kumimoji="1" lang="ja-JP" altLang="en-US" sz="1200" dirty="0"/>
                        <a:t>の</a:t>
                      </a:r>
                      <a:r>
                        <a:rPr kumimoji="1" lang="en-US" altLang="ja-JP" sz="1200" dirty="0"/>
                        <a:t>IP</a:t>
                      </a:r>
                      <a:r>
                        <a:rPr kumimoji="1" lang="ja-JP" altLang="en-US" sz="1200" dirty="0"/>
                        <a:t>アドレスまたはホスト名</a:t>
                      </a:r>
                      <a:endParaRPr kumimoji="1" lang="en-US" altLang="ja-JP" sz="1200" dirty="0"/>
                    </a:p>
                  </a:txBody>
                  <a:tcPr/>
                </a:tc>
                <a:tc>
                  <a:txBody>
                    <a:bodyPr/>
                    <a:lstStyle/>
                    <a:p>
                      <a:r>
                        <a:rPr kumimoji="1" lang="ja-JP" altLang="en-US" sz="1200" dirty="0"/>
                        <a:t>事前の導通確認用にあれば尚可</a:t>
                      </a:r>
                    </a:p>
                  </a:txBody>
                  <a:tcPr/>
                </a:tc>
                <a:extLst>
                  <a:ext uri="{0D108BD9-81ED-4DB2-BD59-A6C34878D82A}">
                    <a16:rowId xmlns:a16="http://schemas.microsoft.com/office/drawing/2014/main" val="1675162399"/>
                  </a:ext>
                </a:extLst>
              </a:tr>
              <a:tr h="210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Assembly</a:t>
                      </a:r>
                      <a:r>
                        <a:rPr kumimoji="1" lang="ja-JP" altLang="en-US" sz="1200" dirty="0"/>
                        <a:t>定義</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及びデータサイズ</a:t>
                      </a:r>
                    </a:p>
                  </a:txBody>
                  <a:tcPr/>
                </a:tc>
                <a:tc>
                  <a:txBody>
                    <a:bodyPr/>
                    <a:lstStyle/>
                    <a:p>
                      <a:r>
                        <a:rPr kumimoji="1" lang="en-US" altLang="ja-JP" sz="1200" dirty="0"/>
                        <a:t>Output Assembly</a:t>
                      </a:r>
                      <a:r>
                        <a:rPr kumimoji="1" lang="ja-JP" altLang="en-US" sz="1200" dirty="0"/>
                        <a:t>のデータ配列の要素定義および型（サイズ）</a:t>
                      </a:r>
                      <a:endParaRPr kumimoji="1" lang="en-US" altLang="ja-JP" sz="1200" dirty="0"/>
                    </a:p>
                    <a:p>
                      <a:r>
                        <a:rPr kumimoji="1" lang="ja-JP" altLang="en-US" sz="1200" dirty="0"/>
                        <a:t>サポートされている型</a:t>
                      </a:r>
                      <a:r>
                        <a:rPr kumimoji="1" lang="en-US" altLang="ja-JP" sz="1200" dirty="0"/>
                        <a:t>:</a:t>
                      </a:r>
                      <a:r>
                        <a:rPr kumimoji="1" lang="ja-JP" altLang="en-US" sz="1200" dirty="0"/>
                        <a:t> </a:t>
                      </a:r>
                      <a:r>
                        <a:rPr kumimoji="1" lang="en-US" altLang="ja-JP" sz="1200" dirty="0"/>
                        <a:t>DINT: 32-bit integer, INT: 16-bit integer, FLOAT: 32-bit floating point, SINT: 8-bit integer</a:t>
                      </a:r>
                    </a:p>
                  </a:txBody>
                  <a:tcPr/>
                </a:tc>
                <a:tc>
                  <a:txBody>
                    <a:bodyPr/>
                    <a:lstStyle/>
                    <a:p>
                      <a:r>
                        <a:rPr kumimoji="1" lang="en-US" altLang="ja-JP" sz="1200" dirty="0"/>
                        <a:t>P.3</a:t>
                      </a:r>
                      <a:r>
                        <a:rPr kumimoji="1" lang="ja-JP" altLang="en-US" sz="1200" dirty="0"/>
                        <a:t> </a:t>
                      </a:r>
                      <a:r>
                        <a:rPr kumimoji="1" lang="en-US" altLang="ja-JP" sz="1200" dirty="0"/>
                        <a:t>Each assembly sends data from the PLC as an array of elements of certain types, such as 32-bit integer (DINT). Every element has an offset in the array, where Slot 0 is first element of the array, Slot 1 is the second element, Slot 2 is third element, and so</a:t>
                      </a:r>
                      <a:r>
                        <a:rPr kumimoji="1" lang="ja-JP" altLang="en-US" sz="1200" dirty="0"/>
                        <a:t> </a:t>
                      </a:r>
                      <a:r>
                        <a:rPr kumimoji="1" lang="en-US" altLang="ja-JP" sz="1200" dirty="0"/>
                        <a:t>on.</a:t>
                      </a:r>
                    </a:p>
                    <a:p>
                      <a:r>
                        <a:rPr kumimoji="1" lang="en-US" altLang="ja-JP" sz="1200" dirty="0"/>
                        <a:t>P.24 The connector supports the following data types:</a:t>
                      </a:r>
                    </a:p>
                    <a:p>
                      <a:r>
                        <a:rPr kumimoji="1" lang="en-US" altLang="ja-JP" sz="1200" dirty="0"/>
                        <a:t>▪ DINT: 32-bit integer</a:t>
                      </a:r>
                    </a:p>
                    <a:p>
                      <a:r>
                        <a:rPr kumimoji="1" lang="en-US" altLang="ja-JP" sz="1200" dirty="0"/>
                        <a:t>▪ INT: 16-bit integer</a:t>
                      </a:r>
                    </a:p>
                    <a:p>
                      <a:r>
                        <a:rPr kumimoji="1" lang="en-US" altLang="ja-JP" sz="1200" dirty="0"/>
                        <a:t>▪ FLOAT: 32-bit floating point</a:t>
                      </a:r>
                    </a:p>
                    <a:p>
                      <a:r>
                        <a:rPr kumimoji="1" lang="en-US" altLang="ja-JP" sz="1200" dirty="0"/>
                        <a:t>▪ SINT: 8-bit integer</a:t>
                      </a:r>
                      <a:endParaRPr kumimoji="1" lang="ja-JP" altLang="en-US" sz="1200" dirty="0"/>
                    </a:p>
                  </a:txBody>
                  <a:tcPr/>
                </a:tc>
                <a:extLst>
                  <a:ext uri="{0D108BD9-81ED-4DB2-BD59-A6C34878D82A}">
                    <a16:rowId xmlns:a16="http://schemas.microsoft.com/office/drawing/2014/main" val="3036631503"/>
                  </a:ext>
                </a:extLst>
              </a:tr>
            </a:tbl>
          </a:graphicData>
        </a:graphic>
      </p:graphicFrame>
      <p:sp>
        <p:nvSpPr>
          <p:cNvPr id="2" name="タイトル 1">
            <a:extLst>
              <a:ext uri="{FF2B5EF4-FFF2-40B4-BE49-F238E27FC236}">
                <a16:creationId xmlns:a16="http://schemas.microsoft.com/office/drawing/2014/main" id="{BAF82FEB-D553-93FE-2D0D-CFD148442B43}"/>
              </a:ext>
            </a:extLst>
          </p:cNvPr>
          <p:cNvSpPr>
            <a:spLocks noGrp="1"/>
          </p:cNvSpPr>
          <p:nvPr>
            <p:ph type="title"/>
          </p:nvPr>
        </p:nvSpPr>
        <p:spPr>
          <a:xfrm>
            <a:off x="838200" y="365125"/>
            <a:ext cx="10515600" cy="459823"/>
          </a:xfrm>
        </p:spPr>
        <p:txBody>
          <a:bodyPr>
            <a:normAutofit/>
          </a:bodyPr>
          <a:lstStyle/>
          <a:p>
            <a:r>
              <a:rPr kumimoji="1" lang="en-US" altLang="ja-JP" sz="2200" dirty="0"/>
              <a:t>PI Connector for Ethernet IP</a:t>
            </a:r>
            <a:endParaRPr kumimoji="1" lang="ja-JP" altLang="en-US" sz="2200" dirty="0"/>
          </a:p>
        </p:txBody>
      </p:sp>
      <p:sp>
        <p:nvSpPr>
          <p:cNvPr id="3" name="テキスト ボックス 2">
            <a:extLst>
              <a:ext uri="{FF2B5EF4-FFF2-40B4-BE49-F238E27FC236}">
                <a16:creationId xmlns:a16="http://schemas.microsoft.com/office/drawing/2014/main" id="{0F4FF672-2BE8-930F-3771-86D9A1FBAEEB}"/>
              </a:ext>
            </a:extLst>
          </p:cNvPr>
          <p:cNvSpPr txBox="1"/>
          <p:nvPr/>
        </p:nvSpPr>
        <p:spPr>
          <a:xfrm>
            <a:off x="7114089" y="1048881"/>
            <a:ext cx="5647911" cy="276999"/>
          </a:xfrm>
          <a:prstGeom prst="rect">
            <a:avLst/>
          </a:prstGeom>
          <a:noFill/>
        </p:spPr>
        <p:txBody>
          <a:bodyPr wrap="square">
            <a:spAutoFit/>
          </a:bodyPr>
          <a:lstStyle/>
          <a:p>
            <a:r>
              <a:rPr lang="ja-JP" altLang="en-US" sz="1200" dirty="0"/>
              <a:t>参照</a:t>
            </a:r>
            <a:r>
              <a:rPr lang="en-US" altLang="ja-JP" sz="1200" dirty="0"/>
              <a:t>: PI-Connector-for-EtherNet-IP-1.1.0-User-Guide.pdf</a:t>
            </a:r>
            <a:endParaRPr lang="ja-JP" altLang="en-US" sz="1200" dirty="0"/>
          </a:p>
        </p:txBody>
      </p:sp>
      <p:sp>
        <p:nvSpPr>
          <p:cNvPr id="10" name="スライド番号プレースホルダー 9">
            <a:extLst>
              <a:ext uri="{FF2B5EF4-FFF2-40B4-BE49-F238E27FC236}">
                <a16:creationId xmlns:a16="http://schemas.microsoft.com/office/drawing/2014/main" id="{8D8283C9-54E6-F788-DA72-971F4FEC8A4C}"/>
              </a:ext>
            </a:extLst>
          </p:cNvPr>
          <p:cNvSpPr>
            <a:spLocks noGrp="1"/>
          </p:cNvSpPr>
          <p:nvPr>
            <p:ph type="sldNum" sz="quarter" idx="12"/>
          </p:nvPr>
        </p:nvSpPr>
        <p:spPr/>
        <p:txBody>
          <a:bodyPr/>
          <a:lstStyle/>
          <a:p>
            <a:fld id="{1EA322B9-08FF-4B54-ADFF-20A0A916893B}" type="slidenum">
              <a:rPr kumimoji="1" lang="ja-JP" altLang="en-US" smtClean="0"/>
              <a:t>6</a:t>
            </a:fld>
            <a:endParaRPr kumimoji="1" lang="ja-JP" altLang="en-US"/>
          </a:p>
        </p:txBody>
      </p:sp>
    </p:spTree>
    <p:extLst>
      <p:ext uri="{BB962C8B-B14F-4D97-AF65-F5344CB8AC3E}">
        <p14:creationId xmlns:p14="http://schemas.microsoft.com/office/powerpoint/2010/main" val="288302669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c697d59-f030-41cb-b3eb-430a35d88d3e">
      <Terms xmlns="http://schemas.microsoft.com/office/infopath/2007/PartnerControls"/>
    </lcf76f155ced4ddcb4097134ff3c332f>
    <TaxCatchAll xmlns="1850b159-f885-49b4-8fe6-fe208bed09b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776B514DE0FF8E44A3817F14DB32B849" ma:contentTypeVersion="16" ma:contentTypeDescription="新しいドキュメントを作成します。" ma:contentTypeScope="" ma:versionID="8f2693e9561c9b575ade057269b7ed58">
  <xsd:schema xmlns:xsd="http://www.w3.org/2001/XMLSchema" xmlns:xs="http://www.w3.org/2001/XMLSchema" xmlns:p="http://schemas.microsoft.com/office/2006/metadata/properties" xmlns:ns2="7c697d59-f030-41cb-b3eb-430a35d88d3e" xmlns:ns3="1850b159-f885-49b4-8fe6-fe208bed09bc" targetNamespace="http://schemas.microsoft.com/office/2006/metadata/properties" ma:root="true" ma:fieldsID="8aab619c9cf4276adae0ac55e28e0048" ns2:_="" ns3:_="">
    <xsd:import namespace="7c697d59-f030-41cb-b3eb-430a35d88d3e"/>
    <xsd:import namespace="1850b159-f885-49b4-8fe6-fe208bed09b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697d59-f030-41cb-b3eb-430a35d88d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画像タグ" ma:readOnly="false" ma:fieldId="{5cf76f15-5ced-4ddc-b409-7134ff3c332f}" ma:taxonomyMulti="true" ma:sspId="cdff059a-9c11-458b-a3ad-d8b85f671f4d"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850b159-f885-49b4-8fe6-fe208bed09bc"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element name="TaxCatchAll" ma:index="16" nillable="true" ma:displayName="Taxonomy Catch All Column" ma:hidden="true" ma:list="{3b3cd2fe-f869-426f-9623-3a797b097159}" ma:internalName="TaxCatchAll" ma:showField="CatchAllData" ma:web="1850b159-f885-49b4-8fe6-fe208bed09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A5B736-333A-47C9-BC6B-426B43924596}">
  <ds:schemaRefs>
    <ds:schemaRef ds:uri="http://schemas.microsoft.com/office/2006/metadata/properties"/>
    <ds:schemaRef ds:uri="http://schemas.microsoft.com/office/infopath/2007/PartnerControls"/>
    <ds:schemaRef ds:uri="7c697d59-f030-41cb-b3eb-430a35d88d3e"/>
    <ds:schemaRef ds:uri="1850b159-f885-49b4-8fe6-fe208bed09bc"/>
  </ds:schemaRefs>
</ds:datastoreItem>
</file>

<file path=customXml/itemProps2.xml><?xml version="1.0" encoding="utf-8"?>
<ds:datastoreItem xmlns:ds="http://schemas.openxmlformats.org/officeDocument/2006/customXml" ds:itemID="{A4A33454-1CFE-48F5-A2D9-C41241FE1A59}">
  <ds:schemaRefs>
    <ds:schemaRef ds:uri="http://schemas.microsoft.com/sharepoint/v3/contenttype/forms"/>
  </ds:schemaRefs>
</ds:datastoreItem>
</file>

<file path=customXml/itemProps3.xml><?xml version="1.0" encoding="utf-8"?>
<ds:datastoreItem xmlns:ds="http://schemas.openxmlformats.org/officeDocument/2006/customXml" ds:itemID="{3C6C7C52-EDAA-4DFB-A52D-4A410240B8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697d59-f030-41cb-b3eb-430a35d88d3e"/>
    <ds:schemaRef ds:uri="1850b159-f885-49b4-8fe6-fe208bed09b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668</TotalTime>
  <Words>1690</Words>
  <Application>Microsoft Office PowerPoint</Application>
  <PresentationFormat>ワイド画面</PresentationFormat>
  <Paragraphs>171</Paragraphs>
  <Slides>6</Slides>
  <Notes>0</Notes>
  <HiddenSlides>0</HiddenSlides>
  <MMClips>0</MMClips>
  <ScaleCrop>false</ScaleCrop>
  <HeadingPairs>
    <vt:vector size="4" baseType="variant">
      <vt:variant>
        <vt:lpstr>テーマ</vt:lpstr>
      </vt:variant>
      <vt:variant>
        <vt:i4>1</vt:i4>
      </vt:variant>
      <vt:variant>
        <vt:lpstr>スライド タイトル</vt:lpstr>
      </vt:variant>
      <vt:variant>
        <vt:i4>6</vt:i4>
      </vt:variant>
    </vt:vector>
  </HeadingPairs>
  <TitlesOfParts>
    <vt:vector size="7" baseType="lpstr">
      <vt:lpstr>Office テーマ</vt:lpstr>
      <vt:lpstr>ModbusE Interface (PI Interface for Modbus Ethernet PLC)</vt:lpstr>
      <vt:lpstr>PowerPoint プレゼンテーション</vt:lpstr>
      <vt:lpstr>PowerPoint プレゼンテーション</vt:lpstr>
      <vt:lpstr>PI Connector for Ethernet IP</vt:lpstr>
      <vt:lpstr>PI Connector for Ethernet IP</vt:lpstr>
      <vt:lpstr>PI Connector for Ethernet 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岸本　浩明</dc:creator>
  <cp:lastModifiedBy>岸本　浩明</cp:lastModifiedBy>
  <cp:revision>13</cp:revision>
  <dcterms:created xsi:type="dcterms:W3CDTF">2026-02-18T04:22:58Z</dcterms:created>
  <dcterms:modified xsi:type="dcterms:W3CDTF">2026-02-20T03:39:56Z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0x010100776B514DE0FF8E44A3817F14DB32B849</vt:lpwstr>
  </property>
  <property fmtid="{D5CDD505-2E9C-101B-9397-08002B2CF9AE}" pid="3" name="MediaServiceImageTags">
    <vt:lpwstr/>
  </property>
</Properties>
</file>