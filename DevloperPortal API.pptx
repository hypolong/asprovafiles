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屋外, ブルー, 大きい, 座る が含まれている画像&#10;&#10;自動的に生成された説明">
            <a:extLst>
              <a:ext uri="{FF2B5EF4-FFF2-40B4-BE49-F238E27FC236}">
                <a16:creationId xmlns:a16="http://schemas.microsoft.com/office/drawing/2014/main" id="{9D2EAA20-FF9A-7846-B15A-9360F0CC8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9A954FFE-7953-0043-BDE2-9E26E75A9B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5" name="object 13">
            <a:extLst>
              <a:ext uri="{FF2B5EF4-FFF2-40B4-BE49-F238E27FC236}">
                <a16:creationId xmlns:a16="http://schemas.microsoft.com/office/drawing/2014/main" id="{457962DE-D58E-9748-B57D-7C74F0CF7894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9" name="タイトル 3">
            <a:extLst>
              <a:ext uri="{FF2B5EF4-FFF2-40B4-BE49-F238E27FC236}">
                <a16:creationId xmlns:a16="http://schemas.microsoft.com/office/drawing/2014/main" id="{3AFEAA39-CC9D-453A-8582-D1810D81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52C88F87-0279-894C-9082-6EFFF84B8E0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178438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597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屋外, 大きい, ブルー, ボート が含まれている画像&#10;&#10;自動的に生成された説明">
            <a:extLst>
              <a:ext uri="{FF2B5EF4-FFF2-40B4-BE49-F238E27FC236}">
                <a16:creationId xmlns:a16="http://schemas.microsoft.com/office/drawing/2014/main" id="{5A24B653-4F92-5C46-BD5F-EEB7C1C01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96905CA6-EF23-8946-A8A0-EAC0ABE06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C454CD4D-A3C7-634B-B96C-F9C8A21C72FB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15" name="テキスト プレースホルダー 7">
            <a:extLst>
              <a:ext uri="{FF2B5EF4-FFF2-40B4-BE49-F238E27FC236}">
                <a16:creationId xmlns:a16="http://schemas.microsoft.com/office/drawing/2014/main" id="{E354CFE2-B758-3645-AE2B-D5C8B993F5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3100" y="3830852"/>
            <a:ext cx="7708900" cy="461280"/>
          </a:xfrm>
          <a:prstGeom prst="rect">
            <a:avLst/>
          </a:prstGeom>
        </p:spPr>
        <p:txBody>
          <a:bodyPr lIns="0" tIns="0" rIns="0" bIns="0"/>
          <a:lstStyle>
            <a:lvl1pPr marL="7200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2022.4.1</a:t>
            </a:r>
            <a:br>
              <a:rPr kumimoji="1" lang="en-US" altLang="ja-JP"/>
            </a:br>
            <a:r>
              <a:rPr kumimoji="1" lang="ja-JP" altLang="en-US"/>
              <a:t>サービスソリューション事業本部</a:t>
            </a:r>
          </a:p>
        </p:txBody>
      </p:sp>
      <p:sp>
        <p:nvSpPr>
          <p:cNvPr id="8" name="タイトル 3">
            <a:extLst>
              <a:ext uri="{FF2B5EF4-FFF2-40B4-BE49-F238E27FC236}">
                <a16:creationId xmlns:a16="http://schemas.microsoft.com/office/drawing/2014/main" id="{856D77D9-FB83-4B59-89CA-9DCF5609FE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en" altLang="ja-JP" dirty="0"/>
              <a:t>IoT</a:t>
            </a:r>
            <a:r>
              <a:rPr kumimoji="1" lang="ja-JP" altLang="en-US" dirty="0"/>
              <a:t>ソリューションの</a:t>
            </a:r>
            <a:br>
              <a:rPr kumimoji="1" lang="ja-JP" altLang="en-US" dirty="0"/>
            </a:br>
            <a:r>
              <a:rPr kumimoji="1" lang="ja-JP" altLang="en-US" dirty="0"/>
              <a:t>ご紹介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AB483436-307B-CB14-AF02-0FD6E2DF49B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2556614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大きい, ブルー, 飛行機, 光 が含まれている画像&#10;&#10;自動的に生成された説明">
            <a:extLst>
              <a:ext uri="{FF2B5EF4-FFF2-40B4-BE49-F238E27FC236}">
                <a16:creationId xmlns:a16="http://schemas.microsoft.com/office/drawing/2014/main" id="{AF869BF1-1A12-4043-ABCF-28CF31774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FE3C3301-CDAD-C045-B43F-BCB0C445CA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F73AAB62-C13A-924A-9827-18B80A17C9C9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8" name="タイトル 3">
            <a:extLst>
              <a:ext uri="{FF2B5EF4-FFF2-40B4-BE49-F238E27FC236}">
                <a16:creationId xmlns:a16="http://schemas.microsoft.com/office/drawing/2014/main" id="{D1414726-42B8-4CB2-9AF3-CEBCCE9C1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en" altLang="ja-JP" dirty="0"/>
              <a:t>IoT</a:t>
            </a:r>
            <a:r>
              <a:rPr kumimoji="1" lang="ja-JP" altLang="en-US" dirty="0"/>
              <a:t>ソリューションの</a:t>
            </a:r>
            <a:br>
              <a:rPr kumimoji="1" lang="ja-JP" altLang="en-US" dirty="0"/>
            </a:br>
            <a:r>
              <a:rPr kumimoji="1" lang="ja-JP" altLang="en-US" dirty="0"/>
              <a:t>ご紹介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51CF6831-80CA-E5A1-2F91-6203DF2F9B8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247105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ブルー, テーブル, 座る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0E27D772-2AE1-8E45-A8BE-9112DB246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85650" cy="6858000"/>
          </a:xfrm>
          <a:prstGeom prst="rect">
            <a:avLst/>
          </a:prstGeom>
        </p:spPr>
      </p:pic>
      <p:pic>
        <p:nvPicPr>
          <p:cNvPr id="11" name="図 10" descr="ロゴ&#10;&#10;自動的に生成された説明">
            <a:extLst>
              <a:ext uri="{FF2B5EF4-FFF2-40B4-BE49-F238E27FC236}">
                <a16:creationId xmlns:a16="http://schemas.microsoft.com/office/drawing/2014/main" id="{C855CF72-1EA8-9442-AA3B-ADA2D1D51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22" y="2667459"/>
            <a:ext cx="2159000" cy="716032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B15AD20B-A506-6D4E-857E-6B5E3D6B4904}"/>
              </a:ext>
            </a:extLst>
          </p:cNvPr>
          <p:cNvSpPr txBox="1"/>
          <p:nvPr/>
        </p:nvSpPr>
        <p:spPr>
          <a:xfrm>
            <a:off x="8426998" y="6523040"/>
            <a:ext cx="3765001" cy="262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ts val="2000"/>
              </a:lnSpc>
              <a:spcBef>
                <a:spcPts val="0"/>
              </a:spcBef>
            </a:pPr>
            <a:r>
              <a:rPr sz="2000" b="0" i="0" kern="0" spc="100" baseline="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Roboto-Light"/>
              </a:rPr>
              <a:t>Humanware By Systemware</a:t>
            </a:r>
            <a:endParaRPr sz="2000" b="0" i="0" kern="0" spc="100" baseline="0" dirty="0">
              <a:latin typeface="游ゴシック" panose="020B0400000000000000" pitchFamily="50" charset="-128"/>
              <a:ea typeface="游ゴシック" panose="020B0400000000000000" pitchFamily="50" charset="-128"/>
              <a:cs typeface="Roboto-Light"/>
            </a:endParaRPr>
          </a:p>
        </p:txBody>
      </p:sp>
      <p:sp>
        <p:nvSpPr>
          <p:cNvPr id="14" name="タイトル 3">
            <a:extLst>
              <a:ext uri="{FF2B5EF4-FFF2-40B4-BE49-F238E27FC236}">
                <a16:creationId xmlns:a16="http://schemas.microsoft.com/office/drawing/2014/main" id="{CDC066BE-1EEA-F840-AE5C-E783F2EAC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83100" y="1869059"/>
            <a:ext cx="7708900" cy="1647567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10000"/>
              </a:lnSpc>
              <a:defRPr sz="5000" b="1" spc="-70" baseline="0">
                <a:solidFill>
                  <a:schemeClr val="bg1"/>
                </a:solidFill>
                <a:latin typeface="游ゴシック" panose="020B0400000000000000" pitchFamily="50" charset="-128"/>
              </a:defRPr>
            </a:lvl1pPr>
          </a:lstStyle>
          <a:p>
            <a:r>
              <a:rPr kumimoji="1" lang="en" altLang="ja-JP" dirty="0"/>
              <a:t>IoT</a:t>
            </a:r>
            <a:r>
              <a:rPr kumimoji="1" lang="ja-JP" altLang="en-US" dirty="0"/>
              <a:t>ソリューションの</a:t>
            </a:r>
            <a:br>
              <a:rPr kumimoji="1" lang="ja-JP" altLang="en-US" dirty="0"/>
            </a:br>
            <a:r>
              <a:rPr kumimoji="1" lang="ja-JP" altLang="en-US" dirty="0"/>
              <a:t>ご紹介</a:t>
            </a:r>
          </a:p>
        </p:txBody>
      </p:sp>
      <p:sp>
        <p:nvSpPr>
          <p:cNvPr id="15" name="テキスト プレースホルダー 7">
            <a:extLst>
              <a:ext uri="{FF2B5EF4-FFF2-40B4-BE49-F238E27FC236}">
                <a16:creationId xmlns:a16="http://schemas.microsoft.com/office/drawing/2014/main" id="{B4B28868-5BF0-1746-B3CD-9B19D4031E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3100" y="3830852"/>
            <a:ext cx="7708900" cy="461280"/>
          </a:xfrm>
          <a:prstGeom prst="rect">
            <a:avLst/>
          </a:prstGeom>
        </p:spPr>
        <p:txBody>
          <a:bodyPr lIns="0" tIns="0" rIns="0" bIns="0"/>
          <a:lstStyle>
            <a:lvl1pPr marL="7200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2022.4.1</a:t>
            </a:r>
            <a:br>
              <a:rPr kumimoji="1" lang="en-US" altLang="ja-JP"/>
            </a:br>
            <a:r>
              <a:rPr kumimoji="1" lang="ja-JP" altLang="en-US"/>
              <a:t>サービスソリューション事業本部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883BB298-F312-56E7-5EC4-90BF902D2B9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6322" y="3516626"/>
            <a:ext cx="2250485" cy="46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endParaRPr lang="en-US" altLang="ja-JP" sz="900" b="1" dirty="0">
              <a:solidFill>
                <a:schemeClr val="bg2">
                  <a:lumMod val="50000"/>
                </a:schemeClr>
              </a:solidFill>
              <a:latin typeface="+mj-ea"/>
              <a:ea typeface="+mj-ea"/>
              <a:cs typeface="Segoe UI" panose="020B0502040204020203" pitchFamily="34" charset="0"/>
            </a:endParaRPr>
          </a:p>
          <a:p>
            <a:pPr algn="l"/>
            <a:r>
              <a:rPr lang="en-US" altLang="ja-JP" sz="900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11605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tx2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図 14" descr="ロゴ&#10;&#10;自動的に生成された説明">
            <a:extLst>
              <a:ext uri="{FF2B5EF4-FFF2-40B4-BE49-F238E27FC236}">
                <a16:creationId xmlns:a16="http://schemas.microsoft.com/office/drawing/2014/main" id="{2285CD2C-186C-4154-82B7-0EFE7BED17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681" y="6418445"/>
            <a:ext cx="776605" cy="257561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E73D5B34-BEFD-BE47-E62A-2C4C1EB3095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3446362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 descr="夜の街のcg&#10;&#10;低い精度で自動的に生成された説明">
            <a:extLst>
              <a:ext uri="{FF2B5EF4-FFF2-40B4-BE49-F238E27FC236}">
                <a16:creationId xmlns:a16="http://schemas.microsoft.com/office/drawing/2014/main" id="{95937898-1A23-B240-840C-CB957B364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5" name="Text Box 3">
            <a:extLst>
              <a:ext uri="{FF2B5EF4-FFF2-40B4-BE49-F238E27FC236}">
                <a16:creationId xmlns:a16="http://schemas.microsoft.com/office/drawing/2014/main" id="{4E33A379-B290-7F45-7BD5-6839CA7F93D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1045487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屋外, 建物, ブルー, 記号 が含まれている画像&#10;&#10;自動的に生成された説明">
            <a:extLst>
              <a:ext uri="{FF2B5EF4-FFF2-40B4-BE49-F238E27FC236}">
                <a16:creationId xmlns:a16="http://schemas.microsoft.com/office/drawing/2014/main" id="{DA95B498-5BE1-4946-AF4D-A22AC4F72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44E52C16-A8DF-F90E-30BB-5FB4DD3A6AA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3466572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夜に光っている建物&#10;&#10;自動的に生成された説明">
            <a:extLst>
              <a:ext uri="{FF2B5EF4-FFF2-40B4-BE49-F238E27FC236}">
                <a16:creationId xmlns:a16="http://schemas.microsoft.com/office/drawing/2014/main" id="{AC57EB1C-5557-2E48-BA92-3D966678C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11C6522F-648E-D0AB-A89C-3D5DBC5EE78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373087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_neg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 descr="屋外, ブルー, 記号, ストリート が含まれている画像&#10;&#10;自動的に生成された説明">
            <a:extLst>
              <a:ext uri="{FF2B5EF4-FFF2-40B4-BE49-F238E27FC236}">
                <a16:creationId xmlns:a16="http://schemas.microsoft.com/office/drawing/2014/main" id="{D454CBFD-E484-244D-9CC7-24A751516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  <p:sp>
        <p:nvSpPr>
          <p:cNvPr id="12" name="Holder 2">
            <a:extLst>
              <a:ext uri="{FF2B5EF4-FFF2-40B4-BE49-F238E27FC236}">
                <a16:creationId xmlns:a16="http://schemas.microsoft.com/office/drawing/2014/main" id="{BCA7EB43-4EB5-3748-ACFE-C4696148C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34190"/>
            <a:ext cx="10153650" cy="604519"/>
          </a:xfrm>
          <a:prstGeom prst="rect">
            <a:avLst/>
          </a:prstGeom>
        </p:spPr>
        <p:txBody>
          <a:bodyPr lIns="0" tIns="0" rIns="0" bIns="0"/>
          <a:lstStyle>
            <a:lvl1pPr>
              <a:defRPr sz="3800" b="0" i="0" spc="-70" baseline="0">
                <a:solidFill>
                  <a:schemeClr val="bg1"/>
                </a:solidFill>
                <a:latin typeface="+mj-ea"/>
                <a:ea typeface="+mj-ea"/>
                <a:cs typeface="游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3" name="Holder 6">
            <a:extLst>
              <a:ext uri="{FF2B5EF4-FFF2-40B4-BE49-F238E27FC236}">
                <a16:creationId xmlns:a16="http://schemas.microsoft.com/office/drawing/2014/main" id="{F2D706C3-33A9-5243-B948-806E9E28E9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606A044-4610-7C43-8D37-13180508D5CA}"/>
              </a:ext>
            </a:extLst>
          </p:cNvPr>
          <p:cNvSpPr/>
          <p:nvPr/>
        </p:nvSpPr>
        <p:spPr>
          <a:xfrm>
            <a:off x="127000" y="325499"/>
            <a:ext cx="190500" cy="706755"/>
          </a:xfrm>
          <a:custGeom>
            <a:avLst/>
            <a:gdLst/>
            <a:ahLst/>
            <a:cxnLst/>
            <a:rect l="l" t="t" r="r" b="b"/>
            <a:pathLst>
              <a:path w="190500" h="706755">
                <a:moveTo>
                  <a:pt x="190500" y="0"/>
                </a:moveTo>
                <a:lnTo>
                  <a:pt x="0" y="0"/>
                </a:lnTo>
                <a:lnTo>
                  <a:pt x="0" y="706501"/>
                </a:lnTo>
                <a:lnTo>
                  <a:pt x="190500" y="5160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A922A8D-7A60-6446-AE73-13BDFB0ADE71}"/>
              </a:ext>
            </a:extLst>
          </p:cNvPr>
          <p:cNvSpPr/>
          <p:nvPr/>
        </p:nvSpPr>
        <p:spPr>
          <a:xfrm>
            <a:off x="0" y="0"/>
            <a:ext cx="317500" cy="6858000"/>
          </a:xfrm>
          <a:custGeom>
            <a:avLst/>
            <a:gdLst/>
            <a:ahLst/>
            <a:cxnLst/>
            <a:rect l="l" t="t" r="r" b="b"/>
            <a:pathLst>
              <a:path w="317500" h="6858000">
                <a:moveTo>
                  <a:pt x="317500" y="0"/>
                </a:moveTo>
                <a:lnTo>
                  <a:pt x="0" y="0"/>
                </a:lnTo>
                <a:lnTo>
                  <a:pt x="0" y="6858000"/>
                </a:lnTo>
                <a:lnTo>
                  <a:pt x="127000" y="6858000"/>
                </a:lnTo>
                <a:lnTo>
                  <a:pt x="127000" y="897001"/>
                </a:lnTo>
                <a:lnTo>
                  <a:pt x="317500" y="706501"/>
                </a:lnTo>
                <a:lnTo>
                  <a:pt x="31750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3B9CA242-E922-4046-A4A0-2A19F5515D15}"/>
              </a:ext>
            </a:extLst>
          </p:cNvPr>
          <p:cNvGrpSpPr/>
          <p:nvPr/>
        </p:nvGrpSpPr>
        <p:grpSpPr>
          <a:xfrm>
            <a:off x="12065000" y="0"/>
            <a:ext cx="127000" cy="6858000"/>
            <a:chOff x="12065000" y="0"/>
            <a:chExt cx="127000" cy="685800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A4B219B-A175-EF40-A15F-A701A079558D}"/>
                </a:ext>
              </a:extLst>
            </p:cNvPr>
            <p:cNvSpPr/>
            <p:nvPr/>
          </p:nvSpPr>
          <p:spPr>
            <a:xfrm>
              <a:off x="12065000" y="0"/>
              <a:ext cx="127000" cy="5143500"/>
            </a:xfrm>
            <a:custGeom>
              <a:avLst/>
              <a:gdLst/>
              <a:ahLst/>
              <a:cxnLst/>
              <a:rect l="l" t="t" r="r" b="b"/>
              <a:pathLst>
                <a:path w="127000" h="5143500">
                  <a:moveTo>
                    <a:pt x="0" y="5143500"/>
                  </a:moveTo>
                  <a:lnTo>
                    <a:pt x="127000" y="5143500"/>
                  </a:lnTo>
                  <a:lnTo>
                    <a:pt x="1270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C8D469FA-9FDD-EF41-ACCC-B01BE68742AB}"/>
                </a:ext>
              </a:extLst>
            </p:cNvPr>
            <p:cNvSpPr/>
            <p:nvPr/>
          </p:nvSpPr>
          <p:spPr>
            <a:xfrm>
              <a:off x="12065000" y="5143500"/>
              <a:ext cx="127000" cy="1714500"/>
            </a:xfrm>
            <a:custGeom>
              <a:avLst/>
              <a:gdLst/>
              <a:ahLst/>
              <a:cxnLst/>
              <a:rect l="l" t="t" r="r" b="b"/>
              <a:pathLst>
                <a:path w="127000" h="1714500">
                  <a:moveTo>
                    <a:pt x="127000" y="0"/>
                  </a:moveTo>
                  <a:lnTo>
                    <a:pt x="0" y="0"/>
                  </a:lnTo>
                  <a:lnTo>
                    <a:pt x="0" y="1714500"/>
                  </a:lnTo>
                  <a:lnTo>
                    <a:pt x="127000" y="17145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図 20">
            <a:extLst>
              <a:ext uri="{FF2B5EF4-FFF2-40B4-BE49-F238E27FC236}">
                <a16:creationId xmlns:a16="http://schemas.microsoft.com/office/drawing/2014/main" id="{DCB5A4C5-DB82-7746-ADCF-9DE372DE0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390" y="6412407"/>
            <a:ext cx="772896" cy="256028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95D5B85A-47F5-5A2D-2456-9F657B66B0F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58862" y="6524138"/>
            <a:ext cx="4765634" cy="1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l"/>
            <a:r>
              <a:rPr lang="fr-FR" altLang="ja-JP" sz="900" b="1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NSW Inc. </a:t>
            </a:r>
            <a:r>
              <a:rPr lang="en" altLang="ja-JP" sz="900" b="0" i="0" spc="-5" dirty="0">
                <a:solidFill>
                  <a:schemeClr val="bg1"/>
                </a:solidFill>
                <a:latin typeface="+mj-ea"/>
                <a:ea typeface="+mj-ea"/>
                <a:cs typeface="Arial"/>
              </a:rPr>
              <a:t>| </a:t>
            </a:r>
            <a:r>
              <a:rPr lang="en-US" altLang="ja-JP" sz="900" b="0" dirty="0">
                <a:solidFill>
                  <a:schemeClr val="bg1"/>
                </a:solidFill>
                <a:latin typeface="+mj-ea"/>
                <a:ea typeface="+mj-ea"/>
                <a:cs typeface="Segoe UI" panose="020B0502040204020203" pitchFamily="34" charset="0"/>
              </a:rPr>
              <a:t> Confidential and Proprietary </a:t>
            </a:r>
          </a:p>
        </p:txBody>
      </p:sp>
    </p:spTree>
    <p:extLst>
      <p:ext uri="{BB962C8B-B14F-4D97-AF65-F5344CB8AC3E}">
        <p14:creationId xmlns:p14="http://schemas.microsoft.com/office/powerpoint/2010/main" val="2320072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3" orient="horz" pos="142">
          <p15:clr>
            <a:srgbClr val="FBAE40"/>
          </p15:clr>
        </p15:guide>
        <p15:guide id="4" pos="642">
          <p15:clr>
            <a:srgbClr val="FBAE40"/>
          </p15:clr>
        </p15:guide>
        <p15:guide id="5" pos="7038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pos="3704">
          <p15:clr>
            <a:srgbClr val="FBAE40"/>
          </p15:clr>
        </p15:guide>
        <p15:guide id="8" pos="397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屋内, 座る, テーブル, コンピュータ が含まれている画像&#10;&#10;自動的に生成された説明">
            <a:extLst>
              <a:ext uri="{FF2B5EF4-FFF2-40B4-BE49-F238E27FC236}">
                <a16:creationId xmlns:a16="http://schemas.microsoft.com/office/drawing/2014/main" id="{9F587420-997C-4D4E-B3E0-2697D954C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844EF896-2216-1049-85CC-9690A84CF016}"/>
              </a:ext>
            </a:extLst>
          </p:cNvPr>
          <p:cNvSpPr txBox="1"/>
          <p:nvPr/>
        </p:nvSpPr>
        <p:spPr>
          <a:xfrm>
            <a:off x="982664" y="2952709"/>
            <a:ext cx="3200538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-5" dirty="0">
                <a:solidFill>
                  <a:schemeClr val="tx2"/>
                </a:solidFill>
                <a:latin typeface="+mn-ea"/>
                <a:ea typeface="+mn-ea"/>
                <a:cs typeface="Roboto-Light"/>
              </a:rPr>
              <a:t>INDEX</a:t>
            </a:r>
            <a:endParaRPr sz="5600" dirty="0">
              <a:solidFill>
                <a:schemeClr val="tx2"/>
              </a:solidFill>
              <a:latin typeface="+mn-ea"/>
              <a:ea typeface="+mn-ea"/>
              <a:cs typeface="Roboto-Light"/>
            </a:endParaRP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562E7341-9213-42C3-804D-2469A55D59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289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OB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背景パターン が含まれている画像&#10;&#10;自動的に生成された説明">
            <a:extLst>
              <a:ext uri="{FF2B5EF4-FFF2-40B4-BE49-F238E27FC236}">
                <a16:creationId xmlns:a16="http://schemas.microsoft.com/office/drawing/2014/main" id="{A415ADC2-F3EB-804F-88FF-C6D5A3F64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図 9" descr="ロゴ&#10;&#10;自動的に生成された説明">
            <a:extLst>
              <a:ext uri="{FF2B5EF4-FFF2-40B4-BE49-F238E27FC236}">
                <a16:creationId xmlns:a16="http://schemas.microsoft.com/office/drawing/2014/main" id="{1ACA1B12-1784-4646-9AD6-A0A3998E3C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681" y="6418445"/>
            <a:ext cx="776605" cy="257561"/>
          </a:xfrm>
          <a:prstGeom prst="rect">
            <a:avLst/>
          </a:prstGeom>
        </p:spPr>
      </p:pic>
      <p:sp>
        <p:nvSpPr>
          <p:cNvPr id="8" name="Holder 6">
            <a:extLst>
              <a:ext uri="{FF2B5EF4-FFF2-40B4-BE49-F238E27FC236}">
                <a16:creationId xmlns:a16="http://schemas.microsoft.com/office/drawing/2014/main" id="{E84DCF86-5E44-446F-8386-E513A3D4DB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B78541C-58DC-4105-A87E-4C71A9D253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870883"/>
            <a:ext cx="12192000" cy="76944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NSW</a:t>
            </a:r>
            <a:r>
              <a:rPr kumimoji="1" lang="ja-JP" altLang="en-US" dirty="0"/>
              <a:t>のご紹介</a:t>
            </a:r>
          </a:p>
        </p:txBody>
      </p:sp>
    </p:spTree>
    <p:extLst>
      <p:ext uri="{BB962C8B-B14F-4D97-AF65-F5344CB8AC3E}">
        <p14:creationId xmlns:p14="http://schemas.microsoft.com/office/powerpoint/2010/main" val="2400331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HAKUSI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2E802A7A-3293-4D62-807F-500175656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038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d_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2E802A7A-3293-4D62-807F-500175656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4" name="図 3" descr="背景パターン&#10;&#10;自動的に生成された説明">
            <a:extLst>
              <a:ext uri="{FF2B5EF4-FFF2-40B4-BE49-F238E27FC236}">
                <a16:creationId xmlns:a16="http://schemas.microsoft.com/office/drawing/2014/main" id="{A4A08382-8AA8-B244-9471-1B4138C40F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15">
            <a:extLst>
              <a:ext uri="{FF2B5EF4-FFF2-40B4-BE49-F238E27FC236}">
                <a16:creationId xmlns:a16="http://schemas.microsoft.com/office/drawing/2014/main" id="{3B73208B-EF34-A34F-9B01-975B8F3E6317}"/>
              </a:ext>
            </a:extLst>
          </p:cNvPr>
          <p:cNvSpPr/>
          <p:nvPr/>
        </p:nvSpPr>
        <p:spPr>
          <a:xfrm>
            <a:off x="1206500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15244AA4-D3CF-024F-B8D3-BEC21C75A00D}"/>
              </a:ext>
            </a:extLst>
          </p:cNvPr>
          <p:cNvSpPr/>
          <p:nvPr/>
        </p:nvSpPr>
        <p:spPr>
          <a:xfrm>
            <a:off x="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図 6" descr="ロゴ&#10;&#10;自動的に生成された説明">
            <a:extLst>
              <a:ext uri="{FF2B5EF4-FFF2-40B4-BE49-F238E27FC236}">
                <a16:creationId xmlns:a16="http://schemas.microsoft.com/office/drawing/2014/main" id="{18AE93D2-8BA9-9E47-A317-37336748B2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3218" y="2536027"/>
            <a:ext cx="3865740" cy="128207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6819ACD-70A0-E941-B6B3-B30595BCD0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741" y="4283865"/>
            <a:ext cx="3962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8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d_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2E802A7A-3293-4D62-807F-500175656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4" name="図 3" descr="凧, ボート, 飛ぶ, 水 が含まれている画像&#10;&#10;自動的に生成された説明">
            <a:extLst>
              <a:ext uri="{FF2B5EF4-FFF2-40B4-BE49-F238E27FC236}">
                <a16:creationId xmlns:a16="http://schemas.microsoft.com/office/drawing/2014/main" id="{D160CCA7-4A67-D44A-98CE-B0BFE0D948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15">
            <a:extLst>
              <a:ext uri="{FF2B5EF4-FFF2-40B4-BE49-F238E27FC236}">
                <a16:creationId xmlns:a16="http://schemas.microsoft.com/office/drawing/2014/main" id="{C55D8B58-DBE9-5A4C-A06C-46C9DF7EB254}"/>
              </a:ext>
            </a:extLst>
          </p:cNvPr>
          <p:cNvSpPr/>
          <p:nvPr/>
        </p:nvSpPr>
        <p:spPr>
          <a:xfrm>
            <a:off x="1206500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BD73E2F1-4958-114F-8A1A-1F7057D20AD6}"/>
              </a:ext>
            </a:extLst>
          </p:cNvPr>
          <p:cNvSpPr/>
          <p:nvPr/>
        </p:nvSpPr>
        <p:spPr>
          <a:xfrm>
            <a:off x="0" y="1"/>
            <a:ext cx="129600" cy="6858000"/>
          </a:xfrm>
          <a:custGeom>
            <a:avLst/>
            <a:gdLst/>
            <a:ahLst/>
            <a:cxnLst/>
            <a:rect l="l" t="t" r="r" b="b"/>
            <a:pathLst>
              <a:path w="127000" h="1714500">
                <a:moveTo>
                  <a:pt x="127000" y="0"/>
                </a:moveTo>
                <a:lnTo>
                  <a:pt x="0" y="0"/>
                </a:lnTo>
                <a:lnTo>
                  <a:pt x="0" y="1714500"/>
                </a:lnTo>
                <a:lnTo>
                  <a:pt x="127000" y="1714500"/>
                </a:lnTo>
                <a:lnTo>
                  <a:pt x="127000" y="0"/>
                </a:lnTo>
                <a:close/>
              </a:path>
            </a:pathLst>
          </a:custGeom>
          <a:solidFill>
            <a:srgbClr val="3278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図 6" descr="ロゴ&#10;&#10;自動的に生成された説明">
            <a:extLst>
              <a:ext uri="{FF2B5EF4-FFF2-40B4-BE49-F238E27FC236}">
                <a16:creationId xmlns:a16="http://schemas.microsoft.com/office/drawing/2014/main" id="{3C4EE72B-A3F3-534D-B7AD-2BED2A4A7E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3218" y="2536027"/>
            <a:ext cx="3865740" cy="128207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982C802-9772-0445-BAD8-3995B91471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6741" y="4283865"/>
            <a:ext cx="3962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85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>
          <p15:clr>
            <a:srgbClr val="FBAE40"/>
          </p15:clr>
        </p15:guide>
        <p15:guide id="2" pos="2275">
          <p15:clr>
            <a:srgbClr val="FBAE40"/>
          </p15:clr>
        </p15:guide>
        <p15:guide id="3" orient="horz" pos="346">
          <p15:clr>
            <a:srgbClr val="FBAE40"/>
          </p15:clr>
        </p15:guide>
        <p15:guide id="4" pos="619">
          <p15:clr>
            <a:srgbClr val="FBAE40"/>
          </p15:clr>
        </p15:guide>
        <p15:guide id="5" pos="706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7419D-BECA-4A43-DE67-E75243F85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3090A3-ECEC-8946-0A5E-3719CBE25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0A2C9C-B9C2-718E-F4E4-65DC32FBD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F93D-627B-4A22-8C1D-4CDFA96DA65D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5350B0-282A-797A-2740-3DA4190F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E7566D-328B-2723-5768-966FB062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32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older 6">
            <a:extLst>
              <a:ext uri="{FF2B5EF4-FFF2-40B4-BE49-F238E27FC236}">
                <a16:creationId xmlns:a16="http://schemas.microsoft.com/office/drawing/2014/main" id="{6969A12A-5999-484E-9AFE-A3FE252CD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6518701"/>
            <a:ext cx="375920" cy="150246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 b="0" i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73400DFF-4E10-4224-974E-74FC81DA60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11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eaLnBrk="1" hangingPunct="1">
        <a:defRPr kumimoji="1" sz="5000" b="0">
          <a:latin typeface="+mj-ea"/>
          <a:ea typeface="+mj-ea"/>
          <a:cs typeface="+mj-cs"/>
        </a:defRPr>
      </a:lvl1pPr>
    </p:titleStyle>
    <p:bodyStyle>
      <a:lvl1pPr marL="0" eaLnBrk="1" hangingPunct="1">
        <a:defRPr kumimoji="1" sz="1400">
          <a:latin typeface="+mn-lt"/>
          <a:ea typeface="+mn-ea"/>
          <a:cs typeface="+mn-cs"/>
        </a:defRPr>
      </a:lvl1pPr>
      <a:lvl2pPr marL="457200" eaLnBrk="1" hangingPunct="1">
        <a:defRPr kumimoji="1">
          <a:latin typeface="+mn-lt"/>
          <a:ea typeface="+mn-ea"/>
          <a:cs typeface="+mn-cs"/>
        </a:defRPr>
      </a:lvl2pPr>
      <a:lvl3pPr marL="914400" eaLnBrk="1" hangingPunct="1">
        <a:defRPr kumimoji="1">
          <a:latin typeface="+mn-lt"/>
          <a:ea typeface="+mn-ea"/>
          <a:cs typeface="+mn-cs"/>
        </a:defRPr>
      </a:lvl3pPr>
      <a:lvl4pPr marL="1371600" eaLnBrk="1" hangingPunct="1">
        <a:defRPr kumimoji="1">
          <a:latin typeface="+mn-lt"/>
          <a:ea typeface="+mn-ea"/>
          <a:cs typeface="+mn-cs"/>
        </a:defRPr>
      </a:lvl4pPr>
      <a:lvl5pPr marL="1828800" eaLnBrk="1" hangingPunct="1">
        <a:defRPr kumimoji="1">
          <a:latin typeface="+mn-lt"/>
          <a:ea typeface="+mn-ea"/>
          <a:cs typeface="+mn-cs"/>
        </a:defRPr>
      </a:lvl5pPr>
      <a:lvl6pPr marL="2286000" eaLnBrk="1" hangingPunct="1">
        <a:defRPr kumimoji="1">
          <a:latin typeface="+mn-lt"/>
          <a:ea typeface="+mn-ea"/>
          <a:cs typeface="+mn-cs"/>
        </a:defRPr>
      </a:lvl6pPr>
      <a:lvl7pPr marL="2743200" eaLnBrk="1" hangingPunct="1">
        <a:defRPr kumimoji="1">
          <a:latin typeface="+mn-lt"/>
          <a:ea typeface="+mn-ea"/>
          <a:cs typeface="+mn-cs"/>
        </a:defRPr>
      </a:lvl7pPr>
      <a:lvl8pPr marL="3200400" eaLnBrk="1" hangingPunct="1">
        <a:defRPr kumimoji="1">
          <a:latin typeface="+mn-lt"/>
          <a:ea typeface="+mn-ea"/>
          <a:cs typeface="+mn-cs"/>
        </a:defRPr>
      </a:lvl8pPr>
      <a:lvl9pPr marL="3657600" eaLnBrk="1" hangingPunct="1">
        <a:defRPr kumimoji="1">
          <a:latin typeface="+mn-lt"/>
          <a:ea typeface="+mn-ea"/>
          <a:cs typeface="+mn-cs"/>
        </a:defRPr>
      </a:lvl9pPr>
    </p:bodyStyle>
    <p:otherStyle>
      <a:lvl1pPr marL="0" eaLnBrk="1" hangingPunct="1">
        <a:defRPr kumimoji="1">
          <a:latin typeface="+mn-lt"/>
          <a:ea typeface="+mn-ea"/>
          <a:cs typeface="+mn-cs"/>
        </a:defRPr>
      </a:lvl1pPr>
      <a:lvl2pPr marL="457200" eaLnBrk="1" hangingPunct="1">
        <a:defRPr kumimoji="1">
          <a:latin typeface="+mn-lt"/>
          <a:ea typeface="+mn-ea"/>
          <a:cs typeface="+mn-cs"/>
        </a:defRPr>
      </a:lvl2pPr>
      <a:lvl3pPr marL="914400" eaLnBrk="1" hangingPunct="1">
        <a:defRPr kumimoji="1">
          <a:latin typeface="+mn-lt"/>
          <a:ea typeface="+mn-ea"/>
          <a:cs typeface="+mn-cs"/>
        </a:defRPr>
      </a:lvl3pPr>
      <a:lvl4pPr marL="1371600" eaLnBrk="1" hangingPunct="1">
        <a:defRPr kumimoji="1">
          <a:latin typeface="+mn-lt"/>
          <a:ea typeface="+mn-ea"/>
          <a:cs typeface="+mn-cs"/>
        </a:defRPr>
      </a:lvl4pPr>
      <a:lvl5pPr marL="1828800" eaLnBrk="1" hangingPunct="1">
        <a:defRPr kumimoji="1">
          <a:latin typeface="+mn-lt"/>
          <a:ea typeface="+mn-ea"/>
          <a:cs typeface="+mn-cs"/>
        </a:defRPr>
      </a:lvl5pPr>
      <a:lvl6pPr marL="2286000" eaLnBrk="1" hangingPunct="1">
        <a:defRPr kumimoji="1">
          <a:latin typeface="+mn-lt"/>
          <a:ea typeface="+mn-ea"/>
          <a:cs typeface="+mn-cs"/>
        </a:defRPr>
      </a:lvl6pPr>
      <a:lvl7pPr marL="2743200" eaLnBrk="1" hangingPunct="1">
        <a:defRPr kumimoji="1">
          <a:latin typeface="+mn-lt"/>
          <a:ea typeface="+mn-ea"/>
          <a:cs typeface="+mn-cs"/>
        </a:defRPr>
      </a:lvl7pPr>
      <a:lvl8pPr marL="3200400" eaLnBrk="1" hangingPunct="1">
        <a:defRPr kumimoji="1">
          <a:latin typeface="+mn-lt"/>
          <a:ea typeface="+mn-ea"/>
          <a:cs typeface="+mn-cs"/>
        </a:defRPr>
      </a:lvl8pPr>
      <a:lvl9pPr marL="3657600" eaLnBrk="1" hangingPunct="1">
        <a:defRPr kumimoji="1"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eb.postman.co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3B70AD6-B4FE-9713-9DA4-5E0D25EBC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389" y="234190"/>
            <a:ext cx="10676436" cy="604519"/>
          </a:xfrm>
        </p:spPr>
        <p:txBody>
          <a:bodyPr/>
          <a:lstStyle/>
          <a:p>
            <a:r>
              <a:rPr lang="en-US" altLang="ja-JP" dirty="0" err="1"/>
              <a:t>DevloperPortal</a:t>
            </a:r>
            <a:r>
              <a:rPr lang="en-US" altLang="ja-JP" dirty="0"/>
              <a:t> API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E654BC-CAF0-115C-1996-F5DB610F740B}"/>
              </a:ext>
            </a:extLst>
          </p:cNvPr>
          <p:cNvSpPr txBox="1"/>
          <p:nvPr/>
        </p:nvSpPr>
        <p:spPr>
          <a:xfrm>
            <a:off x="496389" y="960392"/>
            <a:ext cx="1134726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</a:rPr>
              <a:t>■</a:t>
            </a:r>
            <a:r>
              <a:rPr kumimoji="1" lang="en-US" altLang="ja-JP" sz="1400" b="1" dirty="0" err="1">
                <a:solidFill>
                  <a:schemeClr val="tx2"/>
                </a:solidFill>
              </a:rPr>
              <a:t>Devloper</a:t>
            </a:r>
            <a:r>
              <a:rPr kumimoji="1" lang="en-US" altLang="ja-JP" sz="1400" b="1" dirty="0">
                <a:solidFill>
                  <a:schemeClr val="tx2"/>
                </a:solidFill>
              </a:rPr>
              <a:t> </a:t>
            </a:r>
            <a:r>
              <a:rPr kumimoji="1" lang="en-US" altLang="ja-JP" sz="1400" b="1" dirty="0" err="1">
                <a:solidFill>
                  <a:schemeClr val="tx2"/>
                </a:solidFill>
              </a:rPr>
              <a:t>PortalAPI</a:t>
            </a:r>
            <a:endParaRPr kumimoji="1" lang="en-US" altLang="ja-JP" sz="1400" b="1" dirty="0">
              <a:solidFill>
                <a:schemeClr val="tx2"/>
              </a:solidFill>
            </a:endParaRPr>
          </a:p>
          <a:p>
            <a:r>
              <a:rPr kumimoji="1" lang="ja-JP" altLang="en-US" sz="1200" dirty="0"/>
              <a:t>　</a:t>
            </a:r>
            <a:r>
              <a:rPr kumimoji="1" lang="en-US" altLang="ja-JP" sz="1200" dirty="0" err="1"/>
              <a:t>Plex</a:t>
            </a:r>
            <a:r>
              <a:rPr lang="en-US" altLang="ja-JP" sz="1200" dirty="0" err="1"/>
              <a:t>PCN</a:t>
            </a:r>
            <a:r>
              <a:rPr lang="ja-JP" altLang="en-US" sz="1200" dirty="0"/>
              <a:t>環境に対し</a:t>
            </a:r>
            <a:r>
              <a:rPr lang="en-US" altLang="ja-JP" sz="1200" dirty="0"/>
              <a:t>API</a:t>
            </a:r>
            <a:r>
              <a:rPr lang="ja-JP" altLang="en-US" sz="1200" dirty="0"/>
              <a:t>（</a:t>
            </a:r>
            <a:r>
              <a:rPr lang="en-US" altLang="ja-JP" sz="1200" dirty="0" err="1"/>
              <a:t>RestAPI</a:t>
            </a:r>
            <a:r>
              <a:rPr lang="ja-JP" altLang="en-US" sz="1200" dirty="0"/>
              <a:t>）を呼び出すことができる環境</a:t>
            </a:r>
            <a:endParaRPr lang="en-US" altLang="ja-JP" sz="1200" dirty="0"/>
          </a:p>
          <a:p>
            <a:r>
              <a:rPr kumimoji="1" lang="ja-JP" altLang="en-US" sz="1200" dirty="0"/>
              <a:t>　</a:t>
            </a:r>
            <a:r>
              <a:rPr kumimoji="1" lang="en-US" altLang="ja-JP" sz="1200" dirty="0" err="1"/>
              <a:t>DataSouresAPI</a:t>
            </a:r>
            <a:r>
              <a:rPr kumimoji="1" lang="ja-JP" altLang="en-US" sz="1200" dirty="0"/>
              <a:t>より最新</a:t>
            </a:r>
            <a:r>
              <a:rPr lang="ja-JP" altLang="en-US" sz="1200" dirty="0"/>
              <a:t>だが、</a:t>
            </a:r>
            <a:r>
              <a:rPr kumimoji="1" lang="ja-JP" altLang="en-US" sz="1200" dirty="0"/>
              <a:t>できることは限られてる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lang="ja-JP" altLang="en-US" sz="1400" b="1" dirty="0">
                <a:solidFill>
                  <a:schemeClr val="tx2"/>
                </a:solidFill>
              </a:rPr>
              <a:t>■事前準備</a:t>
            </a:r>
            <a:endParaRPr lang="en-US" altLang="ja-JP" sz="1400" b="1" dirty="0">
              <a:solidFill>
                <a:schemeClr val="tx2"/>
              </a:solidFill>
            </a:endParaRPr>
          </a:p>
          <a:p>
            <a:r>
              <a:rPr lang="ja-JP" altLang="en-US" sz="1400" dirty="0"/>
              <a:t>　事前準備は</a:t>
            </a:r>
            <a:r>
              <a:rPr lang="en-US" altLang="ja-JP" sz="1400" dirty="0"/>
              <a:t>API</a:t>
            </a:r>
            <a:r>
              <a:rPr lang="ja-JP" altLang="en-US" sz="1400" dirty="0"/>
              <a:t>を実行したい</a:t>
            </a:r>
            <a:r>
              <a:rPr lang="en-US" altLang="ja-JP" sz="1400" dirty="0"/>
              <a:t>PCN</a:t>
            </a:r>
            <a:r>
              <a:rPr lang="ja-JP" altLang="en-US" sz="1400" dirty="0"/>
              <a:t>単位での対応が必要</a:t>
            </a:r>
            <a:endParaRPr lang="en-US" altLang="ja-JP" sz="1400" dirty="0"/>
          </a:p>
          <a:p>
            <a:r>
              <a:rPr lang="ja-JP" altLang="en-US" sz="1400" dirty="0"/>
              <a:t>　本手順では</a:t>
            </a:r>
            <a:r>
              <a:rPr lang="en-US" altLang="ja-JP" sz="1400" dirty="0"/>
              <a:t>NSW</a:t>
            </a:r>
            <a:r>
              <a:rPr lang="ja-JP" altLang="en-US" sz="1400" dirty="0"/>
              <a:t>の検証環境「</a:t>
            </a:r>
            <a:r>
              <a:rPr lang="en-US" altLang="ja-JP" sz="1400" dirty="0"/>
              <a:t>NSW</a:t>
            </a:r>
            <a:r>
              <a:rPr lang="ja-JP" altLang="en-US" sz="1400" dirty="0"/>
              <a:t>ー</a:t>
            </a:r>
            <a:r>
              <a:rPr lang="en-US" altLang="ja-JP" sz="1400" dirty="0"/>
              <a:t>Discrete</a:t>
            </a:r>
            <a:r>
              <a:rPr lang="ja-JP" altLang="en-US" sz="1400" dirty="0"/>
              <a:t>」環境での対応となるが、</a:t>
            </a:r>
            <a:endParaRPr lang="en-US" altLang="ja-JP" sz="1400" dirty="0"/>
          </a:p>
          <a:p>
            <a:r>
              <a:rPr lang="ja-JP" altLang="en-US" sz="1400" dirty="0"/>
              <a:t>　別</a:t>
            </a:r>
            <a:r>
              <a:rPr lang="en-US" altLang="ja-JP" sz="1400" dirty="0"/>
              <a:t>PCN</a:t>
            </a:r>
            <a:r>
              <a:rPr lang="ja-JP" altLang="en-US" sz="1400" dirty="0"/>
              <a:t>環境で</a:t>
            </a:r>
            <a:r>
              <a:rPr lang="en-US" altLang="ja-JP" sz="1400" dirty="0"/>
              <a:t>API</a:t>
            </a:r>
            <a:r>
              <a:rPr lang="ja-JP" altLang="en-US" sz="1400" dirty="0"/>
              <a:t>を実行したい場合は、その環境で同様の手順を十する必要がある</a:t>
            </a:r>
            <a:endParaRPr lang="en-US" altLang="ja-JP" sz="1400" dirty="0"/>
          </a:p>
          <a:p>
            <a:endParaRPr kumimoji="1" lang="en-US" altLang="ja-JP" sz="1400" dirty="0"/>
          </a:p>
          <a:p>
            <a:r>
              <a:rPr lang="ja-JP" altLang="en-US" sz="1400" dirty="0"/>
              <a:t>　</a:t>
            </a:r>
            <a:endParaRPr kumimoji="1" lang="ja-JP" altLang="en-US" sz="1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CAE5D63-31EE-0DEC-7D56-C500B9475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40" y="2899384"/>
            <a:ext cx="8986685" cy="258910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94133FF-0BAB-3CC8-84DF-7919C963FA23}"/>
              </a:ext>
            </a:extLst>
          </p:cNvPr>
          <p:cNvSpPr/>
          <p:nvPr/>
        </p:nvSpPr>
        <p:spPr>
          <a:xfrm>
            <a:off x="6303645" y="3340762"/>
            <a:ext cx="4023360" cy="264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←</a:t>
            </a:r>
            <a:r>
              <a:rPr kumimoji="1" lang="en-US" altLang="ja-JP" sz="1100" b="1" dirty="0" err="1">
                <a:solidFill>
                  <a:schemeClr val="tx1"/>
                </a:solidFill>
              </a:rPr>
              <a:t>PlexCommunity</a:t>
            </a:r>
            <a:r>
              <a:rPr kumimoji="1" lang="ja-JP" altLang="en-US" sz="1100" b="1" dirty="0">
                <a:solidFill>
                  <a:schemeClr val="tx1"/>
                </a:solidFill>
              </a:rPr>
              <a:t>に対して有効化の依頼を行う必要がある</a:t>
            </a:r>
          </a:p>
        </p:txBody>
      </p:sp>
    </p:spTree>
    <p:extLst>
      <p:ext uri="{BB962C8B-B14F-4D97-AF65-F5344CB8AC3E}">
        <p14:creationId xmlns:p14="http://schemas.microsoft.com/office/powerpoint/2010/main" val="326327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A858CC-BF99-155E-AD16-E978E655C894}"/>
              </a:ext>
            </a:extLst>
          </p:cNvPr>
          <p:cNvSpPr txBox="1"/>
          <p:nvPr/>
        </p:nvSpPr>
        <p:spPr>
          <a:xfrm>
            <a:off x="496389" y="1236617"/>
            <a:ext cx="1134726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API</a:t>
            </a:r>
            <a:r>
              <a:rPr kumimoji="1" lang="ja-JP" altLang="en-US" sz="800" dirty="0"/>
              <a:t>をリクエストするためには認証情報（キー）が必要</a:t>
            </a:r>
            <a:endParaRPr kumimoji="1" lang="en-US" altLang="ja-JP" sz="800" dirty="0"/>
          </a:p>
          <a:p>
            <a:r>
              <a:rPr kumimoji="1" lang="en-US" altLang="ja-JP" sz="800" dirty="0"/>
              <a:t>Developer Portal</a:t>
            </a:r>
            <a:r>
              <a:rPr kumimoji="1" lang="ja-JP" altLang="en-US" sz="800" dirty="0"/>
              <a:t>上で発行することができる</a:t>
            </a:r>
            <a:endParaRPr kumimoji="1" lang="en-US" altLang="ja-JP" sz="800" dirty="0"/>
          </a:p>
          <a:p>
            <a:endParaRPr kumimoji="1" lang="en-US" altLang="ja-JP" sz="800" dirty="0"/>
          </a:p>
          <a:p>
            <a:endParaRPr kumimoji="1" lang="en-US" altLang="ja-JP" sz="800" dirty="0"/>
          </a:p>
          <a:p>
            <a:r>
              <a:rPr kumimoji="1" lang="ja-JP" altLang="en-US" sz="800" dirty="0"/>
              <a:t>■手順</a:t>
            </a: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r>
              <a:rPr kumimoji="1" lang="en-US" altLang="ja-JP" sz="800" dirty="0"/>
              <a:t>Developer Portal</a:t>
            </a:r>
            <a:r>
              <a:rPr kumimoji="1" lang="ja-JP" altLang="en-US" sz="800" dirty="0"/>
              <a:t>ログイン後、画面上部の</a:t>
            </a:r>
            <a:r>
              <a:rPr kumimoji="1" lang="en-US" altLang="ja-JP" sz="800" dirty="0"/>
              <a:t>My applications</a:t>
            </a:r>
            <a:r>
              <a:rPr kumimoji="1" lang="ja-JP" altLang="en-US" sz="800" dirty="0"/>
              <a:t>を</a:t>
            </a:r>
            <a:r>
              <a:rPr lang="ja-JP" altLang="en-US" sz="800" dirty="0"/>
              <a:t>押下</a:t>
            </a:r>
            <a:endParaRPr lang="en-US" altLang="ja-JP" sz="12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1200" dirty="0"/>
          </a:p>
          <a:p>
            <a:pPr marL="342900" indent="-342900">
              <a:buFont typeface="+mj-ea"/>
              <a:buAutoNum type="circleNumDbPlain"/>
            </a:pPr>
            <a:endParaRPr lang="en-US" altLang="ja-JP" sz="12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1200" dirty="0"/>
          </a:p>
          <a:p>
            <a:pPr marL="342900" indent="-342900">
              <a:buFont typeface="+mj-ea"/>
              <a:buAutoNum type="circleNumDbPlain"/>
            </a:pPr>
            <a:r>
              <a:rPr kumimoji="1" lang="ja-JP" altLang="en-US" sz="800" dirty="0"/>
              <a:t>「</a:t>
            </a:r>
            <a:r>
              <a:rPr kumimoji="1" lang="en-US" altLang="ja-JP" sz="800" dirty="0"/>
              <a:t>Add</a:t>
            </a:r>
            <a:r>
              <a:rPr kumimoji="1" lang="ja-JP" altLang="en-US" sz="800" dirty="0"/>
              <a:t>」を押下し、必要情報を入力し</a:t>
            </a:r>
            <a:r>
              <a:rPr kumimoji="1" lang="en-US" altLang="ja-JP" sz="800" dirty="0"/>
              <a:t>OK</a:t>
            </a:r>
            <a:r>
              <a:rPr kumimoji="1" lang="ja-JP" altLang="en-US" sz="800" dirty="0"/>
              <a:t>を押下</a:t>
            </a: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r>
              <a:rPr kumimoji="1" lang="en-US" altLang="ja-JP" sz="800" dirty="0"/>
              <a:t>OK</a:t>
            </a:r>
            <a:r>
              <a:rPr kumimoji="1" lang="ja-JP" altLang="en-US" sz="800" dirty="0"/>
              <a:t>を押下すると、一覧に作成したキーが表示される</a:t>
            </a: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DC56E8C-4327-A1AF-277E-3D79CD92B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517" y="1988777"/>
            <a:ext cx="2538965" cy="2349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58E49D59-7303-2D0F-EB5C-5732A3D16480}"/>
              </a:ext>
            </a:extLst>
          </p:cNvPr>
          <p:cNvSpPr/>
          <p:nvPr/>
        </p:nvSpPr>
        <p:spPr>
          <a:xfrm>
            <a:off x="5033962" y="2542026"/>
            <a:ext cx="2071687" cy="15821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AB231FF-4F4E-F10D-9176-F87081EF5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API</a:t>
            </a:r>
            <a:r>
              <a:rPr kumimoji="1" lang="ja-JP" altLang="en-US" sz="3600" dirty="0"/>
              <a:t>キーの発行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EF2E64-986C-5EB0-4B08-BB7A4B326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083"/>
          <a:stretch>
            <a:fillRect/>
          </a:stretch>
        </p:blipFill>
        <p:spPr>
          <a:xfrm>
            <a:off x="940753" y="2178862"/>
            <a:ext cx="2242185" cy="2789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845ABE3-FC58-BC6A-51AA-E5F679ADFE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312"/>
          <a:stretch>
            <a:fillRect/>
          </a:stretch>
        </p:blipFill>
        <p:spPr>
          <a:xfrm>
            <a:off x="932253" y="2870123"/>
            <a:ext cx="2813685" cy="490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B653268-4E76-50E6-7A0A-4DED4D686A3D}"/>
              </a:ext>
            </a:extLst>
          </p:cNvPr>
          <p:cNvSpPr/>
          <p:nvPr/>
        </p:nvSpPr>
        <p:spPr>
          <a:xfrm>
            <a:off x="6210300" y="2581174"/>
            <a:ext cx="1028700" cy="1190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500" dirty="0">
                <a:solidFill>
                  <a:schemeClr val="tx1"/>
                </a:solidFill>
              </a:rPr>
              <a:t>キーの管理名（自由記載）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9545B56-CF95-8E4E-9C82-49129EFA370D}"/>
              </a:ext>
            </a:extLst>
          </p:cNvPr>
          <p:cNvCxnSpPr>
            <a:cxnSpLocks/>
          </p:cNvCxnSpPr>
          <p:nvPr/>
        </p:nvCxnSpPr>
        <p:spPr>
          <a:xfrm flipH="1">
            <a:off x="5934075" y="2630907"/>
            <a:ext cx="271463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AF411A6-781D-3897-43D3-36318CB037A1}"/>
              </a:ext>
            </a:extLst>
          </p:cNvPr>
          <p:cNvSpPr/>
          <p:nvPr/>
        </p:nvSpPr>
        <p:spPr>
          <a:xfrm>
            <a:off x="5053013" y="3050008"/>
            <a:ext cx="2071687" cy="257745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56B65CA-427C-335E-69DF-9ACAE0BEEF67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7124700" y="2817137"/>
            <a:ext cx="738926" cy="36174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344CB57D-27E4-34DC-4D8C-FBE32C66BDD5}"/>
              </a:ext>
            </a:extLst>
          </p:cNvPr>
          <p:cNvSpPr/>
          <p:nvPr/>
        </p:nvSpPr>
        <p:spPr>
          <a:xfrm>
            <a:off x="9203688" y="2519365"/>
            <a:ext cx="2323150" cy="36174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500" dirty="0">
                <a:solidFill>
                  <a:schemeClr val="tx1"/>
                </a:solidFill>
              </a:rPr>
              <a:t>API</a:t>
            </a:r>
            <a:r>
              <a:rPr kumimoji="1" lang="ja-JP" altLang="en-US" sz="500" dirty="0">
                <a:solidFill>
                  <a:schemeClr val="tx1"/>
                </a:solidFill>
              </a:rPr>
              <a:t>カテゴリ：アクセスする</a:t>
            </a:r>
            <a:r>
              <a:rPr kumimoji="1" lang="en-US" altLang="ja-JP" sz="500" dirty="0">
                <a:solidFill>
                  <a:schemeClr val="tx1"/>
                </a:solidFill>
              </a:rPr>
              <a:t>API</a:t>
            </a:r>
            <a:r>
              <a:rPr kumimoji="1" lang="ja-JP" altLang="en-US" sz="500" dirty="0">
                <a:solidFill>
                  <a:schemeClr val="tx1"/>
                </a:solidFill>
              </a:rPr>
              <a:t>を制限する項目</a:t>
            </a:r>
            <a:endParaRPr kumimoji="1" lang="en-US" altLang="ja-JP" sz="500" dirty="0">
              <a:solidFill>
                <a:schemeClr val="tx1"/>
              </a:solidFill>
            </a:endParaRPr>
          </a:p>
          <a:p>
            <a:r>
              <a:rPr kumimoji="1" lang="ja-JP" altLang="en-US" sz="500" dirty="0">
                <a:solidFill>
                  <a:schemeClr val="tx1"/>
                </a:solidFill>
              </a:rPr>
              <a:t>必要に応じてチェックボックス選択</a:t>
            </a:r>
            <a:endParaRPr kumimoji="1" lang="en-US" altLang="ja-JP" sz="500" dirty="0">
              <a:solidFill>
                <a:schemeClr val="tx1"/>
              </a:solidFill>
            </a:endParaRPr>
          </a:p>
          <a:p>
            <a:r>
              <a:rPr lang="en-US" altLang="ja-JP" sz="500" dirty="0">
                <a:solidFill>
                  <a:schemeClr val="tx1"/>
                </a:solidFill>
              </a:rPr>
              <a:t>※</a:t>
            </a:r>
            <a:r>
              <a:rPr lang="ja-JP" altLang="en-US" sz="500" dirty="0">
                <a:solidFill>
                  <a:schemeClr val="tx1"/>
                </a:solidFill>
              </a:rPr>
              <a:t>どれを選択するとどの</a:t>
            </a:r>
            <a:r>
              <a:rPr lang="en-US" altLang="ja-JP" sz="500" dirty="0">
                <a:solidFill>
                  <a:schemeClr val="tx1"/>
                </a:solidFill>
              </a:rPr>
              <a:t>API</a:t>
            </a:r>
            <a:r>
              <a:rPr lang="ja-JP" altLang="en-US" sz="500" dirty="0">
                <a:solidFill>
                  <a:schemeClr val="tx1"/>
                </a:solidFill>
              </a:rPr>
              <a:t>が利用できるようになるかの情報が無い</a:t>
            </a:r>
            <a:endParaRPr lang="en-US" altLang="ja-JP" sz="500" dirty="0">
              <a:solidFill>
                <a:schemeClr val="tx1"/>
              </a:solidFill>
            </a:endParaRPr>
          </a:p>
          <a:p>
            <a:r>
              <a:rPr lang="ja-JP" altLang="en-US" sz="500" dirty="0">
                <a:solidFill>
                  <a:schemeClr val="tx1"/>
                </a:solidFill>
              </a:rPr>
              <a:t>　現状、全件チェックした動作のみ確認している</a:t>
            </a:r>
            <a:endParaRPr lang="en-US" altLang="ja-JP" sz="500" dirty="0">
              <a:solidFill>
                <a:schemeClr val="tx1"/>
              </a:solidFill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D66EDC4-1306-FEF8-A691-B2DE987D9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626" y="2378889"/>
            <a:ext cx="1193847" cy="92886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0F660AAA-EFCB-3A7D-31DD-79218B448EEA}"/>
              </a:ext>
            </a:extLst>
          </p:cNvPr>
          <p:cNvSpPr/>
          <p:nvPr/>
        </p:nvSpPr>
        <p:spPr>
          <a:xfrm>
            <a:off x="5033962" y="3360400"/>
            <a:ext cx="2071687" cy="38017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818E4458-0452-1BCC-F385-B12A338B6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626" y="3833906"/>
            <a:ext cx="1193848" cy="875860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4C0DBF0-D88E-C14C-545B-B96B89F5A652}"/>
              </a:ext>
            </a:extLst>
          </p:cNvPr>
          <p:cNvSpPr/>
          <p:nvPr/>
        </p:nvSpPr>
        <p:spPr>
          <a:xfrm>
            <a:off x="9111613" y="3920340"/>
            <a:ext cx="2323150" cy="42940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500" dirty="0">
                <a:solidFill>
                  <a:schemeClr val="tx1"/>
                </a:solidFill>
              </a:rPr>
              <a:t>作成するキーの有効期限</a:t>
            </a:r>
            <a:endParaRPr lang="en-US" altLang="ja-JP" sz="500" dirty="0">
              <a:solidFill>
                <a:schemeClr val="tx1"/>
              </a:solidFill>
            </a:endParaRPr>
          </a:p>
          <a:p>
            <a:r>
              <a:rPr lang="ja-JP" altLang="en-US" sz="500" dirty="0">
                <a:solidFill>
                  <a:schemeClr val="tx1"/>
                </a:solidFill>
              </a:rPr>
              <a:t>設定した有効期限を過ぎると認証情報は失効し使用出来なくなる</a:t>
            </a:r>
            <a:endParaRPr lang="en-US" altLang="ja-JP" sz="500" dirty="0">
              <a:solidFill>
                <a:schemeClr val="tx1"/>
              </a:solidFill>
            </a:endParaRPr>
          </a:p>
          <a:p>
            <a:r>
              <a:rPr lang="en-US" altLang="ja-JP" sz="500" dirty="0">
                <a:solidFill>
                  <a:schemeClr val="tx1"/>
                </a:solidFill>
              </a:rPr>
              <a:t>※</a:t>
            </a:r>
            <a:r>
              <a:rPr lang="ja-JP" altLang="en-US" sz="500" dirty="0">
                <a:solidFill>
                  <a:schemeClr val="tx1"/>
                </a:solidFill>
              </a:rPr>
              <a:t>失効した場合は再発行が必要</a:t>
            </a:r>
            <a:endParaRPr lang="en-US" altLang="ja-JP" sz="500" dirty="0">
              <a:solidFill>
                <a:schemeClr val="tx1"/>
              </a:solidFill>
            </a:endParaRPr>
          </a:p>
          <a:p>
            <a:r>
              <a:rPr lang="en-US" altLang="ja-JP" sz="500" dirty="0">
                <a:solidFill>
                  <a:schemeClr val="tx1"/>
                </a:solidFill>
              </a:rPr>
              <a:t>[Never]</a:t>
            </a:r>
            <a:r>
              <a:rPr lang="ja-JP" altLang="en-US" sz="500" dirty="0">
                <a:solidFill>
                  <a:schemeClr val="tx1"/>
                </a:solidFill>
              </a:rPr>
              <a:t>のパラメータにすると有効期限は無くなる</a:t>
            </a:r>
            <a:endParaRPr lang="en-US" altLang="ja-JP" sz="500" dirty="0">
              <a:solidFill>
                <a:schemeClr val="tx1"/>
              </a:solidFill>
            </a:endParaRPr>
          </a:p>
          <a:p>
            <a:endParaRPr lang="en-US" altLang="ja-JP" sz="500" dirty="0">
              <a:solidFill>
                <a:schemeClr val="tx1"/>
              </a:solidFill>
            </a:endParaRP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DD64B08B-B55B-AD4B-A2C1-8DD19B8433CA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7105649" y="3550485"/>
            <a:ext cx="757977" cy="72135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図 36">
            <a:extLst>
              <a:ext uri="{FF2B5EF4-FFF2-40B4-BE49-F238E27FC236}">
                <a16:creationId xmlns:a16="http://schemas.microsoft.com/office/drawing/2014/main" id="{4FB13282-A66D-262E-E37E-48CA60442B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2367" b="15242"/>
          <a:stretch>
            <a:fillRect/>
          </a:stretch>
        </p:blipFill>
        <p:spPr>
          <a:xfrm>
            <a:off x="932253" y="4349743"/>
            <a:ext cx="2165170" cy="1136119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589EA35-5DF6-F72E-191A-BE64026C6886}"/>
              </a:ext>
            </a:extLst>
          </p:cNvPr>
          <p:cNvSpPr txBox="1"/>
          <p:nvPr/>
        </p:nvSpPr>
        <p:spPr>
          <a:xfrm>
            <a:off x="5077442" y="2530879"/>
            <a:ext cx="470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APIkey</a:t>
            </a:r>
            <a:endParaRPr kumimoji="1" lang="ja-JP" altLang="en-US" sz="700" dirty="0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AF0B5935-E09D-630C-2794-586CD3A6E1FB}"/>
              </a:ext>
            </a:extLst>
          </p:cNvPr>
          <p:cNvSpPr/>
          <p:nvPr/>
        </p:nvSpPr>
        <p:spPr>
          <a:xfrm>
            <a:off x="4051295" y="2859836"/>
            <a:ext cx="469864" cy="60751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56A6D54-84AF-E9BA-C839-C1D91A1E48E8}"/>
              </a:ext>
            </a:extLst>
          </p:cNvPr>
          <p:cNvSpPr/>
          <p:nvPr/>
        </p:nvSpPr>
        <p:spPr>
          <a:xfrm>
            <a:off x="6857999" y="3932730"/>
            <a:ext cx="381001" cy="38017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16928CD3-F207-0A0B-BFE3-9125B00AFABA}"/>
              </a:ext>
            </a:extLst>
          </p:cNvPr>
          <p:cNvSpPr/>
          <p:nvPr/>
        </p:nvSpPr>
        <p:spPr>
          <a:xfrm>
            <a:off x="932253" y="4887112"/>
            <a:ext cx="393627" cy="190085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7873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FEFC42-2413-91ED-8A51-B3538AB3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API</a:t>
            </a:r>
            <a:r>
              <a:rPr kumimoji="1" lang="ja-JP" altLang="en-US" dirty="0"/>
              <a:t>リクエスト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B87792-E1BE-820B-1B4A-B4A626C0C2B8}"/>
              </a:ext>
            </a:extLst>
          </p:cNvPr>
          <p:cNvSpPr txBox="1"/>
          <p:nvPr/>
        </p:nvSpPr>
        <p:spPr>
          <a:xfrm>
            <a:off x="496389" y="1236617"/>
            <a:ext cx="11347268" cy="52014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発行した</a:t>
            </a:r>
            <a:r>
              <a:rPr kumimoji="1" lang="en-US" altLang="ja-JP" sz="800" dirty="0"/>
              <a:t>API</a:t>
            </a:r>
            <a:r>
              <a:rPr kumimoji="1" lang="ja-JP" altLang="en-US" sz="800" dirty="0"/>
              <a:t>キーを認証情報として</a:t>
            </a:r>
            <a:r>
              <a:rPr kumimoji="1" lang="en-US" altLang="ja-JP" sz="800" dirty="0"/>
              <a:t>API</a:t>
            </a:r>
            <a:r>
              <a:rPr kumimoji="1" lang="ja-JP" altLang="en-US" sz="800" dirty="0"/>
              <a:t>リクエストを行う</a:t>
            </a:r>
            <a:endParaRPr kumimoji="1" lang="en-US" altLang="ja-JP" sz="800" dirty="0"/>
          </a:p>
          <a:p>
            <a:r>
              <a:rPr kumimoji="1" lang="en-US" altLang="ja-JP" sz="800" dirty="0"/>
              <a:t>API</a:t>
            </a:r>
            <a:r>
              <a:rPr kumimoji="1" lang="ja-JP" altLang="en-US" sz="800" dirty="0"/>
              <a:t>リクエストを行うツールは何でも良いが「</a:t>
            </a:r>
            <a:r>
              <a:rPr kumimoji="1" lang="en-US" altLang="ja-JP" sz="800" dirty="0"/>
              <a:t>Postman</a:t>
            </a:r>
            <a:r>
              <a:rPr kumimoji="1" lang="ja-JP" altLang="en-US" sz="800" dirty="0"/>
              <a:t>」で紹介する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en-US" altLang="ja-JP" sz="800" dirty="0" err="1"/>
              <a:t>PlexCommunity</a:t>
            </a:r>
            <a:r>
              <a:rPr lang="ja-JP" altLang="en-US" sz="800" dirty="0"/>
              <a:t>でも検証用ツールとしては</a:t>
            </a:r>
            <a:r>
              <a:rPr lang="en-US" altLang="ja-JP" sz="800" dirty="0"/>
              <a:t>Postman</a:t>
            </a:r>
            <a:r>
              <a:rPr lang="ja-JP" altLang="en-US" sz="800" dirty="0"/>
              <a:t>を紹介されてる</a:t>
            </a:r>
            <a:endParaRPr lang="en-US" altLang="ja-JP" sz="800" dirty="0"/>
          </a:p>
          <a:p>
            <a:endParaRPr lang="en-US" altLang="ja-JP" sz="800" dirty="0"/>
          </a:p>
          <a:p>
            <a:r>
              <a:rPr kumimoji="1" lang="ja-JP" altLang="en-US" sz="800" dirty="0"/>
              <a:t>■参考</a:t>
            </a:r>
            <a:endParaRPr kumimoji="1" lang="en-US" altLang="ja-JP" sz="800" dirty="0"/>
          </a:p>
          <a:p>
            <a:r>
              <a:rPr lang="en-US" altLang="ja-JP" sz="800" dirty="0">
                <a:hlinkClick r:id="rId2"/>
              </a:rPr>
              <a:t>Postman API </a:t>
            </a:r>
            <a:r>
              <a:rPr lang="ja-JP" altLang="en-US" sz="800" dirty="0">
                <a:hlinkClick r:id="rId2"/>
              </a:rPr>
              <a:t>プラットフォーム</a:t>
            </a:r>
            <a:endParaRPr kumimoji="1" lang="en-US" altLang="ja-JP" sz="800" dirty="0"/>
          </a:p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利用にアカウント登録（無料）が必要</a:t>
            </a:r>
            <a:endParaRPr kumimoji="1" lang="en-US" altLang="ja-JP" sz="800" dirty="0"/>
          </a:p>
          <a:p>
            <a:endParaRPr kumimoji="1" lang="en-US" altLang="ja-JP" sz="800" dirty="0"/>
          </a:p>
          <a:p>
            <a:endParaRPr kumimoji="1" lang="en-US" altLang="ja-JP" sz="800" dirty="0"/>
          </a:p>
          <a:p>
            <a:r>
              <a:rPr kumimoji="1" lang="ja-JP" altLang="en-US" sz="800" dirty="0"/>
              <a:t>■手順</a:t>
            </a: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r>
              <a:rPr kumimoji="1" lang="en-US" altLang="ja-JP" sz="800" dirty="0"/>
              <a:t>Developer Portal</a:t>
            </a:r>
            <a:r>
              <a:rPr kumimoji="1" lang="ja-JP" altLang="en-US" sz="800" dirty="0"/>
              <a:t>上で作成したキーを選択し、</a:t>
            </a:r>
            <a:r>
              <a:rPr lang="ja-JP" altLang="en-US" sz="800" dirty="0"/>
              <a:t>「</a:t>
            </a:r>
            <a:r>
              <a:rPr lang="en-US" altLang="ja-JP" sz="800" b="1" dirty="0"/>
              <a:t>Consumer Key</a:t>
            </a:r>
            <a:r>
              <a:rPr lang="ja-JP" altLang="en-US" sz="800" dirty="0"/>
              <a:t>」の情報を確認する</a:t>
            </a: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br>
              <a:rPr lang="en-US" altLang="ja-JP" sz="800" dirty="0"/>
            </a:br>
            <a:endParaRPr lang="en-US" altLang="ja-JP" sz="1200" dirty="0"/>
          </a:p>
          <a:p>
            <a:pPr marL="342900" indent="-342900">
              <a:buFont typeface="+mj-ea"/>
              <a:buAutoNum type="circleNumDbPlain"/>
            </a:pPr>
            <a:r>
              <a:rPr kumimoji="1" lang="ja-JP" altLang="en-US" sz="800" dirty="0"/>
              <a:t>パラメータを入力し、送信（</a:t>
            </a:r>
            <a:r>
              <a:rPr kumimoji="1" lang="en-US" altLang="ja-JP" sz="800" dirty="0"/>
              <a:t>Submit</a:t>
            </a:r>
            <a:r>
              <a:rPr kumimoji="1" lang="ja-JP" altLang="en-US" sz="800" dirty="0"/>
              <a:t>）を押下</a:t>
            </a:r>
            <a:br>
              <a:rPr lang="en-US" altLang="ja-JP" sz="800" dirty="0"/>
            </a:br>
            <a:r>
              <a:rPr lang="en-US" altLang="ja-JP" sz="800" dirty="0"/>
              <a:t>HTTP</a:t>
            </a:r>
            <a:r>
              <a:rPr lang="ja-JP" altLang="en-US" sz="800" dirty="0"/>
              <a:t>ステータスが「</a:t>
            </a:r>
            <a:r>
              <a:rPr lang="en-US" altLang="ja-JP" sz="800" dirty="0"/>
              <a:t>200 OK</a:t>
            </a:r>
            <a:r>
              <a:rPr lang="ja-JP" altLang="en-US" sz="800" dirty="0"/>
              <a:t>」と表示されたら</a:t>
            </a:r>
            <a:r>
              <a:rPr lang="en-US" altLang="ja-JP" sz="800" dirty="0"/>
              <a:t>API</a:t>
            </a:r>
            <a:r>
              <a:rPr lang="ja-JP" altLang="en-US" sz="800" dirty="0"/>
              <a:t>が正常にできている</a:t>
            </a: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  <a:p>
            <a:pPr marL="342900" indent="-342900">
              <a:buFont typeface="+mj-ea"/>
              <a:buAutoNum type="circleNumDbPlain"/>
            </a:pPr>
            <a:endParaRPr kumimoji="1" lang="en-US" altLang="ja-JP" sz="8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4970F26-981A-0E6E-B95F-11EBCF170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471"/>
          <a:stretch>
            <a:fillRect/>
          </a:stretch>
        </p:blipFill>
        <p:spPr>
          <a:xfrm>
            <a:off x="912577" y="2787190"/>
            <a:ext cx="2680525" cy="824478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2B9A00D-77D9-CA0A-3BF8-05925CC523B0}"/>
              </a:ext>
            </a:extLst>
          </p:cNvPr>
          <p:cNvSpPr/>
          <p:nvPr/>
        </p:nvSpPr>
        <p:spPr>
          <a:xfrm>
            <a:off x="2009775" y="3402806"/>
            <a:ext cx="1583327" cy="8810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E1D2B6F-3608-E2B1-D21F-3BE4FA80A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4100361"/>
            <a:ext cx="4645025" cy="2511591"/>
          </a:xfrm>
          <a:prstGeom prst="rect">
            <a:avLst/>
          </a:prstGeom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D5ACDD5-7051-8269-470D-97D8A61E2D12}"/>
              </a:ext>
            </a:extLst>
          </p:cNvPr>
          <p:cNvSpPr/>
          <p:nvPr/>
        </p:nvSpPr>
        <p:spPr>
          <a:xfrm>
            <a:off x="864447" y="4221117"/>
            <a:ext cx="1351653" cy="16800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5DC697C-D63F-97B2-3A34-9EFB7D0E6CBB}"/>
              </a:ext>
            </a:extLst>
          </p:cNvPr>
          <p:cNvSpPr/>
          <p:nvPr/>
        </p:nvSpPr>
        <p:spPr>
          <a:xfrm>
            <a:off x="2490787" y="4263827"/>
            <a:ext cx="1430338" cy="1190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500" dirty="0">
                <a:solidFill>
                  <a:schemeClr val="tx1"/>
                </a:solidFill>
              </a:rPr>
              <a:t>リクエストする</a:t>
            </a:r>
            <a:r>
              <a:rPr kumimoji="1" lang="en-US" altLang="ja-JP" sz="500" dirty="0">
                <a:solidFill>
                  <a:schemeClr val="tx1"/>
                </a:solidFill>
              </a:rPr>
              <a:t>API</a:t>
            </a:r>
            <a:r>
              <a:rPr kumimoji="1" lang="ja-JP" altLang="en-US" sz="500" dirty="0">
                <a:solidFill>
                  <a:schemeClr val="tx1"/>
                </a:solidFill>
              </a:rPr>
              <a:t>のリソース</a:t>
            </a:r>
            <a:r>
              <a:rPr kumimoji="1" lang="en-US" altLang="ja-JP" sz="500" dirty="0">
                <a:solidFill>
                  <a:schemeClr val="tx1"/>
                </a:solidFill>
              </a:rPr>
              <a:t>URL</a:t>
            </a:r>
            <a:r>
              <a:rPr kumimoji="1" lang="ja-JP" altLang="en-US" sz="500" dirty="0">
                <a:solidFill>
                  <a:schemeClr val="tx1"/>
                </a:solidFill>
              </a:rPr>
              <a:t>を入力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4C4A3F7-CFE5-F9BE-4849-4DFB2F447049}"/>
              </a:ext>
            </a:extLst>
          </p:cNvPr>
          <p:cNvCxnSpPr>
            <a:cxnSpLocks/>
          </p:cNvCxnSpPr>
          <p:nvPr/>
        </p:nvCxnSpPr>
        <p:spPr>
          <a:xfrm flipH="1">
            <a:off x="2214562" y="4313560"/>
            <a:ext cx="271463" cy="0"/>
          </a:xfrm>
          <a:prstGeom prst="straightConnector1">
            <a:avLst/>
          </a:prstGeom>
          <a:ln w="1270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0943EB1-CA9C-04EC-718F-C1D3C2FD8C3E}"/>
              </a:ext>
            </a:extLst>
          </p:cNvPr>
          <p:cNvSpPr/>
          <p:nvPr/>
        </p:nvSpPr>
        <p:spPr>
          <a:xfrm>
            <a:off x="990599" y="5207797"/>
            <a:ext cx="2602503" cy="121439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7B34BA1-5E38-CBA2-E9C2-9F9B10649E72}"/>
              </a:ext>
            </a:extLst>
          </p:cNvPr>
          <p:cNvSpPr/>
          <p:nvPr/>
        </p:nvSpPr>
        <p:spPr>
          <a:xfrm>
            <a:off x="3858364" y="4988543"/>
            <a:ext cx="1928814" cy="24936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500" dirty="0">
                <a:solidFill>
                  <a:schemeClr val="tx1"/>
                </a:solidFill>
              </a:rPr>
              <a:t>Header</a:t>
            </a:r>
            <a:r>
              <a:rPr kumimoji="1" lang="ja-JP" altLang="en-US" sz="500" dirty="0">
                <a:solidFill>
                  <a:schemeClr val="tx1"/>
                </a:solidFill>
              </a:rPr>
              <a:t>に新規で「</a:t>
            </a:r>
            <a:r>
              <a:rPr lang="en-US" altLang="ja-JP" sz="500" dirty="0">
                <a:solidFill>
                  <a:schemeClr val="tx1"/>
                </a:solidFill>
              </a:rPr>
              <a:t>X-Plex-Connect-Api-Key</a:t>
            </a:r>
            <a:r>
              <a:rPr lang="ja-JP" altLang="en-US" sz="500" dirty="0">
                <a:solidFill>
                  <a:schemeClr val="tx1"/>
                </a:solidFill>
              </a:rPr>
              <a:t>」のキーを追加</a:t>
            </a:r>
            <a:endParaRPr lang="en-US" altLang="ja-JP" sz="500" dirty="0">
              <a:solidFill>
                <a:schemeClr val="tx1"/>
              </a:solidFill>
            </a:endParaRPr>
          </a:p>
          <a:p>
            <a:r>
              <a:rPr lang="ja-JP" altLang="en-US" sz="500" dirty="0">
                <a:solidFill>
                  <a:schemeClr val="tx1"/>
                </a:solidFill>
              </a:rPr>
              <a:t>値に①で確認した「</a:t>
            </a:r>
            <a:r>
              <a:rPr lang="en-US" altLang="ja-JP" sz="500" dirty="0">
                <a:solidFill>
                  <a:schemeClr val="tx1"/>
                </a:solidFill>
              </a:rPr>
              <a:t> Consumer Key </a:t>
            </a:r>
            <a:r>
              <a:rPr lang="ja-JP" altLang="en-US" sz="500" dirty="0">
                <a:solidFill>
                  <a:schemeClr val="tx1"/>
                </a:solidFill>
              </a:rPr>
              <a:t>」を入力</a:t>
            </a:r>
            <a:endParaRPr lang="en-US" altLang="ja-JP" sz="500" dirty="0">
              <a:solidFill>
                <a:schemeClr val="tx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F8C6D15-102C-62F3-0B88-60C1D964CEC5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593102" y="5113228"/>
            <a:ext cx="265262" cy="163898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81EB144-B1BA-0CE4-1EE1-AB0B95CDF15B}"/>
              </a:ext>
            </a:extLst>
          </p:cNvPr>
          <p:cNvSpPr/>
          <p:nvPr/>
        </p:nvSpPr>
        <p:spPr>
          <a:xfrm>
            <a:off x="4346520" y="5422459"/>
            <a:ext cx="476251" cy="116328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FEE3738D-72F2-5B05-C2A0-DCA35649A9DB}"/>
              </a:ext>
            </a:extLst>
          </p:cNvPr>
          <p:cNvSpPr/>
          <p:nvPr/>
        </p:nvSpPr>
        <p:spPr>
          <a:xfrm>
            <a:off x="5131593" y="5357726"/>
            <a:ext cx="1928814" cy="24936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500" dirty="0">
                <a:solidFill>
                  <a:schemeClr val="tx1"/>
                </a:solidFill>
              </a:rPr>
              <a:t>送信（</a:t>
            </a:r>
            <a:r>
              <a:rPr lang="en-US" altLang="ja-JP" sz="500" dirty="0">
                <a:solidFill>
                  <a:schemeClr val="tx1"/>
                </a:solidFill>
              </a:rPr>
              <a:t>Submit</a:t>
            </a:r>
            <a:r>
              <a:rPr lang="ja-JP" altLang="en-US" sz="500" dirty="0">
                <a:solidFill>
                  <a:schemeClr val="tx1"/>
                </a:solidFill>
              </a:rPr>
              <a:t>）後、「</a:t>
            </a:r>
            <a:r>
              <a:rPr lang="en-US" altLang="ja-JP" sz="500" dirty="0">
                <a:solidFill>
                  <a:schemeClr val="tx1"/>
                </a:solidFill>
              </a:rPr>
              <a:t>200 OK</a:t>
            </a:r>
            <a:r>
              <a:rPr lang="ja-JP" altLang="en-US" sz="500" dirty="0">
                <a:solidFill>
                  <a:schemeClr val="tx1"/>
                </a:solidFill>
              </a:rPr>
              <a:t>」のレスポンスであれば</a:t>
            </a:r>
            <a:endParaRPr lang="en-US" altLang="ja-JP" sz="500" dirty="0">
              <a:solidFill>
                <a:schemeClr val="tx1"/>
              </a:solidFill>
            </a:endParaRPr>
          </a:p>
          <a:p>
            <a:r>
              <a:rPr lang="ja-JP" altLang="en-US" sz="500" dirty="0">
                <a:solidFill>
                  <a:schemeClr val="tx1"/>
                </a:solidFill>
              </a:rPr>
              <a:t>正常に実行できている</a:t>
            </a:r>
            <a:endParaRPr lang="en-US" altLang="ja-JP" sz="500" dirty="0">
              <a:solidFill>
                <a:schemeClr val="tx1"/>
              </a:solidFill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732EF32-514E-4FD2-7396-9CBB2DAF95AB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 flipV="1">
            <a:off x="4822771" y="5480623"/>
            <a:ext cx="308822" cy="1788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D29B2E4-BF95-EC7A-4848-95B11D0A254B}"/>
              </a:ext>
            </a:extLst>
          </p:cNvPr>
          <p:cNvSpPr/>
          <p:nvPr/>
        </p:nvSpPr>
        <p:spPr>
          <a:xfrm>
            <a:off x="5167313" y="4221117"/>
            <a:ext cx="496888" cy="207952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086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46B58-2868-097C-540F-7BAA3946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</a:t>
            </a:r>
            <a:r>
              <a:rPr kumimoji="1" lang="en-US" altLang="ja-JP" dirty="0"/>
              <a:t>—</a:t>
            </a:r>
            <a:r>
              <a:rPr kumimoji="1" lang="ja-JP" altLang="en-US" dirty="0"/>
              <a:t>リクエストソース</a:t>
            </a:r>
            <a:r>
              <a:rPr kumimoji="1" lang="en-US" altLang="ja-JP" dirty="0"/>
              <a:t>URL</a:t>
            </a:r>
            <a:r>
              <a:rPr kumimoji="1" lang="ja-JP" altLang="en-US" dirty="0"/>
              <a:t>の確認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FF5D35D-6BD3-E80A-921C-52EF95E4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" y="1836781"/>
            <a:ext cx="6555832" cy="359281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0E4843-603C-B823-8495-59527B19FF44}"/>
              </a:ext>
            </a:extLst>
          </p:cNvPr>
          <p:cNvSpPr txBox="1"/>
          <p:nvPr/>
        </p:nvSpPr>
        <p:spPr>
          <a:xfrm>
            <a:off x="496389" y="1236617"/>
            <a:ext cx="11347268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リクエストリソースは「</a:t>
            </a:r>
            <a:r>
              <a:rPr lang="en-US" altLang="ja-JP" sz="800" dirty="0"/>
              <a:t>API Documentation</a:t>
            </a:r>
            <a:r>
              <a:rPr lang="ja-JP" altLang="en-US" sz="800" dirty="0"/>
              <a:t>」より確認できます。</a:t>
            </a:r>
            <a:endParaRPr lang="en-US" altLang="ja-JP" sz="800" dirty="0"/>
          </a:p>
          <a:p>
            <a:r>
              <a:rPr lang="ja-JP" altLang="en-US" sz="800" dirty="0"/>
              <a:t>一部</a:t>
            </a:r>
            <a:r>
              <a:rPr lang="en-US" altLang="ja-JP" sz="800" dirty="0"/>
              <a:t>API</a:t>
            </a:r>
            <a:r>
              <a:rPr lang="ja-JP" altLang="en-US" sz="800" dirty="0"/>
              <a:t>は</a:t>
            </a:r>
            <a:r>
              <a:rPr lang="en-US" altLang="ja-JP" sz="800" dirty="0"/>
              <a:t>[Try</a:t>
            </a:r>
            <a:r>
              <a:rPr lang="ja-JP" altLang="en-US" sz="800" dirty="0"/>
              <a:t> </a:t>
            </a:r>
            <a:r>
              <a:rPr lang="en-US" altLang="ja-JP" sz="800" dirty="0"/>
              <a:t>This</a:t>
            </a:r>
            <a:r>
              <a:rPr lang="ja-JP" altLang="en-US" sz="800" dirty="0"/>
              <a:t> </a:t>
            </a:r>
            <a:r>
              <a:rPr lang="en-US" altLang="ja-JP" sz="800" dirty="0"/>
              <a:t>API]</a:t>
            </a:r>
            <a:r>
              <a:rPr lang="ja-JP" altLang="en-US" sz="800" dirty="0"/>
              <a:t>の機能があり、この画面内で検証を行うこと</a:t>
            </a:r>
            <a:r>
              <a:rPr lang="ja-JP" altLang="en-US" sz="800"/>
              <a:t>ができる</a:t>
            </a:r>
            <a:endParaRPr lang="en-US" altLang="ja-JP" sz="8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CB4B9EA-10AF-1073-7B95-6E64FB5AEBAB}"/>
              </a:ext>
            </a:extLst>
          </p:cNvPr>
          <p:cNvSpPr/>
          <p:nvPr/>
        </p:nvSpPr>
        <p:spPr>
          <a:xfrm>
            <a:off x="731520" y="1994263"/>
            <a:ext cx="1193074" cy="67056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39647B7-79E6-6F5C-A321-13D004634727}"/>
              </a:ext>
            </a:extLst>
          </p:cNvPr>
          <p:cNvSpPr/>
          <p:nvPr/>
        </p:nvSpPr>
        <p:spPr>
          <a:xfrm>
            <a:off x="6393839" y="2073708"/>
            <a:ext cx="857794" cy="337044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365200"/>
      </p:ext>
    </p:extLst>
  </p:cSld>
  <p:clrMapOvr>
    <a:masterClrMapping/>
  </p:clrMapOvr>
</p:sld>
</file>

<file path=ppt/theme/theme1.xml><?xml version="1.0" encoding="utf-8"?>
<a:theme xmlns:a="http://schemas.openxmlformats.org/drawingml/2006/main" name="NSWテンプ">
  <a:themeElements>
    <a:clrScheme name="NSW">
      <a:dk1>
        <a:srgbClr val="000000"/>
      </a:dk1>
      <a:lt1>
        <a:srgbClr val="FFFFFF"/>
      </a:lt1>
      <a:dk2>
        <a:srgbClr val="014097"/>
      </a:dk2>
      <a:lt2>
        <a:srgbClr val="3278E8"/>
      </a:lt2>
      <a:accent1>
        <a:srgbClr val="E1690D"/>
      </a:accent1>
      <a:accent2>
        <a:srgbClr val="07AEE9"/>
      </a:accent2>
      <a:accent3>
        <a:srgbClr val="80CB57"/>
      </a:accent3>
      <a:accent4>
        <a:srgbClr val="7D68A6"/>
      </a:accent4>
      <a:accent5>
        <a:srgbClr val="CD2323"/>
      </a:accent5>
      <a:accent6>
        <a:srgbClr val="E7B209"/>
      </a:accent6>
      <a:hlink>
        <a:srgbClr val="3278E8"/>
      </a:hlink>
      <a:folHlink>
        <a:srgbClr val="81ACF1"/>
      </a:folHlink>
    </a:clrScheme>
    <a:fontScheme name="NSW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SWテンプ" id="{0BBC9F1F-B068-4BDA-9262-D8F178BCDA6E}" vid="{45170CBC-A8A8-4BD4-9D3E-B9A22B9F911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VN_x79fb__x884c__x5148_ xmlns="16046711-14f5-4f18-902c-8d3c65c7d5cb" xsi:nil="true"/>
    <TaxCatchAll xmlns="498ffdd9-f015-47fc-97ac-719d6fe1226b" xsi:nil="true"/>
    <lcf76f155ced4ddcb4097134ff3c332f xmlns="16046711-14f5-4f18-902c-8d3c65c7d5c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C4B068634C34588A5C4F3DA290310" ma:contentTypeVersion="14" ma:contentTypeDescription="新しいドキュメントを作成します。" ma:contentTypeScope="" ma:versionID="388956c194e300c33ead5b84f25675e8">
  <xsd:schema xmlns:xsd="http://www.w3.org/2001/XMLSchema" xmlns:xs="http://www.w3.org/2001/XMLSchema" xmlns:p="http://schemas.microsoft.com/office/2006/metadata/properties" xmlns:ns2="16046711-14f5-4f18-902c-8d3c65c7d5cb" xmlns:ns3="498ffdd9-f015-47fc-97ac-719d6fe1226b" targetNamespace="http://schemas.microsoft.com/office/2006/metadata/properties" ma:root="true" ma:fieldsID="44d813be5dbd4829b19e6d047e7bb91b" ns2:_="" ns3:_="">
    <xsd:import namespace="16046711-14f5-4f18-902c-8d3c65c7d5cb"/>
    <xsd:import namespace="498ffdd9-f015-47fc-97ac-719d6fe122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SVN_x79fb__x884c__x5148_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46711-14f5-4f18-902c-8d3c65c7d5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SVN_x79fb__x884c__x5148_" ma:index="16" nillable="true" ma:displayName="SVN移行先" ma:format="Dropdown" ma:internalName="SVN_x79fb__x884c__x5148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画像タグ" ma:readOnly="false" ma:fieldId="{5cf76f15-5ced-4ddc-b409-7134ff3c332f}" ma:taxonomyMulti="true" ma:sspId="cdff059a-9c11-458b-a3ad-d8b85f671f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8ffdd9-f015-47fc-97ac-719d6fe122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e6f3037-41c6-4030-b0ef-c075dcd3fbba}" ma:internalName="TaxCatchAll" ma:showField="CatchAllData" ma:web="498ffdd9-f015-47fc-97ac-719d6fe122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59218D-2940-4D43-9780-80947AFF9A4A}">
  <ds:schemaRefs>
    <ds:schemaRef ds:uri="http://schemas.microsoft.com/office/2006/metadata/properties"/>
    <ds:schemaRef ds:uri="http://schemas.microsoft.com/office/infopath/2007/PartnerControls"/>
    <ds:schemaRef ds:uri="16046711-14f5-4f18-902c-8d3c65c7d5cb"/>
    <ds:schemaRef ds:uri="498ffdd9-f015-47fc-97ac-719d6fe1226b"/>
  </ds:schemaRefs>
</ds:datastoreItem>
</file>

<file path=customXml/itemProps2.xml><?xml version="1.0" encoding="utf-8"?>
<ds:datastoreItem xmlns:ds="http://schemas.openxmlformats.org/officeDocument/2006/customXml" ds:itemID="{CE5CD9F7-7A35-49A8-B52D-2D8E249A6F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07B8D2-881D-4E96-9483-F48091D8AF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046711-14f5-4f18-902c-8d3c65c7d5cb"/>
    <ds:schemaRef ds:uri="498ffdd9-f015-47fc-97ac-719d6fe122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NSWテンプ</Template>
  <TotalTime>69</TotalTime>
  <Words>478</Words>
  <Application>Microsoft Office PowerPoint</Application>
  <PresentationFormat>ワイド画面</PresentationFormat>
  <Paragraphs>85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6" baseType="lpstr">
      <vt:lpstr>游ゴシック</vt:lpstr>
      <vt:lpstr>NSWテンプ</vt:lpstr>
      <vt:lpstr>DevloperPortal API</vt:lpstr>
      <vt:lpstr>APIキーの発行</vt:lpstr>
      <vt:lpstr>APIリクエスト</vt:lpstr>
      <vt:lpstr>参考—リクエストソースURLの確認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　隆広</dc:creator>
  <cp:lastModifiedBy>LONG　HAIBO</cp:lastModifiedBy>
  <cp:revision>1</cp:revision>
  <dcterms:created xsi:type="dcterms:W3CDTF">2025-10-09T01:10:45Z</dcterms:created>
  <dcterms:modified xsi:type="dcterms:W3CDTF">2026-03-30T00:20:13Z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0x0101008B2C4B068634C34588A5C4F3DA290310</vt:lpwstr>
  </property>
</Properties>
</file>