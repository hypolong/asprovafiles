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3" r:id="rId5"/>
    <p:sldId id="268" r:id="rId6"/>
    <p:sldId id="256" r:id="rId7"/>
    <p:sldId id="257" r:id="rId8"/>
    <p:sldId id="258" r:id="rId9"/>
    <p:sldId id="259" r:id="rId10"/>
    <p:sldId id="265" r:id="rId11"/>
    <p:sldId id="260" r:id="rId12"/>
    <p:sldId id="261" r:id="rId13"/>
    <p:sldId id="266" r:id="rId14"/>
    <p:sldId id="262" r:id="rId15"/>
    <p:sldId id="267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鈴木　隆広" userId="97ef4f37-f730-4446-89ca-62713dac96a6" providerId="ADAL" clId="{F969DBC3-72C8-442D-9286-D666B8C9866E}"/>
    <pc:docChg chg="addSld modSld">
      <pc:chgData name="鈴木　隆広" userId="97ef4f37-f730-4446-89ca-62713dac96a6" providerId="ADAL" clId="{F969DBC3-72C8-442D-9286-D666B8C9866E}" dt="2026-02-18T01:38:15.242" v="46" actId="1076"/>
      <pc:docMkLst>
        <pc:docMk/>
      </pc:docMkLst>
      <pc:sldChg chg="addSp modSp new mod">
        <pc:chgData name="鈴木　隆広" userId="97ef4f37-f730-4446-89ca-62713dac96a6" providerId="ADAL" clId="{F969DBC3-72C8-442D-9286-D666B8C9866E}" dt="2026-02-18T01:31:37.233" v="9" actId="1076"/>
        <pc:sldMkLst>
          <pc:docMk/>
          <pc:sldMk cId="1800220703" sldId="260"/>
        </pc:sldMkLst>
        <pc:picChg chg="add mod">
          <ac:chgData name="鈴木　隆広" userId="97ef4f37-f730-4446-89ca-62713dac96a6" providerId="ADAL" clId="{F969DBC3-72C8-442D-9286-D666B8C9866E}" dt="2026-02-18T01:31:37.233" v="9" actId="1076"/>
          <ac:picMkLst>
            <pc:docMk/>
            <pc:sldMk cId="1800220703" sldId="260"/>
            <ac:picMk id="4" creationId="{9E17BFB5-8C67-5F86-B11C-39B29BC694EC}"/>
          </ac:picMkLst>
        </pc:picChg>
      </pc:sldChg>
      <pc:sldChg chg="addSp modSp new mod">
        <pc:chgData name="鈴木　隆広" userId="97ef4f37-f730-4446-89ca-62713dac96a6" providerId="ADAL" clId="{F969DBC3-72C8-442D-9286-D666B8C9866E}" dt="2026-02-18T01:32:06.415" v="15" actId="1076"/>
        <pc:sldMkLst>
          <pc:docMk/>
          <pc:sldMk cId="3880849641" sldId="261"/>
        </pc:sldMkLst>
        <pc:picChg chg="add mod">
          <ac:chgData name="鈴木　隆広" userId="97ef4f37-f730-4446-89ca-62713dac96a6" providerId="ADAL" clId="{F969DBC3-72C8-442D-9286-D666B8C9866E}" dt="2026-02-18T01:32:06.415" v="15" actId="1076"/>
          <ac:picMkLst>
            <pc:docMk/>
            <pc:sldMk cId="3880849641" sldId="261"/>
            <ac:picMk id="4" creationId="{C249104F-3E29-AF11-0323-10BE2F59904F}"/>
          </ac:picMkLst>
        </pc:picChg>
      </pc:sldChg>
      <pc:sldChg chg="addSp modSp new mod">
        <pc:chgData name="鈴木　隆広" userId="97ef4f37-f730-4446-89ca-62713dac96a6" providerId="ADAL" clId="{F969DBC3-72C8-442D-9286-D666B8C9866E}" dt="2026-02-18T01:38:15.242" v="46" actId="1076"/>
        <pc:sldMkLst>
          <pc:docMk/>
          <pc:sldMk cId="4014616554" sldId="262"/>
        </pc:sldMkLst>
        <pc:picChg chg="add mod">
          <ac:chgData name="鈴木　隆広" userId="97ef4f37-f730-4446-89ca-62713dac96a6" providerId="ADAL" clId="{F969DBC3-72C8-442D-9286-D666B8C9866E}" dt="2026-02-18T01:33:08.360" v="21" actId="1076"/>
          <ac:picMkLst>
            <pc:docMk/>
            <pc:sldMk cId="4014616554" sldId="262"/>
            <ac:picMk id="4" creationId="{B7C10B72-07A6-1C75-5B55-3C3F37B10C1B}"/>
          </ac:picMkLst>
        </pc:picChg>
        <pc:picChg chg="add mod">
          <ac:chgData name="鈴木　隆広" userId="97ef4f37-f730-4446-89ca-62713dac96a6" providerId="ADAL" clId="{F969DBC3-72C8-442D-9286-D666B8C9866E}" dt="2026-02-18T01:33:40.732" v="28" actId="1076"/>
          <ac:picMkLst>
            <pc:docMk/>
            <pc:sldMk cId="4014616554" sldId="262"/>
            <ac:picMk id="6" creationId="{A28EE04B-FE4F-BAD8-9CCC-2547BEEE858A}"/>
          </ac:picMkLst>
        </pc:picChg>
        <pc:picChg chg="add mod">
          <ac:chgData name="鈴木　隆広" userId="97ef4f37-f730-4446-89ca-62713dac96a6" providerId="ADAL" clId="{F969DBC3-72C8-442D-9286-D666B8C9866E}" dt="2026-02-18T01:34:09.524" v="34" actId="1076"/>
          <ac:picMkLst>
            <pc:docMk/>
            <pc:sldMk cId="4014616554" sldId="262"/>
            <ac:picMk id="8" creationId="{65C3CE00-10CE-8116-5942-C0A6B34CD621}"/>
          </ac:picMkLst>
        </pc:picChg>
        <pc:picChg chg="add mod">
          <ac:chgData name="鈴木　隆広" userId="97ef4f37-f730-4446-89ca-62713dac96a6" providerId="ADAL" clId="{F969DBC3-72C8-442D-9286-D666B8C9866E}" dt="2026-02-18T01:35:54.145" v="37" actId="962"/>
          <ac:picMkLst>
            <pc:docMk/>
            <pc:sldMk cId="4014616554" sldId="262"/>
            <ac:picMk id="10" creationId="{0EB6F4D9-D12A-337C-DA5E-5328DB849999}"/>
          </ac:picMkLst>
        </pc:picChg>
        <pc:picChg chg="add mod">
          <ac:chgData name="鈴木　隆広" userId="97ef4f37-f730-4446-89ca-62713dac96a6" providerId="ADAL" clId="{F969DBC3-72C8-442D-9286-D666B8C9866E}" dt="2026-02-18T01:36:38.611" v="41" actId="1076"/>
          <ac:picMkLst>
            <pc:docMk/>
            <pc:sldMk cId="4014616554" sldId="262"/>
            <ac:picMk id="12" creationId="{DEEF9142-D71A-1D6C-8322-03226B1E162A}"/>
          </ac:picMkLst>
        </pc:picChg>
        <pc:picChg chg="add mod">
          <ac:chgData name="鈴木　隆広" userId="97ef4f37-f730-4446-89ca-62713dac96a6" providerId="ADAL" clId="{F969DBC3-72C8-442D-9286-D666B8C9866E}" dt="2026-02-18T01:38:15.242" v="46" actId="1076"/>
          <ac:picMkLst>
            <pc:docMk/>
            <pc:sldMk cId="4014616554" sldId="262"/>
            <ac:picMk id="14" creationId="{D3EAF385-2E15-55E1-BA1C-CCE7FB4146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屋外, ブルー, 大きい, 座る が含まれている画像&#10;&#10;自動的に生成された説明">
            <a:extLst>
              <a:ext uri="{FF2B5EF4-FFF2-40B4-BE49-F238E27FC236}">
                <a16:creationId xmlns:a16="http://schemas.microsoft.com/office/drawing/2014/main" id="{9D2EAA20-FF9A-7846-B15A-9360F0CC8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9A954FFE-7953-0043-BDE2-9E26E75A9B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5" name="object 13">
            <a:extLst>
              <a:ext uri="{FF2B5EF4-FFF2-40B4-BE49-F238E27FC236}">
                <a16:creationId xmlns:a16="http://schemas.microsoft.com/office/drawing/2014/main" id="{457962DE-D58E-9748-B57D-7C74F0CF7894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9" name="タイトル 3">
            <a:extLst>
              <a:ext uri="{FF2B5EF4-FFF2-40B4-BE49-F238E27FC236}">
                <a16:creationId xmlns:a16="http://schemas.microsoft.com/office/drawing/2014/main" id="{3AFEAA39-CC9D-453A-8582-D1810D81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52C88F87-0279-894C-9082-6EFFF84B8E0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10020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597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屋外, 大きい, ブルー, ボート が含まれている画像&#10;&#10;自動的に生成された説明">
            <a:extLst>
              <a:ext uri="{FF2B5EF4-FFF2-40B4-BE49-F238E27FC236}">
                <a16:creationId xmlns:a16="http://schemas.microsoft.com/office/drawing/2014/main" id="{5A24B653-4F92-5C46-BD5F-EEB7C1C01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96905CA6-EF23-8946-A8A0-EAC0ABE06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C454CD4D-A3C7-634B-B96C-F9C8A21C72FB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15" name="テキスト プレースホルダー 7">
            <a:extLst>
              <a:ext uri="{FF2B5EF4-FFF2-40B4-BE49-F238E27FC236}">
                <a16:creationId xmlns:a16="http://schemas.microsoft.com/office/drawing/2014/main" id="{E354CFE2-B758-3645-AE2B-D5C8B993F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3100" y="3830852"/>
            <a:ext cx="7708900" cy="461280"/>
          </a:xfrm>
          <a:prstGeom prst="rect">
            <a:avLst/>
          </a:prstGeom>
        </p:spPr>
        <p:txBody>
          <a:bodyPr lIns="0" tIns="0" rIns="0" bIns="0"/>
          <a:lstStyle>
            <a:lvl1pPr marL="7200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2022.4.1</a:t>
            </a:r>
            <a:br>
              <a:rPr kumimoji="1" lang="en-US" altLang="ja-JP"/>
            </a:br>
            <a:r>
              <a:rPr kumimoji="1" lang="ja-JP" altLang="en-US"/>
              <a:t>サービスソリューション事業本部</a:t>
            </a: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856D77D9-FB83-4B59-89CA-9DCF5609F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AB483436-307B-CB14-AF02-0FD6E2DF49B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4202358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大きい, ブルー, 飛行機, 光 が含まれている画像&#10;&#10;自動的に生成された説明">
            <a:extLst>
              <a:ext uri="{FF2B5EF4-FFF2-40B4-BE49-F238E27FC236}">
                <a16:creationId xmlns:a16="http://schemas.microsoft.com/office/drawing/2014/main" id="{AF869BF1-1A12-4043-ABCF-28CF31774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FE3C3301-CDAD-C045-B43F-BCB0C445CA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F73AAB62-C13A-924A-9827-18B80A17C9C9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D1414726-42B8-4CB2-9AF3-CEBCCE9C1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51CF6831-80CA-E5A1-2F91-6203DF2F9B8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2647541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ブルー, テーブル, 座る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0E27D772-2AE1-8E45-A8BE-9112DB246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C855CF72-1EA8-9442-AA3B-ADA2D1D51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B15AD20B-A506-6D4E-857E-6B5E3D6B4904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14" name="タイトル 3">
            <a:extLst>
              <a:ext uri="{FF2B5EF4-FFF2-40B4-BE49-F238E27FC236}">
                <a16:creationId xmlns:a16="http://schemas.microsoft.com/office/drawing/2014/main" id="{CDC066BE-1EEA-F840-AE5C-E783F2EAC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15" name="テキスト プレースホルダー 7">
            <a:extLst>
              <a:ext uri="{FF2B5EF4-FFF2-40B4-BE49-F238E27FC236}">
                <a16:creationId xmlns:a16="http://schemas.microsoft.com/office/drawing/2014/main" id="{B4B28868-5BF0-1746-B3CD-9B19D4031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3100" y="3830852"/>
            <a:ext cx="7708900" cy="461280"/>
          </a:xfrm>
          <a:prstGeom prst="rect">
            <a:avLst/>
          </a:prstGeom>
        </p:spPr>
        <p:txBody>
          <a:bodyPr lIns="0" tIns="0" rIns="0" bIns="0"/>
          <a:lstStyle>
            <a:lvl1pPr marL="7200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2022.4.1</a:t>
            </a:r>
            <a:br>
              <a:rPr kumimoji="1" lang="en-US" altLang="ja-JP"/>
            </a:br>
            <a:r>
              <a:rPr kumimoji="1" lang="ja-JP" altLang="en-US"/>
              <a:t>サービスソリューション事業本部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83BB298-F312-56E7-5EC4-90BF902D2B9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4078303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図 14" descr="ロゴ&#10;&#10;自動的に生成された説明">
            <a:extLst>
              <a:ext uri="{FF2B5EF4-FFF2-40B4-BE49-F238E27FC236}">
                <a16:creationId xmlns:a16="http://schemas.microsoft.com/office/drawing/2014/main" id="{2285CD2C-186C-4154-82B7-0EFE7BED17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681" y="6418445"/>
            <a:ext cx="776605" cy="257561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E73D5B34-BEFD-BE47-E62A-2C4C1EB3095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425703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夜の街のcg&#10;&#10;低い精度で自動的に生成された説明">
            <a:extLst>
              <a:ext uri="{FF2B5EF4-FFF2-40B4-BE49-F238E27FC236}">
                <a16:creationId xmlns:a16="http://schemas.microsoft.com/office/drawing/2014/main" id="{95937898-1A23-B240-840C-CB957B364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4E33A379-B290-7F45-7BD5-6839CA7F93D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800834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屋外, 建物, ブルー, 記号 が含まれている画像&#10;&#10;自動的に生成された説明">
            <a:extLst>
              <a:ext uri="{FF2B5EF4-FFF2-40B4-BE49-F238E27FC236}">
                <a16:creationId xmlns:a16="http://schemas.microsoft.com/office/drawing/2014/main" id="{DA95B498-5BE1-4946-AF4D-A22AC4F7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44E52C16-A8DF-F90E-30BB-5FB4DD3A6AA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697204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夜に光っている建物&#10;&#10;自動的に生成された説明">
            <a:extLst>
              <a:ext uri="{FF2B5EF4-FFF2-40B4-BE49-F238E27FC236}">
                <a16:creationId xmlns:a16="http://schemas.microsoft.com/office/drawing/2014/main" id="{AC57EB1C-5557-2E48-BA92-3D966678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11C6522F-648E-D0AB-A89C-3D5DBC5EE78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91766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屋外, ブルー, 記号, ストリート が含まれている画像&#10;&#10;自動的に生成された説明">
            <a:extLst>
              <a:ext uri="{FF2B5EF4-FFF2-40B4-BE49-F238E27FC236}">
                <a16:creationId xmlns:a16="http://schemas.microsoft.com/office/drawing/2014/main" id="{D454CBFD-E484-244D-9CC7-24A751516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95D5B85A-47F5-5A2D-2456-9F657B66B0F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071087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屋内, 座る, テーブル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9F587420-997C-4D4E-B3E0-2697D954C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844EF896-2216-1049-85CC-9690A84CF016}"/>
              </a:ext>
            </a:extLst>
          </p:cNvPr>
          <p:cNvSpPr txBox="1"/>
          <p:nvPr/>
        </p:nvSpPr>
        <p:spPr>
          <a:xfrm>
            <a:off x="982664" y="2952709"/>
            <a:ext cx="3200538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5" dirty="0">
                <a:solidFill>
                  <a:schemeClr val="tx2"/>
                </a:solidFill>
                <a:latin typeface="+mn-ea"/>
                <a:ea typeface="+mn-ea"/>
                <a:cs typeface="Roboto-Light"/>
              </a:rPr>
              <a:t>INDEX</a:t>
            </a:r>
            <a:endParaRPr sz="5600" dirty="0">
              <a:solidFill>
                <a:schemeClr val="tx2"/>
              </a:solidFill>
              <a:latin typeface="+mn-ea"/>
              <a:ea typeface="+mn-ea"/>
              <a:cs typeface="Roboto-Light"/>
            </a:endParaRP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562E7341-9213-42C3-804D-2469A55D59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474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OB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背景パターン が含まれている画像&#10;&#10;自動的に生成された説明">
            <a:extLst>
              <a:ext uri="{FF2B5EF4-FFF2-40B4-BE49-F238E27FC236}">
                <a16:creationId xmlns:a16="http://schemas.microsoft.com/office/drawing/2014/main" id="{A415ADC2-F3EB-804F-88FF-C6D5A3F64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図 9" descr="ロゴ&#10;&#10;自動的に生成された説明">
            <a:extLst>
              <a:ext uri="{FF2B5EF4-FFF2-40B4-BE49-F238E27FC236}">
                <a16:creationId xmlns:a16="http://schemas.microsoft.com/office/drawing/2014/main" id="{1ACA1B12-1784-4646-9AD6-A0A3998E3C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681" y="6418445"/>
            <a:ext cx="776605" cy="257561"/>
          </a:xfrm>
          <a:prstGeom prst="rect">
            <a:avLst/>
          </a:prstGeom>
        </p:spPr>
      </p:pic>
      <p:sp>
        <p:nvSpPr>
          <p:cNvPr id="8" name="Holder 6">
            <a:extLst>
              <a:ext uri="{FF2B5EF4-FFF2-40B4-BE49-F238E27FC236}">
                <a16:creationId xmlns:a16="http://schemas.microsoft.com/office/drawing/2014/main" id="{E84DCF86-5E44-446F-8386-E513A3D4DB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B78541C-58DC-4105-A87E-4C71A9D253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870883"/>
            <a:ext cx="12192000" cy="76944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NSW</a:t>
            </a:r>
            <a:r>
              <a:rPr kumimoji="1" lang="ja-JP" altLang="en-US" dirty="0"/>
              <a:t>のご紹介</a:t>
            </a:r>
          </a:p>
        </p:txBody>
      </p:sp>
    </p:spTree>
    <p:extLst>
      <p:ext uri="{BB962C8B-B14F-4D97-AF65-F5344CB8AC3E}">
        <p14:creationId xmlns:p14="http://schemas.microsoft.com/office/powerpoint/2010/main" val="4222817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AKUSI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26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d_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4" name="図 3" descr="背景パターン&#10;&#10;自動的に生成された説明">
            <a:extLst>
              <a:ext uri="{FF2B5EF4-FFF2-40B4-BE49-F238E27FC236}">
                <a16:creationId xmlns:a16="http://schemas.microsoft.com/office/drawing/2014/main" id="{A4A08382-8AA8-B244-9471-1B4138C40F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15">
            <a:extLst>
              <a:ext uri="{FF2B5EF4-FFF2-40B4-BE49-F238E27FC236}">
                <a16:creationId xmlns:a16="http://schemas.microsoft.com/office/drawing/2014/main" id="{3B73208B-EF34-A34F-9B01-975B8F3E6317}"/>
              </a:ext>
            </a:extLst>
          </p:cNvPr>
          <p:cNvSpPr/>
          <p:nvPr/>
        </p:nvSpPr>
        <p:spPr>
          <a:xfrm>
            <a:off x="1206500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15244AA4-D3CF-024F-B8D3-BEC21C75A00D}"/>
              </a:ext>
            </a:extLst>
          </p:cNvPr>
          <p:cNvSpPr/>
          <p:nvPr/>
        </p:nvSpPr>
        <p:spPr>
          <a:xfrm>
            <a:off x="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18AE93D2-8BA9-9E47-A317-37336748B2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3218" y="2536027"/>
            <a:ext cx="3865740" cy="128207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6819ACD-70A0-E941-B6B3-B30595BCD0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741" y="4283865"/>
            <a:ext cx="3962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04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d_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4" name="図 3" descr="凧, ボート, 飛ぶ, 水 が含まれている画像&#10;&#10;自動的に生成された説明">
            <a:extLst>
              <a:ext uri="{FF2B5EF4-FFF2-40B4-BE49-F238E27FC236}">
                <a16:creationId xmlns:a16="http://schemas.microsoft.com/office/drawing/2014/main" id="{D160CCA7-4A67-D44A-98CE-B0BFE0D948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15">
            <a:extLst>
              <a:ext uri="{FF2B5EF4-FFF2-40B4-BE49-F238E27FC236}">
                <a16:creationId xmlns:a16="http://schemas.microsoft.com/office/drawing/2014/main" id="{C55D8B58-DBE9-5A4C-A06C-46C9DF7EB254}"/>
              </a:ext>
            </a:extLst>
          </p:cNvPr>
          <p:cNvSpPr/>
          <p:nvPr/>
        </p:nvSpPr>
        <p:spPr>
          <a:xfrm>
            <a:off x="1206500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BD73E2F1-4958-114F-8A1A-1F7057D20AD6}"/>
              </a:ext>
            </a:extLst>
          </p:cNvPr>
          <p:cNvSpPr/>
          <p:nvPr/>
        </p:nvSpPr>
        <p:spPr>
          <a:xfrm>
            <a:off x="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3C4EE72B-A3F3-534D-B7AD-2BED2A4A7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3218" y="2536027"/>
            <a:ext cx="3865740" cy="128207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982C802-9772-0445-BAD8-3995B91471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741" y="4283865"/>
            <a:ext cx="3962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0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432ED-7B51-1577-4DCB-E47D84F6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D65A9F-7445-9D48-DE4A-3DB222849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38194-3603-84AD-2D62-A982EA14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855-5B90-41A7-B746-C42C734160E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BFA207-6D7E-42E1-163A-E38CE715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F9592-9DAE-8F9E-68CF-E3296E4E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40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older 6">
            <a:extLst>
              <a:ext uri="{FF2B5EF4-FFF2-40B4-BE49-F238E27FC236}">
                <a16:creationId xmlns:a16="http://schemas.microsoft.com/office/drawing/2014/main" id="{6969A12A-5999-484E-9AFE-A3FE252CD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F21BADA-8DB6-4980-ABF5-979ABE6C3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00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eaLnBrk="1" hangingPunct="1">
        <a:defRPr kumimoji="1" sz="5000" b="0">
          <a:latin typeface="+mj-ea"/>
          <a:ea typeface="+mj-ea"/>
          <a:cs typeface="+mj-cs"/>
        </a:defRPr>
      </a:lvl1pPr>
    </p:titleStyle>
    <p:bodyStyle>
      <a:lvl1pPr marL="0" eaLnBrk="1" hangingPunct="1">
        <a:defRPr kumimoji="1" sz="1400">
          <a:latin typeface="+mn-lt"/>
          <a:ea typeface="+mn-ea"/>
          <a:cs typeface="+mn-cs"/>
        </a:defRPr>
      </a:lvl1pPr>
      <a:lvl2pPr marL="457200" eaLnBrk="1" hangingPunct="1">
        <a:defRPr kumimoji="1">
          <a:latin typeface="+mn-lt"/>
          <a:ea typeface="+mn-ea"/>
          <a:cs typeface="+mn-cs"/>
        </a:defRPr>
      </a:lvl2pPr>
      <a:lvl3pPr marL="914400" eaLnBrk="1" hangingPunct="1">
        <a:defRPr kumimoji="1">
          <a:latin typeface="+mn-lt"/>
          <a:ea typeface="+mn-ea"/>
          <a:cs typeface="+mn-cs"/>
        </a:defRPr>
      </a:lvl3pPr>
      <a:lvl4pPr marL="1371600" eaLnBrk="1" hangingPunct="1">
        <a:defRPr kumimoji="1">
          <a:latin typeface="+mn-lt"/>
          <a:ea typeface="+mn-ea"/>
          <a:cs typeface="+mn-cs"/>
        </a:defRPr>
      </a:lvl4pPr>
      <a:lvl5pPr marL="1828800" eaLnBrk="1" hangingPunct="1">
        <a:defRPr kumimoji="1">
          <a:latin typeface="+mn-lt"/>
          <a:ea typeface="+mn-ea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457200" eaLnBrk="1" hangingPunct="1">
        <a:defRPr kumimoji="1">
          <a:latin typeface="+mn-lt"/>
          <a:ea typeface="+mn-ea"/>
          <a:cs typeface="+mn-cs"/>
        </a:defRPr>
      </a:lvl2pPr>
      <a:lvl3pPr marL="914400" eaLnBrk="1" hangingPunct="1">
        <a:defRPr kumimoji="1">
          <a:latin typeface="+mn-lt"/>
          <a:ea typeface="+mn-ea"/>
          <a:cs typeface="+mn-cs"/>
        </a:defRPr>
      </a:lvl3pPr>
      <a:lvl4pPr marL="1371600" eaLnBrk="1" hangingPunct="1">
        <a:defRPr kumimoji="1">
          <a:latin typeface="+mn-lt"/>
          <a:ea typeface="+mn-ea"/>
          <a:cs typeface="+mn-cs"/>
        </a:defRPr>
      </a:lvl4pPr>
      <a:lvl5pPr marL="1828800" eaLnBrk="1" hangingPunct="1">
        <a:defRPr kumimoji="1">
          <a:latin typeface="+mn-lt"/>
          <a:ea typeface="+mn-ea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31F3F0-77BF-44A1-CEA0-4DE7D19E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DeepL Voice for Meetings 利用手順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862378-6F74-6F80-032D-07F2A97C765C}"/>
              </a:ext>
            </a:extLst>
          </p:cNvPr>
          <p:cNvSpPr txBox="1"/>
          <p:nvPr/>
        </p:nvSpPr>
        <p:spPr>
          <a:xfrm>
            <a:off x="373225" y="1176793"/>
            <a:ext cx="112436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 err="1"/>
              <a:t>本書は「DeepL</a:t>
            </a:r>
            <a:r>
              <a:rPr dirty="0"/>
              <a:t> Voice for </a:t>
            </a:r>
            <a:r>
              <a:rPr dirty="0" err="1"/>
              <a:t>Meetings」の簡易利用マニュアルです</a:t>
            </a:r>
            <a:r>
              <a:rPr dirty="0"/>
              <a:t>。</a:t>
            </a:r>
          </a:p>
          <a:p>
            <a:r>
              <a:rPr dirty="0"/>
              <a:t>利用方法は以下の2パターンです。</a:t>
            </a:r>
            <a:endParaRPr lang="en-US" dirty="0"/>
          </a:p>
          <a:p>
            <a:r>
              <a:rPr dirty="0"/>
              <a:t>いずれも、会議内にライセンス保有者が1名いれば、会議メンバー全員（ゲスト含む）が利用できます。</a:t>
            </a:r>
          </a:p>
          <a:p>
            <a:r>
              <a:rPr lang="ja-JP" altLang="en-US" dirty="0"/>
              <a:t>また、</a:t>
            </a:r>
            <a:r>
              <a:rPr lang="en-US" altLang="ja-JP" dirty="0"/>
              <a:t>Teams Premium</a:t>
            </a:r>
            <a:r>
              <a:rPr lang="ja-JP" altLang="en-US" dirty="0"/>
              <a:t>と異なり、</a:t>
            </a:r>
            <a:r>
              <a:rPr lang="en-US" altLang="ja-JP" dirty="0"/>
              <a:t>Web</a:t>
            </a:r>
            <a:r>
              <a:rPr lang="ja-JP" altLang="en-US" dirty="0"/>
              <a:t>会議参加者は必要に応じて各自で訳文の言語を変更できます。</a:t>
            </a:r>
          </a:p>
          <a:p>
            <a:endParaRPr dirty="0"/>
          </a:p>
          <a:p>
            <a:r>
              <a:rPr dirty="0"/>
              <a:t>① Teams </a:t>
            </a:r>
            <a:r>
              <a:rPr dirty="0" err="1"/>
              <a:t>アプリ経由</a:t>
            </a:r>
            <a:endParaRPr dirty="0"/>
          </a:p>
          <a:p>
            <a:r>
              <a:rPr dirty="0"/>
              <a:t>　→ </a:t>
            </a:r>
            <a:r>
              <a:rPr dirty="0" err="1"/>
              <a:t>NSW（当社）主催の</a:t>
            </a:r>
            <a:r>
              <a:rPr dirty="0"/>
              <a:t> Teams </a:t>
            </a:r>
            <a:r>
              <a:rPr dirty="0" err="1"/>
              <a:t>会議のみ対応</a:t>
            </a:r>
            <a:endParaRPr dirty="0"/>
          </a:p>
          <a:p>
            <a:r>
              <a:rPr dirty="0"/>
              <a:t>　　※ </a:t>
            </a:r>
            <a:r>
              <a:rPr dirty="0" err="1"/>
              <a:t>招待された会議（当社が主催ではない会議）では利用できません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② Web </a:t>
            </a:r>
            <a:r>
              <a:rPr dirty="0" err="1"/>
              <a:t>ブラウザ経由</a:t>
            </a:r>
            <a:endParaRPr dirty="0"/>
          </a:p>
          <a:p>
            <a:r>
              <a:rPr dirty="0"/>
              <a:t>　→ NSW </a:t>
            </a:r>
            <a:r>
              <a:rPr dirty="0" err="1"/>
              <a:t>主催／ゲスト参加のどちらでも対応</a:t>
            </a:r>
            <a:endParaRPr dirty="0"/>
          </a:p>
          <a:p>
            <a:r>
              <a:rPr dirty="0"/>
              <a:t>　　※ </a:t>
            </a:r>
            <a:r>
              <a:rPr dirty="0" err="1"/>
              <a:t>Teams／Zoom</a:t>
            </a:r>
            <a:r>
              <a:rPr dirty="0"/>
              <a:t> </a:t>
            </a:r>
            <a:r>
              <a:rPr dirty="0" err="1"/>
              <a:t>をサポート</a:t>
            </a:r>
            <a:endParaRPr dirty="0"/>
          </a:p>
          <a:p>
            <a:endParaRPr dirty="0"/>
          </a:p>
          <a:p>
            <a:r>
              <a:rPr dirty="0"/>
              <a:t>◆ </a:t>
            </a:r>
            <a:r>
              <a:rPr dirty="0" err="1"/>
              <a:t>問い合わせ</a:t>
            </a:r>
            <a:endParaRPr dirty="0"/>
          </a:p>
          <a:p>
            <a:r>
              <a:rPr dirty="0" err="1"/>
              <a:t>不明点はまず公式ヘルプセンターをご確認ください</a:t>
            </a:r>
            <a:r>
              <a:rPr dirty="0"/>
              <a:t>。</a:t>
            </a:r>
          </a:p>
          <a:p>
            <a:r>
              <a:rPr dirty="0" err="1"/>
              <a:t>解決しない場合は、鈴木（takahiro.Suzuki@nsw.co.jp）までお問い合わせください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DeepL</a:t>
            </a:r>
            <a:r>
              <a:rPr dirty="0"/>
              <a:t> Voice for Meetings </a:t>
            </a:r>
            <a:r>
              <a:rPr dirty="0" err="1"/>
              <a:t>について（DeepL</a:t>
            </a:r>
            <a:r>
              <a:rPr dirty="0"/>
              <a:t> </a:t>
            </a:r>
            <a:r>
              <a:rPr dirty="0" err="1"/>
              <a:t>ヘルプセンタ</a:t>
            </a:r>
            <a:r>
              <a:rPr dirty="0"/>
              <a:t>ー）</a:t>
            </a:r>
          </a:p>
        </p:txBody>
      </p:sp>
    </p:spTree>
    <p:extLst>
      <p:ext uri="{BB962C8B-B14F-4D97-AF65-F5344CB8AC3E}">
        <p14:creationId xmlns:p14="http://schemas.microsoft.com/office/powerpoint/2010/main" val="154666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4B5E-CA58-DF0E-6D49-810950FA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5482B4-4FBB-74A7-E62D-AA37FDCF3717}"/>
              </a:ext>
            </a:extLst>
          </p:cNvPr>
          <p:cNvSpPr txBox="1"/>
          <p:nvPr/>
        </p:nvSpPr>
        <p:spPr>
          <a:xfrm>
            <a:off x="822959" y="837566"/>
            <a:ext cx="1153040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/>
              <a:t>◆ </a:t>
            </a:r>
            <a:r>
              <a:rPr sz="1600" dirty="0" err="1"/>
              <a:t>DeepL</a:t>
            </a:r>
            <a:r>
              <a:rPr sz="1600" dirty="0"/>
              <a:t> </a:t>
            </a:r>
            <a:r>
              <a:rPr sz="1600" dirty="0" err="1"/>
              <a:t>が提示している主な取り扱い（概要</a:t>
            </a:r>
            <a:r>
              <a:rPr sz="1600" dirty="0"/>
              <a:t>）</a:t>
            </a:r>
          </a:p>
          <a:p>
            <a:r>
              <a:rPr sz="1600" dirty="0"/>
              <a:t>・</a:t>
            </a:r>
            <a:r>
              <a:rPr sz="1600" dirty="0" err="1"/>
              <a:t>DeepL</a:t>
            </a:r>
            <a:r>
              <a:rPr sz="1600" dirty="0"/>
              <a:t> </a:t>
            </a:r>
            <a:r>
              <a:rPr sz="1600" dirty="0" err="1"/>
              <a:t>は会議の文字起こしデータ／翻訳データを永続的に保存しません</a:t>
            </a:r>
            <a:r>
              <a:rPr sz="1600" dirty="0"/>
              <a:t>。</a:t>
            </a:r>
          </a:p>
          <a:p>
            <a:r>
              <a:rPr sz="1600" dirty="0"/>
              <a:t>・</a:t>
            </a:r>
            <a:r>
              <a:rPr sz="1600" dirty="0" err="1"/>
              <a:t>通話中は最新のメッセージをメモリに一時的に保持し、通話終了後に削除します</a:t>
            </a:r>
            <a:r>
              <a:rPr sz="1600" dirty="0"/>
              <a:t>。</a:t>
            </a:r>
          </a:p>
          <a:p>
            <a:r>
              <a:rPr sz="1600" dirty="0"/>
              <a:t>・</a:t>
            </a:r>
            <a:r>
              <a:rPr sz="1600" dirty="0" err="1"/>
              <a:t>ユーザーが参照した文字起こし／翻訳はローカルデバイスに保存されます（保持期間は管理者設定に依存</a:t>
            </a:r>
            <a:r>
              <a:rPr sz="1600" dirty="0"/>
              <a:t>）。</a:t>
            </a:r>
          </a:p>
          <a:p>
            <a:r>
              <a:rPr sz="1600" dirty="0"/>
              <a:t>・</a:t>
            </a:r>
            <a:r>
              <a:rPr sz="1600" dirty="0" err="1"/>
              <a:t>お客様データは</a:t>
            </a:r>
            <a:r>
              <a:rPr sz="1600" dirty="0"/>
              <a:t> </a:t>
            </a:r>
            <a:r>
              <a:rPr sz="1600" dirty="0" err="1"/>
              <a:t>DeepL</a:t>
            </a:r>
            <a:r>
              <a:rPr sz="1600" dirty="0"/>
              <a:t> </a:t>
            </a:r>
            <a:r>
              <a:rPr sz="1600" dirty="0" err="1"/>
              <a:t>の言語モデル学習に使用されません</a:t>
            </a:r>
            <a:r>
              <a:rPr sz="1600" dirty="0"/>
              <a:t>。</a:t>
            </a:r>
          </a:p>
          <a:p>
            <a:r>
              <a:rPr sz="1600" dirty="0"/>
              <a:t>・</a:t>
            </a:r>
            <a:r>
              <a:rPr sz="1600" dirty="0" err="1"/>
              <a:t>音声データの仲介に</a:t>
            </a:r>
            <a:r>
              <a:rPr sz="1600" dirty="0"/>
              <a:t> Microsoft Azure </a:t>
            </a:r>
            <a:r>
              <a:rPr sz="1600" dirty="0" err="1"/>
              <a:t>を利用し、転送中は暗号化されます（永続媒体には保存しない旨が記載されています</a:t>
            </a:r>
            <a:r>
              <a:rPr sz="1600" dirty="0"/>
              <a:t>）。</a:t>
            </a:r>
          </a:p>
          <a:p>
            <a:r>
              <a:rPr sz="1600" dirty="0"/>
              <a:t>・</a:t>
            </a:r>
            <a:r>
              <a:rPr sz="1600" dirty="0" err="1"/>
              <a:t>DeepL</a:t>
            </a:r>
            <a:r>
              <a:rPr sz="1600" dirty="0"/>
              <a:t> </a:t>
            </a:r>
            <a:r>
              <a:rPr sz="1600" dirty="0" err="1"/>
              <a:t>は独自の隔離環境を使用します</a:t>
            </a:r>
            <a:r>
              <a:rPr sz="1600" dirty="0"/>
              <a:t>。</a:t>
            </a:r>
          </a:p>
          <a:p>
            <a:endParaRPr sz="1600" dirty="0"/>
          </a:p>
          <a:p>
            <a:r>
              <a:rPr sz="1600" dirty="0" err="1"/>
              <a:t>DeepL</a:t>
            </a:r>
            <a:r>
              <a:rPr sz="1600" dirty="0"/>
              <a:t> は AI </a:t>
            </a:r>
            <a:r>
              <a:rPr sz="1600" dirty="0" err="1"/>
              <a:t>を用いた翻訳システムです。詳細は公式ヘルプをご確認ください</a:t>
            </a:r>
            <a:r>
              <a:rPr sz="1600" dirty="0"/>
              <a:t>。</a:t>
            </a:r>
          </a:p>
          <a:p>
            <a:r>
              <a:rPr sz="1600" dirty="0" err="1"/>
              <a:t>DeepL</a:t>
            </a:r>
            <a:r>
              <a:rPr sz="1600" dirty="0"/>
              <a:t> Voice for Meetings </a:t>
            </a:r>
            <a:r>
              <a:rPr sz="1600" dirty="0" err="1"/>
              <a:t>について（DeepL</a:t>
            </a:r>
            <a:r>
              <a:rPr sz="1600" dirty="0"/>
              <a:t> </a:t>
            </a:r>
            <a:r>
              <a:rPr sz="1600" dirty="0" err="1"/>
              <a:t>ヘルプセンタ</a:t>
            </a:r>
            <a:r>
              <a:rPr sz="1600" dirty="0"/>
              <a:t>ー）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38542B5E-9419-EC7F-9435-95C7EEC8B037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89725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データセキュリティについて</a:t>
            </a:r>
          </a:p>
        </p:txBody>
      </p:sp>
    </p:spTree>
    <p:extLst>
      <p:ext uri="{BB962C8B-B14F-4D97-AF65-F5344CB8AC3E}">
        <p14:creationId xmlns:p14="http://schemas.microsoft.com/office/powerpoint/2010/main" val="239094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FCD14984-2DFE-88C3-F50C-4E55EAD2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126" y="242141"/>
            <a:ext cx="10153650" cy="604519"/>
          </a:xfrm>
        </p:spPr>
        <p:txBody>
          <a:bodyPr/>
          <a:lstStyle/>
          <a:p>
            <a:r>
              <a:rPr lang="ja-JP" altLang="en-US" sz="3200" dirty="0"/>
              <a:t>①</a:t>
            </a:r>
            <a:r>
              <a:rPr lang="en-US" altLang="ja-JP" sz="3200" dirty="0"/>
              <a:t>Teams</a:t>
            </a:r>
            <a:r>
              <a:rPr lang="ja-JP" altLang="en-US" sz="3200" dirty="0"/>
              <a:t>アプリ経由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656427-38A0-87CB-6A25-73776BE63D9B}"/>
              </a:ext>
            </a:extLst>
          </p:cNvPr>
          <p:cNvSpPr txBox="1"/>
          <p:nvPr/>
        </p:nvSpPr>
        <p:spPr>
          <a:xfrm>
            <a:off x="906480" y="1004208"/>
            <a:ext cx="8491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1) 事前準備</a:t>
            </a:r>
          </a:p>
          <a:p>
            <a:r>
              <a:t>・Teams の「アプリ」で「DeepL Voice」を検索し、「追加」する。</a:t>
            </a:r>
          </a:p>
          <a:p>
            <a:r>
              <a:t>　※ 初回のみ実施（以降は不要）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B517A32-ED0E-7FCE-D722-F027D7FE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158895"/>
            <a:ext cx="5581663" cy="358171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42CDC1F-3C2A-0493-8384-3CD98F5062D1}"/>
              </a:ext>
            </a:extLst>
          </p:cNvPr>
          <p:cNvSpPr/>
          <p:nvPr/>
        </p:nvSpPr>
        <p:spPr>
          <a:xfrm>
            <a:off x="1019175" y="5255657"/>
            <a:ext cx="42862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C21FF84-6954-6CAF-5B79-49ED90036674}"/>
              </a:ext>
            </a:extLst>
          </p:cNvPr>
          <p:cNvSpPr/>
          <p:nvPr/>
        </p:nvSpPr>
        <p:spPr>
          <a:xfrm>
            <a:off x="4106880" y="3047183"/>
            <a:ext cx="2627308" cy="12750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E007E17-9F3D-D322-5EF6-9CD1C68C27B6}"/>
              </a:ext>
            </a:extLst>
          </p:cNvPr>
          <p:cNvSpPr/>
          <p:nvPr/>
        </p:nvSpPr>
        <p:spPr>
          <a:xfrm>
            <a:off x="1489097" y="2815826"/>
            <a:ext cx="2339953" cy="34647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243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4F81668-152C-3680-B6EB-8F20627F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950"/>
            <a:ext cx="10153650" cy="603250"/>
          </a:xfrm>
        </p:spPr>
        <p:txBody>
          <a:bodyPr/>
          <a:lstStyle/>
          <a:p>
            <a:r>
              <a:rPr lang="ja-JP" altLang="en-US" sz="3200" dirty="0"/>
              <a:t>①</a:t>
            </a:r>
            <a:r>
              <a:rPr lang="en-US" altLang="ja-JP" sz="3200" dirty="0"/>
              <a:t>Teams</a:t>
            </a:r>
            <a:r>
              <a:rPr lang="ja-JP" altLang="en-US" sz="3200" dirty="0"/>
              <a:t>アプリ経由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2E3BB4A-8D4B-898F-5369-D96F1116B150}"/>
              </a:ext>
            </a:extLst>
          </p:cNvPr>
          <p:cNvGrpSpPr/>
          <p:nvPr/>
        </p:nvGrpSpPr>
        <p:grpSpPr>
          <a:xfrm>
            <a:off x="4259918" y="2537520"/>
            <a:ext cx="5720729" cy="4236361"/>
            <a:chOff x="2552415" y="2584173"/>
            <a:chExt cx="5720729" cy="423636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0C174A7-29CA-61D4-08E3-94C72D689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550"/>
            <a:stretch>
              <a:fillRect/>
            </a:stretch>
          </p:blipFill>
          <p:spPr>
            <a:xfrm>
              <a:off x="2552415" y="2584173"/>
              <a:ext cx="5720729" cy="4236361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A61691D-9454-9B7C-4120-5E5285006EF1}"/>
                </a:ext>
              </a:extLst>
            </p:cNvPr>
            <p:cNvSpPr/>
            <p:nvPr/>
          </p:nvSpPr>
          <p:spPr>
            <a:xfrm>
              <a:off x="6269550" y="6460048"/>
              <a:ext cx="2003594" cy="326003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5B507E-DD0A-7416-D13E-0F5EFC80AFA6}"/>
              </a:ext>
            </a:extLst>
          </p:cNvPr>
          <p:cNvSpPr txBox="1"/>
          <p:nvPr/>
        </p:nvSpPr>
        <p:spPr>
          <a:xfrm>
            <a:off x="868100" y="802436"/>
            <a:ext cx="10636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2) 利用手順</a:t>
            </a:r>
          </a:p>
          <a:p>
            <a:r>
              <a:t>・会議の開催時に実施します。画面上部の「アプリ」から「DeepL Voice」を開く。</a:t>
            </a:r>
          </a:p>
          <a:p>
            <a:r>
              <a:t>・右側ペインのメニューから DeepL アカウントでログインする。</a:t>
            </a:r>
          </a:p>
          <a:p>
            <a:r>
              <a:t>　※ ログインしたユーザー（翻訳マネージャー）のみ、文字起こしデータをダウンロードできます。</a:t>
            </a:r>
          </a:p>
        </p:txBody>
      </p:sp>
      <p:pic>
        <p:nvPicPr>
          <p:cNvPr id="3" name="図 2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8984462D-30FB-502E-A663-D8A561EF9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1" y="2016253"/>
            <a:ext cx="4252621" cy="136252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27E24B6-98EC-DC14-4594-B1B94ECB58A3}"/>
              </a:ext>
            </a:extLst>
          </p:cNvPr>
          <p:cNvSpPr/>
          <p:nvPr/>
        </p:nvSpPr>
        <p:spPr>
          <a:xfrm>
            <a:off x="3377681" y="2152522"/>
            <a:ext cx="317240" cy="2381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E575A27-384A-16CE-898A-7C10F3BF5E0D}"/>
              </a:ext>
            </a:extLst>
          </p:cNvPr>
          <p:cNvSpPr/>
          <p:nvPr/>
        </p:nvSpPr>
        <p:spPr>
          <a:xfrm>
            <a:off x="7140247" y="2537521"/>
            <a:ext cx="457892" cy="34985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5252381-4DCC-0C34-F638-5F12CFC119CC}"/>
              </a:ext>
            </a:extLst>
          </p:cNvPr>
          <p:cNvSpPr/>
          <p:nvPr/>
        </p:nvSpPr>
        <p:spPr>
          <a:xfrm>
            <a:off x="3946093" y="2939943"/>
            <a:ext cx="517050" cy="4130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9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0A7203-6595-BC0D-C1AB-4B1F292D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①</a:t>
            </a:r>
            <a:r>
              <a:rPr lang="en-US" altLang="ja-JP" sz="3200" dirty="0"/>
              <a:t>Teams</a:t>
            </a:r>
            <a:r>
              <a:rPr lang="ja-JP" altLang="en-US" sz="3200" dirty="0"/>
              <a:t>アプリ経由</a:t>
            </a:r>
            <a:endParaRPr kumimoji="1" lang="ja-JP" altLang="en-US" sz="32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CA588FF-1590-4190-3D7C-9F6649045727}"/>
              </a:ext>
            </a:extLst>
          </p:cNvPr>
          <p:cNvGrpSpPr/>
          <p:nvPr/>
        </p:nvGrpSpPr>
        <p:grpSpPr>
          <a:xfrm>
            <a:off x="1019175" y="2149932"/>
            <a:ext cx="3419408" cy="4473878"/>
            <a:chOff x="8223491" y="1940300"/>
            <a:chExt cx="3419408" cy="447387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1B644B7-6EB9-811A-8AFF-1B3191A33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5196"/>
            <a:stretch>
              <a:fillRect/>
            </a:stretch>
          </p:blipFill>
          <p:spPr>
            <a:xfrm>
              <a:off x="8223491" y="1940300"/>
              <a:ext cx="3419408" cy="4473878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29CAF73-0FE2-5547-4050-85EF012861E8}"/>
                </a:ext>
              </a:extLst>
            </p:cNvPr>
            <p:cNvSpPr/>
            <p:nvPr/>
          </p:nvSpPr>
          <p:spPr>
            <a:xfrm>
              <a:off x="9787251" y="3176369"/>
              <a:ext cx="1555860" cy="55496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24542DF-3C27-5B98-3B7E-2DE77D597347}"/>
                </a:ext>
              </a:extLst>
            </p:cNvPr>
            <p:cNvSpPr/>
            <p:nvPr/>
          </p:nvSpPr>
          <p:spPr>
            <a:xfrm>
              <a:off x="9787251" y="3837653"/>
              <a:ext cx="1555860" cy="55496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B6E22BB-53B1-3031-FB5A-9DFEB3D009FC}"/>
                </a:ext>
              </a:extLst>
            </p:cNvPr>
            <p:cNvSpPr/>
            <p:nvPr/>
          </p:nvSpPr>
          <p:spPr>
            <a:xfrm>
              <a:off x="9878691" y="4464631"/>
              <a:ext cx="1555860" cy="36364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3C7B6B-9B0B-4DF5-CE44-64F8EEE3FC88}"/>
              </a:ext>
            </a:extLst>
          </p:cNvPr>
          <p:cNvSpPr txBox="1"/>
          <p:nvPr/>
        </p:nvSpPr>
        <p:spPr>
          <a:xfrm>
            <a:off x="416558" y="838709"/>
            <a:ext cx="12270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2) 利用手順</a:t>
            </a:r>
          </a:p>
          <a:p>
            <a:r>
              <a:t>・会議で使用する言語（自分が話す言語）と、翻訳先言語（訳文の言語）を設定し、「翻訳を開始」を押下する。</a:t>
            </a:r>
          </a:p>
          <a:p>
            <a:r>
              <a:t>・しばらくすると DeepL ボットが会議に参加し、リアルタイム翻訳が開始します。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023727F-93DB-9CED-FC2A-D88A09DC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18"/>
          <a:stretch>
            <a:fillRect/>
          </a:stretch>
        </p:blipFill>
        <p:spPr>
          <a:xfrm>
            <a:off x="5553853" y="2149932"/>
            <a:ext cx="6492747" cy="447387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4AAC55C-1264-C4D9-615B-E56CB27E2314}"/>
              </a:ext>
            </a:extLst>
          </p:cNvPr>
          <p:cNvSpPr/>
          <p:nvPr/>
        </p:nvSpPr>
        <p:spPr>
          <a:xfrm>
            <a:off x="5811934" y="2722883"/>
            <a:ext cx="1232677" cy="7061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470525-6C46-4073-FEEB-38B589045456}"/>
              </a:ext>
            </a:extLst>
          </p:cNvPr>
          <p:cNvSpPr/>
          <p:nvPr/>
        </p:nvSpPr>
        <p:spPr>
          <a:xfrm>
            <a:off x="10047604" y="2668218"/>
            <a:ext cx="1879600" cy="386805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2452A395-98D9-CE51-D89F-5CB80DB20701}"/>
              </a:ext>
            </a:extLst>
          </p:cNvPr>
          <p:cNvSpPr/>
          <p:nvPr/>
        </p:nvSpPr>
        <p:spPr>
          <a:xfrm>
            <a:off x="4683870" y="3429000"/>
            <a:ext cx="698574" cy="1608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278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BBD1D4-C9BA-6F55-DCDD-E45FEF23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①</a:t>
            </a:r>
            <a:r>
              <a:rPr lang="en-US" altLang="ja-JP" sz="3200" dirty="0"/>
              <a:t>Teams</a:t>
            </a:r>
            <a:r>
              <a:rPr lang="ja-JP" altLang="en-US" sz="3200" dirty="0"/>
              <a:t>アプリ経由</a:t>
            </a:r>
            <a:endParaRPr kumimoji="1" lang="ja-JP" altLang="en-US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AA543B-0A0A-1EC2-2364-6B1B1519FB43}"/>
              </a:ext>
            </a:extLst>
          </p:cNvPr>
          <p:cNvSpPr txBox="1"/>
          <p:nvPr/>
        </p:nvSpPr>
        <p:spPr>
          <a:xfrm>
            <a:off x="822959" y="837566"/>
            <a:ext cx="115304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3) </a:t>
            </a:r>
            <a:r>
              <a:rPr dirty="0" err="1"/>
              <a:t>ライセンス保有者以外の利用手順</a:t>
            </a:r>
            <a:endParaRPr dirty="0"/>
          </a:p>
          <a:p>
            <a:r>
              <a:rPr dirty="0"/>
              <a:t>・</a:t>
            </a:r>
            <a:r>
              <a:rPr dirty="0" err="1"/>
              <a:t>DeepL</a:t>
            </a:r>
            <a:r>
              <a:rPr dirty="0"/>
              <a:t> </a:t>
            </a:r>
            <a:r>
              <a:rPr dirty="0" err="1"/>
              <a:t>ボットが招待されると、会議チャットに案内が表示されます</a:t>
            </a:r>
            <a:r>
              <a:rPr dirty="0"/>
              <a:t>。</a:t>
            </a:r>
          </a:p>
          <a:p>
            <a:r>
              <a:rPr dirty="0"/>
              <a:t>・「</a:t>
            </a:r>
            <a:r>
              <a:rPr dirty="0" err="1"/>
              <a:t>DeepL</a:t>
            </a:r>
            <a:r>
              <a:rPr dirty="0"/>
              <a:t> Voice </a:t>
            </a:r>
            <a:r>
              <a:rPr dirty="0" err="1"/>
              <a:t>を開く」を押下し、発行されたコードを会議チャットに貼り付けると、ブラウザ上で翻訳が開始します</a:t>
            </a:r>
            <a:r>
              <a:rPr dirty="0"/>
              <a:t>。</a:t>
            </a:r>
          </a:p>
          <a:p>
            <a:r>
              <a:rPr dirty="0"/>
              <a:t>　</a:t>
            </a:r>
          </a:p>
        </p:txBody>
      </p:sp>
      <p:pic>
        <p:nvPicPr>
          <p:cNvPr id="9" name="図 8" descr="テキスト">
            <a:extLst>
              <a:ext uri="{FF2B5EF4-FFF2-40B4-BE49-F238E27FC236}">
                <a16:creationId xmlns:a16="http://schemas.microsoft.com/office/drawing/2014/main" id="{55556A09-3D15-F1A0-47D3-DE6F45CD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6"/>
          <a:stretch>
            <a:fillRect/>
          </a:stretch>
        </p:blipFill>
        <p:spPr>
          <a:xfrm>
            <a:off x="1019175" y="2626766"/>
            <a:ext cx="3873313" cy="223169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1FBAA4-8AEE-49F8-87A3-72E353ACE35D}"/>
              </a:ext>
            </a:extLst>
          </p:cNvPr>
          <p:cNvSpPr/>
          <p:nvPr/>
        </p:nvSpPr>
        <p:spPr>
          <a:xfrm>
            <a:off x="1607575" y="4494808"/>
            <a:ext cx="1555860" cy="36364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グラフィカル ユーザー インターフェイス">
            <a:extLst>
              <a:ext uri="{FF2B5EF4-FFF2-40B4-BE49-F238E27FC236}">
                <a16:creationId xmlns:a16="http://schemas.microsoft.com/office/drawing/2014/main" id="{B2DAD4AF-F9A0-8B66-E04E-7EA79CCA7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815" y="2626766"/>
            <a:ext cx="5852084" cy="354770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5FCE3D4-4FA0-7F44-E670-ABA605C7C71D}"/>
              </a:ext>
            </a:extLst>
          </p:cNvPr>
          <p:cNvSpPr/>
          <p:nvPr/>
        </p:nvSpPr>
        <p:spPr>
          <a:xfrm>
            <a:off x="5963675" y="4858457"/>
            <a:ext cx="1555860" cy="36364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96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44BC-BB9E-0619-0E74-427AE32F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1A664-C71B-08E9-0862-BAB82D1F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①</a:t>
            </a:r>
            <a:r>
              <a:rPr lang="en-US" altLang="ja-JP" sz="3200" dirty="0"/>
              <a:t>Teams</a:t>
            </a:r>
            <a:r>
              <a:rPr lang="ja-JP" altLang="en-US" sz="3200" dirty="0"/>
              <a:t>アプリ経由</a:t>
            </a:r>
            <a:endParaRPr kumimoji="1" lang="ja-JP" altLang="en-US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F4B397-7064-01B6-9C56-E1039E0A5958}"/>
              </a:ext>
            </a:extLst>
          </p:cNvPr>
          <p:cNvSpPr txBox="1"/>
          <p:nvPr/>
        </p:nvSpPr>
        <p:spPr>
          <a:xfrm>
            <a:off x="822960" y="837566"/>
            <a:ext cx="11064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4) </a:t>
            </a:r>
            <a:r>
              <a:rPr dirty="0" err="1"/>
              <a:t>文字起こしの出力</a:t>
            </a:r>
            <a:endParaRPr dirty="0"/>
          </a:p>
          <a:p>
            <a:r>
              <a:rPr dirty="0"/>
              <a:t>・</a:t>
            </a:r>
            <a:r>
              <a:rPr dirty="0" err="1"/>
              <a:t>DeepL</a:t>
            </a:r>
            <a:r>
              <a:rPr dirty="0"/>
              <a:t> Voice </a:t>
            </a:r>
            <a:r>
              <a:rPr dirty="0" err="1"/>
              <a:t>のメニューから</a:t>
            </a:r>
            <a:r>
              <a:rPr dirty="0"/>
              <a:t>「…」→「</a:t>
            </a:r>
            <a:r>
              <a:rPr dirty="0" err="1"/>
              <a:t>文字起こしデータをダウンロード」で、Text</a:t>
            </a:r>
            <a:r>
              <a:rPr dirty="0"/>
              <a:t> </a:t>
            </a:r>
            <a:r>
              <a:rPr dirty="0" err="1"/>
              <a:t>ファイルとして出力できます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会議中／会議終了後どちらでもダウンロード可能です</a:t>
            </a:r>
            <a:r>
              <a:rPr dirty="0"/>
              <a:t>。</a:t>
            </a:r>
          </a:p>
          <a:p>
            <a:r>
              <a:rPr dirty="0"/>
              <a:t>　※ </a:t>
            </a:r>
            <a:r>
              <a:rPr dirty="0" err="1"/>
              <a:t>保持期間の既定は</a:t>
            </a:r>
            <a:r>
              <a:rPr dirty="0"/>
              <a:t> 30 </a:t>
            </a:r>
            <a:r>
              <a:rPr dirty="0" err="1"/>
              <a:t>日です</a:t>
            </a:r>
            <a:r>
              <a:rPr dirty="0"/>
              <a:t>。</a:t>
            </a:r>
          </a:p>
          <a:p>
            <a:r>
              <a:rPr dirty="0"/>
              <a:t>　※ </a:t>
            </a:r>
            <a:r>
              <a:rPr dirty="0" err="1"/>
              <a:t>文字起こしをダウンロードできるのは翻訳マネージャーのみです</a:t>
            </a:r>
            <a:r>
              <a:rPr dirty="0"/>
              <a:t>。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3649775-79D1-B88E-E610-2B33CDC0DB0F}"/>
              </a:ext>
            </a:extLst>
          </p:cNvPr>
          <p:cNvGrpSpPr/>
          <p:nvPr/>
        </p:nvGrpSpPr>
        <p:grpSpPr>
          <a:xfrm>
            <a:off x="3067049" y="2620776"/>
            <a:ext cx="5957917" cy="4003033"/>
            <a:chOff x="2313246" y="1483897"/>
            <a:chExt cx="7084754" cy="4760138"/>
          </a:xfrm>
        </p:grpSpPr>
        <p:pic>
          <p:nvPicPr>
            <p:cNvPr id="13" name="図 12" descr="グラフィカル ユーザー インターフェイス, アプリケーション">
              <a:extLst>
                <a:ext uri="{FF2B5EF4-FFF2-40B4-BE49-F238E27FC236}">
                  <a16:creationId xmlns:a16="http://schemas.microsoft.com/office/drawing/2014/main" id="{B391EE70-463F-75CB-369E-B71FE7EB9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3246" y="1483897"/>
              <a:ext cx="7084754" cy="4760138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CB430214-9BA1-7DF5-EA26-D407770249E6}"/>
                </a:ext>
              </a:extLst>
            </p:cNvPr>
            <p:cNvSpPr/>
            <p:nvPr/>
          </p:nvSpPr>
          <p:spPr>
            <a:xfrm>
              <a:off x="9075420" y="2354580"/>
              <a:ext cx="182880" cy="19247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942D825-0935-1CE4-07E9-3AF6347E9C84}"/>
                </a:ext>
              </a:extLst>
            </p:cNvPr>
            <p:cNvSpPr/>
            <p:nvPr/>
          </p:nvSpPr>
          <p:spPr>
            <a:xfrm>
              <a:off x="7795260" y="2621280"/>
              <a:ext cx="1386840" cy="19247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349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A2DD0E15-77C4-1AD4-44CC-81CDDD4E380D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②</a:t>
            </a:r>
            <a:r>
              <a:rPr lang="en-US" altLang="ja-JP" sz="3200" kern="0" dirty="0"/>
              <a:t>Web</a:t>
            </a:r>
            <a:r>
              <a:rPr lang="ja-JP" altLang="en-US" sz="3200" kern="0" dirty="0"/>
              <a:t>ブラウザ経由</a:t>
            </a:r>
          </a:p>
        </p:txBody>
      </p:sp>
      <p:pic>
        <p:nvPicPr>
          <p:cNvPr id="8" name="図 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9D0B404-6BD1-36FA-E919-BA1823B3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188501"/>
            <a:ext cx="7667625" cy="264768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82763F-0A79-7B60-5C19-CF9795AE5125}"/>
              </a:ext>
            </a:extLst>
          </p:cNvPr>
          <p:cNvSpPr txBox="1"/>
          <p:nvPr/>
        </p:nvSpPr>
        <p:spPr>
          <a:xfrm>
            <a:off x="866775" y="907211"/>
            <a:ext cx="10636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1) 利用手順</a:t>
            </a:r>
          </a:p>
          <a:p>
            <a:r>
              <a:t>・任意のブラウザで DeepL Voice for Meetings を開き、「新しい会議を翻訳」を押下する。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4D4D177-7F68-07F2-1AC6-8D7B50EE5CCB}"/>
              </a:ext>
            </a:extLst>
          </p:cNvPr>
          <p:cNvSpPr/>
          <p:nvPr/>
        </p:nvSpPr>
        <p:spPr>
          <a:xfrm>
            <a:off x="7677143" y="3577257"/>
            <a:ext cx="819157" cy="1755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22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6C24BB-0470-F249-A154-3271B6893F20}"/>
              </a:ext>
            </a:extLst>
          </p:cNvPr>
          <p:cNvSpPr txBox="1"/>
          <p:nvPr/>
        </p:nvSpPr>
        <p:spPr>
          <a:xfrm>
            <a:off x="866774" y="907211"/>
            <a:ext cx="11039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1) 利用手順</a:t>
            </a:r>
          </a:p>
          <a:p>
            <a:r>
              <a:t>・「会議のリンク」に、発行された／招待された会議 URL を入力する。</a:t>
            </a:r>
          </a:p>
          <a:p>
            <a:r>
              <a:t>・必要に応じて「アクセスコードを有効にする」を設定し、「翻訳を開始」を押下する。</a:t>
            </a:r>
          </a:p>
          <a:p>
            <a:r>
              <a:t>　※ アクセスコードを有効にすると、参加者は DeepL Voice へのアクセス時に OTP（ワンタイムパスワード）認証が必要になります。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DB59BD3-3342-3332-EEEE-CFA4D0410A3C}"/>
              </a:ext>
            </a:extLst>
          </p:cNvPr>
          <p:cNvGrpSpPr/>
          <p:nvPr/>
        </p:nvGrpSpPr>
        <p:grpSpPr>
          <a:xfrm>
            <a:off x="1866059" y="2412274"/>
            <a:ext cx="8125666" cy="4293326"/>
            <a:chOff x="1741145" y="2165697"/>
            <a:chExt cx="8709710" cy="4539903"/>
          </a:xfrm>
        </p:grpSpPr>
        <p:pic>
          <p:nvPicPr>
            <p:cNvPr id="4" name="図 3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249104F-3E29-AF11-0323-10BE2F59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2395"/>
            <a:stretch>
              <a:fillRect/>
            </a:stretch>
          </p:blipFill>
          <p:spPr>
            <a:xfrm>
              <a:off x="1741145" y="2165697"/>
              <a:ext cx="8709710" cy="4539903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4DEFE79-DEAD-0842-F1B9-601A3A80CBF4}"/>
                </a:ext>
              </a:extLst>
            </p:cNvPr>
            <p:cNvSpPr/>
            <p:nvPr/>
          </p:nvSpPr>
          <p:spPr>
            <a:xfrm>
              <a:off x="3981443" y="4939332"/>
              <a:ext cx="3171832" cy="56611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16A4496-D149-C6DB-B41D-2B76C62B1BD1}"/>
                </a:ext>
              </a:extLst>
            </p:cNvPr>
            <p:cNvSpPr/>
            <p:nvPr/>
          </p:nvSpPr>
          <p:spPr>
            <a:xfrm>
              <a:off x="3981443" y="5505450"/>
              <a:ext cx="3171832" cy="56611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タイトル 1">
            <a:extLst>
              <a:ext uri="{FF2B5EF4-FFF2-40B4-BE49-F238E27FC236}">
                <a16:creationId xmlns:a16="http://schemas.microsoft.com/office/drawing/2014/main" id="{4EACCE92-D29C-5C6B-993F-2D942CC76F08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89725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②</a:t>
            </a:r>
            <a:r>
              <a:rPr lang="en-US" altLang="ja-JP" sz="3200" kern="0" dirty="0"/>
              <a:t>Web</a:t>
            </a:r>
            <a:r>
              <a:rPr lang="ja-JP" altLang="en-US" sz="3200" kern="0" dirty="0"/>
              <a:t>ブラウザ経由</a:t>
            </a:r>
          </a:p>
        </p:txBody>
      </p:sp>
    </p:spTree>
    <p:extLst>
      <p:ext uri="{BB962C8B-B14F-4D97-AF65-F5344CB8AC3E}">
        <p14:creationId xmlns:p14="http://schemas.microsoft.com/office/powerpoint/2010/main" val="388084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87DA-9F9B-0B85-9753-B724301B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B7FB3A-0E77-DD50-F85B-B53ED9FA6D51}"/>
              </a:ext>
            </a:extLst>
          </p:cNvPr>
          <p:cNvSpPr txBox="1"/>
          <p:nvPr/>
        </p:nvSpPr>
        <p:spPr>
          <a:xfrm>
            <a:off x="866774" y="907211"/>
            <a:ext cx="11039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1) 利用手順</a:t>
            </a:r>
          </a:p>
          <a:p>
            <a:r>
              <a:t>・DeepL ボットの参加リクエストが Web 会議に届くので、参加を許可する。</a:t>
            </a:r>
          </a:p>
          <a:p>
            <a:r>
              <a:t>・しばらくするとブラウザで翻訳が開始します。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2A0F8AFB-E22C-C165-EE8C-666F9DE3A812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89725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②</a:t>
            </a:r>
            <a:r>
              <a:rPr lang="en-US" altLang="ja-JP" sz="3200" kern="0" dirty="0"/>
              <a:t>Web</a:t>
            </a:r>
            <a:r>
              <a:rPr lang="ja-JP" altLang="en-US" sz="3200" kern="0" dirty="0"/>
              <a:t>ブラウザ経由</a:t>
            </a:r>
          </a:p>
        </p:txBody>
      </p:sp>
      <p:pic>
        <p:nvPicPr>
          <p:cNvPr id="2" name="図 1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7C10B72-07A6-1C75-5B55-3C3F37B10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65" r="35760"/>
          <a:stretch>
            <a:fillRect/>
          </a:stretch>
        </p:blipFill>
        <p:spPr>
          <a:xfrm>
            <a:off x="459105" y="2970352"/>
            <a:ext cx="4494072" cy="2057108"/>
          </a:xfrm>
          <a:prstGeom prst="rect">
            <a:avLst/>
          </a:prstGeom>
        </p:spPr>
      </p:pic>
      <p:pic>
        <p:nvPicPr>
          <p:cNvPr id="12" name="図 1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EEF9142-D71A-1D6C-8322-03226B1E1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354" y="2970352"/>
            <a:ext cx="6078310" cy="242027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A8247AC2-BFCC-5BA9-1995-66C448B11B01}"/>
              </a:ext>
            </a:extLst>
          </p:cNvPr>
          <p:cNvSpPr/>
          <p:nvPr/>
        </p:nvSpPr>
        <p:spPr>
          <a:xfrm>
            <a:off x="5069978" y="3307080"/>
            <a:ext cx="698574" cy="1608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7CA0EF2-C7AD-1AC6-06E2-ACFC0698F0C2}"/>
              </a:ext>
            </a:extLst>
          </p:cNvPr>
          <p:cNvSpPr/>
          <p:nvPr/>
        </p:nvSpPr>
        <p:spPr>
          <a:xfrm>
            <a:off x="3006083" y="4268772"/>
            <a:ext cx="1184917" cy="4327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88C64D2-9227-6B8B-DEA8-1FDE6FE5A67F}"/>
              </a:ext>
            </a:extLst>
          </p:cNvPr>
          <p:cNvSpPr/>
          <p:nvPr/>
        </p:nvSpPr>
        <p:spPr>
          <a:xfrm>
            <a:off x="5955023" y="3621072"/>
            <a:ext cx="4476757" cy="15681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27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A5C30D5F-7D3B-8189-01E1-41F900D80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56" y="2630598"/>
            <a:ext cx="4982244" cy="358033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311544-8460-3005-94B2-0D8B0B667D8D}"/>
              </a:ext>
            </a:extLst>
          </p:cNvPr>
          <p:cNvSpPr txBox="1"/>
          <p:nvPr/>
        </p:nvSpPr>
        <p:spPr>
          <a:xfrm>
            <a:off x="822959" y="837566"/>
            <a:ext cx="115304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3) </a:t>
            </a:r>
            <a:r>
              <a:rPr dirty="0" err="1"/>
              <a:t>ライセンス保有者以外の利用手順</a:t>
            </a:r>
            <a:endParaRPr dirty="0"/>
          </a:p>
          <a:p>
            <a:r>
              <a:rPr dirty="0"/>
              <a:t>・</a:t>
            </a:r>
            <a:r>
              <a:rPr dirty="0" err="1"/>
              <a:t>DeepL</a:t>
            </a:r>
            <a:r>
              <a:rPr dirty="0"/>
              <a:t> </a:t>
            </a:r>
            <a:r>
              <a:rPr dirty="0" err="1"/>
              <a:t>ボットが招待されると、会議チャットに案内が表示されます</a:t>
            </a:r>
            <a:r>
              <a:rPr dirty="0"/>
              <a:t>。</a:t>
            </a:r>
          </a:p>
          <a:p>
            <a:r>
              <a:rPr dirty="0"/>
              <a:t>・「Open </a:t>
            </a:r>
            <a:r>
              <a:rPr dirty="0" err="1"/>
              <a:t>DeepL</a:t>
            </a:r>
            <a:r>
              <a:rPr dirty="0"/>
              <a:t> </a:t>
            </a:r>
            <a:r>
              <a:rPr dirty="0" err="1"/>
              <a:t>Voice」を押下し、発行されたコードを会議チャットに貼り付けると</a:t>
            </a:r>
            <a:r>
              <a:rPr dirty="0"/>
              <a:t>、</a:t>
            </a:r>
            <a:endParaRPr lang="en-US" dirty="0"/>
          </a:p>
          <a:p>
            <a:r>
              <a:rPr lang="ja-JP" altLang="en-US" dirty="0"/>
              <a:t>　</a:t>
            </a:r>
            <a:r>
              <a:rPr dirty="0" err="1"/>
              <a:t>ブラウザ上で翻訳が開始します</a:t>
            </a:r>
            <a:r>
              <a:rPr dirty="0"/>
              <a:t>。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78703726-AB77-B3E5-9BBC-3A9FF2A9E4FC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89725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②</a:t>
            </a:r>
            <a:r>
              <a:rPr lang="en-US" altLang="ja-JP" sz="3200" kern="0" dirty="0"/>
              <a:t>Web</a:t>
            </a:r>
            <a:r>
              <a:rPr lang="ja-JP" altLang="en-US" sz="3200" kern="0" dirty="0"/>
              <a:t>ブラウザ経由</a:t>
            </a:r>
          </a:p>
        </p:txBody>
      </p:sp>
    </p:spTree>
    <p:extLst>
      <p:ext uri="{BB962C8B-B14F-4D97-AF65-F5344CB8AC3E}">
        <p14:creationId xmlns:p14="http://schemas.microsoft.com/office/powerpoint/2010/main" val="401461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420D-8353-7E3C-40F5-91BC5644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C5E842-9775-BD2E-47F8-51E32D582D62}"/>
              </a:ext>
            </a:extLst>
          </p:cNvPr>
          <p:cNvSpPr txBox="1"/>
          <p:nvPr/>
        </p:nvSpPr>
        <p:spPr>
          <a:xfrm>
            <a:off x="822959" y="837566"/>
            <a:ext cx="115304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3) </a:t>
            </a:r>
            <a:r>
              <a:rPr dirty="0" err="1"/>
              <a:t>文字起こしの出力</a:t>
            </a:r>
            <a:endParaRPr dirty="0"/>
          </a:p>
          <a:p>
            <a:r>
              <a:rPr dirty="0"/>
              <a:t>・</a:t>
            </a:r>
            <a:r>
              <a:rPr dirty="0" err="1"/>
              <a:t>ブラウザ版</a:t>
            </a:r>
            <a:r>
              <a:rPr dirty="0"/>
              <a:t> </a:t>
            </a:r>
            <a:r>
              <a:rPr dirty="0" err="1"/>
              <a:t>DeepL</a:t>
            </a:r>
            <a:r>
              <a:rPr dirty="0"/>
              <a:t> Voice </a:t>
            </a:r>
            <a:r>
              <a:rPr dirty="0" err="1"/>
              <a:t>のメニューから「文字起こしデータをダウンロード」で</a:t>
            </a:r>
            <a:r>
              <a:rPr dirty="0"/>
              <a:t>、</a:t>
            </a:r>
            <a:endParaRPr lang="en-US" dirty="0"/>
          </a:p>
          <a:p>
            <a:r>
              <a:rPr lang="ja-JP" altLang="en-US" dirty="0"/>
              <a:t>　</a:t>
            </a:r>
            <a:r>
              <a:rPr dirty="0"/>
              <a:t>Text </a:t>
            </a:r>
            <a:r>
              <a:rPr dirty="0" err="1"/>
              <a:t>ファイルとして出力できます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会議中／会議終了後のどちらでもダウンロード可能です</a:t>
            </a:r>
            <a:r>
              <a:rPr dirty="0"/>
              <a:t>。</a:t>
            </a:r>
          </a:p>
          <a:p>
            <a:r>
              <a:rPr dirty="0"/>
              <a:t>　※ </a:t>
            </a:r>
            <a:r>
              <a:rPr dirty="0" err="1"/>
              <a:t>保持期間の既定は</a:t>
            </a:r>
            <a:r>
              <a:rPr dirty="0"/>
              <a:t> 30 </a:t>
            </a:r>
            <a:r>
              <a:rPr dirty="0" err="1"/>
              <a:t>日です</a:t>
            </a:r>
            <a:r>
              <a:rPr dirty="0"/>
              <a:t>。</a:t>
            </a:r>
          </a:p>
          <a:p>
            <a:r>
              <a:rPr dirty="0"/>
              <a:t>　※ </a:t>
            </a:r>
            <a:r>
              <a:rPr dirty="0" err="1"/>
              <a:t>文字起こしをダウンロードできるのは翻訳マネージャーのみです</a:t>
            </a:r>
            <a:r>
              <a:rPr dirty="0"/>
              <a:t>。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13BFAADA-BA53-BAF0-A256-7DA1C1F1BC31}"/>
              </a:ext>
            </a:extLst>
          </p:cNvPr>
          <p:cNvSpPr txBox="1">
            <a:spLocks/>
          </p:cNvSpPr>
          <p:nvPr/>
        </p:nvSpPr>
        <p:spPr>
          <a:xfrm>
            <a:off x="1019175" y="246991"/>
            <a:ext cx="8972550" cy="604519"/>
          </a:xfrm>
          <a:prstGeom prst="rect">
            <a:avLst/>
          </a:prstGeom>
        </p:spPr>
        <p:txBody>
          <a:bodyPr lIns="0" tIns="0" rIns="0" bIns="0"/>
          <a:lstStyle>
            <a:lvl1pPr eaLnBrk="1" hangingPunct="1">
              <a:defRPr kumimoji="1"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 sz="3200" kern="0" dirty="0"/>
              <a:t>②</a:t>
            </a:r>
            <a:r>
              <a:rPr lang="en-US" altLang="ja-JP" sz="3200" kern="0" dirty="0"/>
              <a:t>Web</a:t>
            </a:r>
            <a:r>
              <a:rPr lang="ja-JP" altLang="en-US" sz="3200" kern="0" dirty="0"/>
              <a:t>ブラウザ経由</a:t>
            </a:r>
          </a:p>
        </p:txBody>
      </p:sp>
      <p:pic>
        <p:nvPicPr>
          <p:cNvPr id="3" name="図 2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0B0633D0-AEBC-5888-800B-A82447CC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04" y="2696667"/>
            <a:ext cx="7448891" cy="380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2186"/>
      </p:ext>
    </p:extLst>
  </p:cSld>
  <p:clrMapOvr>
    <a:masterClrMapping/>
  </p:clrMapOvr>
</p:sld>
</file>

<file path=ppt/theme/theme1.xml><?xml version="1.0" encoding="utf-8"?>
<a:theme xmlns:a="http://schemas.openxmlformats.org/drawingml/2006/main" name="NSWテンプ">
  <a:themeElements>
    <a:clrScheme name="NSW">
      <a:dk1>
        <a:srgbClr val="000000"/>
      </a:dk1>
      <a:lt1>
        <a:srgbClr val="FFFFFF"/>
      </a:lt1>
      <a:dk2>
        <a:srgbClr val="014097"/>
      </a:dk2>
      <a:lt2>
        <a:srgbClr val="3278E8"/>
      </a:lt2>
      <a:accent1>
        <a:srgbClr val="E1690D"/>
      </a:accent1>
      <a:accent2>
        <a:srgbClr val="07AEE9"/>
      </a:accent2>
      <a:accent3>
        <a:srgbClr val="80CB57"/>
      </a:accent3>
      <a:accent4>
        <a:srgbClr val="7D68A6"/>
      </a:accent4>
      <a:accent5>
        <a:srgbClr val="CD2323"/>
      </a:accent5>
      <a:accent6>
        <a:srgbClr val="E7B209"/>
      </a:accent6>
      <a:hlink>
        <a:srgbClr val="3278E8"/>
      </a:hlink>
      <a:folHlink>
        <a:srgbClr val="81ACF1"/>
      </a:folHlink>
    </a:clrScheme>
    <a:fontScheme name="NSW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SWテンプ" id="{0BBC9F1F-B068-4BDA-9262-D8F178BCDA6E}" vid="{45170CBC-A8A8-4BD4-9D3E-B9A22B9F911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5D8587254E94E46877F3BD295F497AA" ma:contentTypeVersion="18" ma:contentTypeDescription="新しいドキュメントを作成します。" ma:contentTypeScope="" ma:versionID="b03244a30dab4b046ca928daf1bec4db">
  <xsd:schema xmlns:xsd="http://www.w3.org/2001/XMLSchema" xmlns:xs="http://www.w3.org/2001/XMLSchema" xmlns:p="http://schemas.microsoft.com/office/2006/metadata/properties" xmlns:ns2="5ec9a18a-5978-4904-b6bd-076ac222d95f" xmlns:ns3="040083d5-f34f-4d3e-8e67-a37abf43b1e4" targetNamespace="http://schemas.microsoft.com/office/2006/metadata/properties" ma:root="true" ma:fieldsID="382fa977f9aabbebd4d00d194cfc6430" ns2:_="" ns3:_="">
    <xsd:import namespace="5ec9a18a-5978-4904-b6bd-076ac222d95f"/>
    <xsd:import namespace="040083d5-f34f-4d3e-8e67-a37abf43b1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BillingMetadata" minOccurs="0"/>
                <xsd:element ref="ns2:_x5099__x8003_" minOccurs="0"/>
                <xsd:element ref="ns2:SVN_x79fb__x884c__x6709__x7121_" minOccurs="0"/>
                <xsd:element ref="ns2:_x30c1__x30fc__x30e0_" minOccurs="0"/>
                <xsd:element ref="ns2:SVN_x79fb__x884c__x5148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9a18a-5978-4904-b6bd-076ac222d9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画像タグ" ma:readOnly="false" ma:fieldId="{5cf76f15-5ced-4ddc-b409-7134ff3c332f}" ma:taxonomyMulti="true" ma:sspId="cdff059a-9c11-458b-a3ad-d8b85f671f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099__x8003_" ma:index="22" nillable="true" ma:displayName="SVN備考" ma:format="Dropdown" ma:internalName="_x5099__x8003_">
      <xsd:simpleType>
        <xsd:restriction base="dms:Text">
          <xsd:maxLength value="255"/>
        </xsd:restriction>
      </xsd:simpleType>
    </xsd:element>
    <xsd:element name="SVN_x79fb__x884c__x6709__x7121_" ma:index="23" nillable="true" ma:displayName="SVN移行有無" ma:format="Dropdown" ma:internalName="SVN_x79fb__x884c__x6709__x7121_">
      <xsd:simpleType>
        <xsd:restriction base="dms:Choice">
          <xsd:enumeration value="〇"/>
          <xsd:enumeration value="×"/>
          <xsd:enumeration value="？"/>
        </xsd:restriction>
      </xsd:simpleType>
    </xsd:element>
    <xsd:element name="_x30c1__x30fc__x30e0_" ma:index="24" nillable="true" ma:displayName="チーム" ma:format="Dropdown" ma:internalName="_x30c1__x30fc__x30e0_">
      <xsd:simpleType>
        <xsd:restriction base="dms:Choice">
          <xsd:enumeration value="MES"/>
          <xsd:enumeration value="IF"/>
          <xsd:enumeration value="IoT"/>
          <xsd:enumeration value="インフラ"/>
          <xsd:enumeration value="？"/>
        </xsd:restriction>
      </xsd:simpleType>
    </xsd:element>
    <xsd:element name="SVN_x79fb__x884c__x5148_" ma:index="25" nillable="true" ma:displayName="SVN移行先" ma:format="Dropdown" ma:internalName="SVN_x79fb__x884c__x5148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083d5-f34f-4d3e-8e67-a37abf43b1e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VN_x79fb__x884c__x6709__x7121_ xmlns="5ec9a18a-5978-4904-b6bd-076ac222d95f" xsi:nil="true"/>
    <_x30c1__x30fc__x30e0_ xmlns="5ec9a18a-5978-4904-b6bd-076ac222d95f" xsi:nil="true"/>
    <lcf76f155ced4ddcb4097134ff3c332f xmlns="5ec9a18a-5978-4904-b6bd-076ac222d95f">
      <Terms xmlns="http://schemas.microsoft.com/office/infopath/2007/PartnerControls"/>
    </lcf76f155ced4ddcb4097134ff3c332f>
    <_x5099__x8003_ xmlns="5ec9a18a-5978-4904-b6bd-076ac222d95f" xsi:nil="true"/>
    <SVN_x79fb__x884c__x5148_ xmlns="5ec9a18a-5978-4904-b6bd-076ac222d95f" xsi:nil="true"/>
  </documentManagement>
</p:properties>
</file>

<file path=customXml/itemProps1.xml><?xml version="1.0" encoding="utf-8"?>
<ds:datastoreItem xmlns:ds="http://schemas.openxmlformats.org/officeDocument/2006/customXml" ds:itemID="{35B07918-135E-4B8A-9DAC-C1C19A266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9a18a-5978-4904-b6bd-076ac222d95f"/>
    <ds:schemaRef ds:uri="040083d5-f34f-4d3e-8e67-a37abf43b1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4AF4C-6879-4234-AE2B-374486B3BF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F4522B-3A7E-4333-B481-7335ED23EFAB}">
  <ds:schemaRefs>
    <ds:schemaRef ds:uri="http://schemas.microsoft.com/office/2006/documentManagement/types"/>
    <ds:schemaRef ds:uri="5ec9a18a-5978-4904-b6bd-076ac222d95f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040083d5-f34f-4d3e-8e67-a37abf43b1e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NSWテンプ</Template>
  <TotalTime>192</TotalTime>
  <Words>478</Words>
  <Application>Microsoft Office PowerPoint</Application>
  <PresentationFormat>ワイド画面</PresentationFormat>
  <Paragraphs>78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4" baseType="lpstr">
      <vt:lpstr>游ゴシック</vt:lpstr>
      <vt:lpstr>NSWテンプ</vt:lpstr>
      <vt:lpstr>DeepL Voice for Meetings 利用手順</vt:lpstr>
      <vt:lpstr>PowerPoint プレゼンテーション</vt:lpstr>
      <vt:lpstr>①Teamsアプリ経由</vt:lpstr>
      <vt:lpstr>①Teamsアプリ経由</vt:lpstr>
      <vt:lpstr>①Teamsアプリ経由</vt:lpstr>
      <vt:lpstr>①Teamsアプリ経由</vt:lpstr>
      <vt:lpstr>①Teamsアプリ経由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隆広</dc:creator>
  <cp:lastModifiedBy>鈴木　隆広</cp:lastModifiedBy>
  <cp:revision>5</cp:revision>
  <dcterms:created xsi:type="dcterms:W3CDTF">2025-10-08T06:14:39Z</dcterms:created>
  <dcterms:modified xsi:type="dcterms:W3CDTF">2026-02-18T04:55:50Z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0x010100C5D8587254E94E46877F3BD295F497AA</vt:lpwstr>
  </property>
  <property fmtid="{D5CDD505-2E9C-101B-9397-08002B2CF9AE}" pid="3" name="MediaServiceImageTags">
    <vt:lpwstr/>
  </property>
</Properties>
</file>