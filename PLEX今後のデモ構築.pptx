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2106" y="8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18293D-6ACD-4BCB-7C8A-DA28C9643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57A37E0-90FE-E0E4-3357-F4B8A911F7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B3ACB6-5FD3-6E29-4A49-FDB665D7C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ADBD-8470-4BB9-A529-02481A7617E1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CDCB292-0CB4-8C65-F5CE-68CF1711D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8FFE92F-E509-8E5C-8188-6F5EC026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92B90-6F03-4EC6-AC4F-A507C187A9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7651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CA3367-312F-7F08-A771-E9FDE14FE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CFD401C-EE7E-5989-C6B5-A756B41F3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A7966ED-9C73-5D35-1C12-B82CC80E0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ADBD-8470-4BB9-A529-02481A7617E1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39F6AFD-1171-E3A1-82EE-3ADAC7EDF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CF7FBE5-B14F-B16A-8783-B2F071276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92B90-6F03-4EC6-AC4F-A507C187A9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2450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840566-92E7-78FE-7E5F-64E29F28D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D48FAE1-02F8-5B6A-D34B-A8ADA32C5C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637B073-2BBB-20A1-4C59-CE3D3E867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ADBD-8470-4BB9-A529-02481A7617E1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981A19A-F5CE-B729-C3D6-A0AE2E6DC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FE8F831-E2DC-C910-F5C4-A518AA4B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92B90-6F03-4EC6-AC4F-A507C187A9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4807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B2D460-7DED-74E3-874D-6493699B0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4A0561F-84F5-8FEE-B78A-5A313B1DD1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53D008E-EAB4-9AA3-8B9A-A7A33F67FD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6FE5CB-6AB8-102A-796A-3CA8F74EC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ADBD-8470-4BB9-A529-02481A7617E1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6BA3492-D320-47A1-0B26-E3C1A3FF0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AD91ED3-5F15-C898-A362-2193AD088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92B90-6F03-4EC6-AC4F-A507C187A9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3752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6C6E40-A99D-40EB-3BD4-C44A49372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85E940E-DDF6-BC35-C5A1-176C234943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0905AAE-D4A5-2BDC-70EB-0D04A2621C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EED306A-ACB6-334A-DBD6-28000A3FD2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FEA6DB6-1E13-A417-F37C-E9D8D7DC16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F31DF8F-DE83-49F8-6230-4711C7E99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ADBD-8470-4BB9-A529-02481A7617E1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13824A8-4848-0C2C-55FB-8ECB3B663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694DE97-E02A-7B38-4B37-4D6A2A11A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92B90-6F03-4EC6-AC4F-A507C187A9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7287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CAD150-914D-F1D3-85DE-2A1E1F0D2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4B6ABF2-C53B-51CD-315E-3457F3CFD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ADBD-8470-4BB9-A529-02481A7617E1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514134F-FBCB-A5E8-1AC6-856AE0E2B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EFCBDCD-A73C-55CE-6941-F999FCC36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92B90-6F03-4EC6-AC4F-A507C187A9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7553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0D4B13B-A50C-A0D7-5161-982F7D5EB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ADBD-8470-4BB9-A529-02481A7617E1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14419DF-7A47-3E30-5A4C-474C79F8A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1476565-CB44-50A6-5A2F-DCB5B94E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92B90-6F03-4EC6-AC4F-A507C187A9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0061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F5E1FE-B6A7-0C7E-9787-7F1FC36CC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4EAEDA8-9D7B-359E-86AA-B0F8A45CD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C274C2D-0086-C987-34FE-F766896979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07219F7-00C1-F090-7130-35D616CEB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ADBD-8470-4BB9-A529-02481A7617E1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FEB4CF3-C84C-6E54-77B8-C607D9CC9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86BA0B7-2319-030C-0E4A-9AD9A1737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92B90-6F03-4EC6-AC4F-A507C187A9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645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EE49AA-39B6-716B-A4CC-9950AD60E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99A96E9-81FA-DAB2-5D36-1DB3102556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8A7EE3F-3407-8193-B8FA-4E5221BBFD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376C961-2CB5-49EE-B70D-57D8CEFB7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ADBD-8470-4BB9-A529-02481A7617E1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FF86E5C-BFCA-B548-A555-565D282F6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B9B15E5-4E8A-255D-50F8-6AD3D17BE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92B90-6F03-4EC6-AC4F-A507C187A9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6475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988918-D890-9E16-5D54-9F3780C2A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3B21129-E31C-3270-8483-0B116E9E9E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BF378DA-13A3-512F-09B3-3EAFE03B7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ADBD-8470-4BB9-A529-02481A7617E1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A0A7938-0F08-077D-7099-A72CD4280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1120683-E229-10A6-59CC-31A79F6DC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92B90-6F03-4EC6-AC4F-A507C187A9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1947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3AE517E-5F50-EDC6-5DE4-F7EC9EB076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D9BB2BC-DB83-49CD-E233-E6B368CDC2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1625182-B73D-1DE6-D9DF-8A9A6C0FB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ADBD-8470-4BB9-A529-02481A7617E1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2F4560-27B1-ED3B-CA45-73FC2A424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69C56BA-ABD5-F584-F034-8864D1CED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92B90-6F03-4EC6-AC4F-A507C187A9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9171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41CECEC-9B4F-180F-A241-EC2534A82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6973F86-A321-F9EE-21E1-335BA59184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32560C6-336A-BA98-98C9-7DEB2DD636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E4ADBD-8470-4BB9-A529-02481A7617E1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82B6225-A1AB-311F-E5BA-0D80114E0F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40413F5-8E28-9527-C0EC-293A8250CC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192B90-6F03-4EC6-AC4F-A507C187A9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1536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665DC420-D140-7F3C-F67A-68A2E90AC718}"/>
              </a:ext>
            </a:extLst>
          </p:cNvPr>
          <p:cNvCxnSpPr>
            <a:cxnSpLocks/>
            <a:stCxn id="7" idx="3"/>
            <a:endCxn id="26" idx="1"/>
          </p:cNvCxnSpPr>
          <p:nvPr/>
        </p:nvCxnSpPr>
        <p:spPr>
          <a:xfrm>
            <a:off x="3133552" y="3787194"/>
            <a:ext cx="1704225" cy="29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9C2BA6E-3268-8150-B0FF-A168B13F064E}"/>
              </a:ext>
            </a:extLst>
          </p:cNvPr>
          <p:cNvSpPr txBox="1"/>
          <p:nvPr/>
        </p:nvSpPr>
        <p:spPr>
          <a:xfrm>
            <a:off x="990601" y="486833"/>
            <a:ext cx="1038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ROKLIVE</a:t>
            </a:r>
            <a:r>
              <a:rPr kumimoji="1" lang="ja-JP" altLang="en-US" dirty="0"/>
              <a:t>デモ構成（案）　</a:t>
            </a:r>
            <a:r>
              <a:rPr kumimoji="1" lang="en-US" altLang="ja-JP" dirty="0"/>
              <a:t>1st STEP</a:t>
            </a:r>
            <a:endParaRPr kumimoji="1" lang="ja-JP" altLang="en-US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0CD84D8-A3EF-0903-C919-7799FC5DF410}"/>
              </a:ext>
            </a:extLst>
          </p:cNvPr>
          <p:cNvSpPr/>
          <p:nvPr/>
        </p:nvSpPr>
        <p:spPr>
          <a:xfrm>
            <a:off x="1670514" y="3480370"/>
            <a:ext cx="1463038" cy="6136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A&amp;O</a:t>
            </a:r>
            <a:endParaRPr kumimoji="1"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E527922-0A1D-B9EE-8822-19A98645DD9D}"/>
              </a:ext>
            </a:extLst>
          </p:cNvPr>
          <p:cNvSpPr txBox="1"/>
          <p:nvPr/>
        </p:nvSpPr>
        <p:spPr>
          <a:xfrm>
            <a:off x="1099011" y="1933748"/>
            <a:ext cx="293454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NSW</a:t>
            </a:r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45EB251-A1A0-7213-E6E6-DC089BDA26B3}"/>
              </a:ext>
            </a:extLst>
          </p:cNvPr>
          <p:cNvSpPr txBox="1"/>
          <p:nvPr/>
        </p:nvSpPr>
        <p:spPr>
          <a:xfrm>
            <a:off x="7328361" y="1933748"/>
            <a:ext cx="365379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展示会場</a:t>
            </a:r>
            <a:endParaRPr kumimoji="1" lang="en-US" altLang="ja-JP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EFECF46-DA6A-BE4F-E02D-6A41AC8B26F4}"/>
              </a:ext>
            </a:extLst>
          </p:cNvPr>
          <p:cNvSpPr txBox="1"/>
          <p:nvPr/>
        </p:nvSpPr>
        <p:spPr>
          <a:xfrm>
            <a:off x="1411854" y="3122963"/>
            <a:ext cx="23088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/>
              <a:t>Kepware</a:t>
            </a:r>
            <a:r>
              <a:rPr kumimoji="1" lang="ja-JP" altLang="en-US" sz="1400" dirty="0"/>
              <a:t>シミュレータ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14B056A-0700-E572-A2A7-F19373968DF4}"/>
              </a:ext>
            </a:extLst>
          </p:cNvPr>
          <p:cNvSpPr txBox="1"/>
          <p:nvPr/>
        </p:nvSpPr>
        <p:spPr>
          <a:xfrm>
            <a:off x="655320" y="1319147"/>
            <a:ext cx="54406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/>
              <a:t>1st</a:t>
            </a:r>
            <a:r>
              <a:rPr lang="ja-JP" altLang="en-US" sz="1400" dirty="0"/>
              <a:t> </a:t>
            </a:r>
            <a:r>
              <a:rPr lang="en-US" altLang="ja-JP" sz="1400" dirty="0"/>
              <a:t>STEP</a:t>
            </a:r>
            <a:r>
              <a:rPr lang="ja-JP" altLang="en-US" sz="1400" dirty="0"/>
              <a:t>：</a:t>
            </a:r>
            <a:r>
              <a:rPr kumimoji="1" lang="en-US" altLang="ja-JP" sz="1400" dirty="0"/>
              <a:t>Kepware</a:t>
            </a:r>
            <a:r>
              <a:rPr kumimoji="1" lang="ja-JP" altLang="en-US" sz="1400" dirty="0"/>
              <a:t>シミュレータで完成報告を</a:t>
            </a:r>
            <a:r>
              <a:rPr lang="ja-JP" altLang="en-US" sz="1400" dirty="0"/>
              <a:t>シミュレーション</a:t>
            </a:r>
            <a:endParaRPr kumimoji="1" lang="ja-JP" altLang="en-US" sz="1400" dirty="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7B1DA2A-3C4A-8B4F-3978-E63137AA7A0A}"/>
              </a:ext>
            </a:extLst>
          </p:cNvPr>
          <p:cNvSpPr txBox="1"/>
          <p:nvPr/>
        </p:nvSpPr>
        <p:spPr>
          <a:xfrm>
            <a:off x="4356560" y="1926568"/>
            <a:ext cx="268605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クラウド</a:t>
            </a:r>
            <a:endParaRPr kumimoji="1" lang="en-US" altLang="ja-JP" dirty="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54030F15-EA88-3545-E2C2-34CAABB7F064}"/>
              </a:ext>
            </a:extLst>
          </p:cNvPr>
          <p:cNvSpPr/>
          <p:nvPr/>
        </p:nvSpPr>
        <p:spPr>
          <a:xfrm>
            <a:off x="9419396" y="3430740"/>
            <a:ext cx="1982504" cy="7129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PLEX</a:t>
            </a:r>
          </a:p>
          <a:p>
            <a:pPr algn="ctr"/>
            <a:r>
              <a:rPr kumimoji="1" lang="ja-JP" altLang="en-US" dirty="0"/>
              <a:t>　クライアント</a:t>
            </a:r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F0ED152D-7F50-8D70-B8E8-CD63AA550A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7777" y="2987843"/>
            <a:ext cx="1604509" cy="1604509"/>
          </a:xfrm>
          <a:prstGeom prst="rect">
            <a:avLst/>
          </a:prstGeom>
        </p:spPr>
      </p:pic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6C8E40D2-E932-2EF7-4F4C-2FF744286404}"/>
              </a:ext>
            </a:extLst>
          </p:cNvPr>
          <p:cNvSpPr/>
          <p:nvPr/>
        </p:nvSpPr>
        <p:spPr>
          <a:xfrm>
            <a:off x="4908512" y="2561934"/>
            <a:ext cx="1463038" cy="3867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PLEX</a:t>
            </a:r>
            <a:endParaRPr kumimoji="1" lang="ja-JP" altLang="en-US" dirty="0"/>
          </a:p>
        </p:txBody>
      </p: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4D00D682-8C9E-9619-3AE3-0304A575ABC3}"/>
              </a:ext>
            </a:extLst>
          </p:cNvPr>
          <p:cNvCxnSpPr>
            <a:cxnSpLocks/>
            <a:stCxn id="26" idx="3"/>
          </p:cNvCxnSpPr>
          <p:nvPr/>
        </p:nvCxnSpPr>
        <p:spPr>
          <a:xfrm flipV="1">
            <a:off x="6442286" y="3780014"/>
            <a:ext cx="1453893" cy="100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" name="図 39">
            <a:extLst>
              <a:ext uri="{FF2B5EF4-FFF2-40B4-BE49-F238E27FC236}">
                <a16:creationId xmlns:a16="http://schemas.microsoft.com/office/drawing/2014/main" id="{1FA64FC3-BCFB-65D1-4431-879040B4C3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823" y="3258954"/>
            <a:ext cx="1487666" cy="1056475"/>
          </a:xfrm>
          <a:prstGeom prst="rect">
            <a:avLst/>
          </a:prstGeom>
        </p:spPr>
      </p:pic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16D0EEC9-37D7-7F5D-1CCF-103E1C4218DE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402033" y="4094018"/>
            <a:ext cx="5669278" cy="14769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フローチャート: 直接アクセス記憶 18">
            <a:extLst>
              <a:ext uri="{FF2B5EF4-FFF2-40B4-BE49-F238E27FC236}">
                <a16:creationId xmlns:a16="http://schemas.microsoft.com/office/drawing/2014/main" id="{36C8F0FF-4078-24BD-A3EF-8B3C201BDB3D}"/>
              </a:ext>
            </a:extLst>
          </p:cNvPr>
          <p:cNvSpPr/>
          <p:nvPr/>
        </p:nvSpPr>
        <p:spPr>
          <a:xfrm rot="862755">
            <a:off x="4409374" y="4734160"/>
            <a:ext cx="2091690" cy="369324"/>
          </a:xfrm>
          <a:prstGeom prst="flowChartMagneticDrum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VPN</a:t>
            </a:r>
            <a:endParaRPr kumimoji="1" lang="ja-JP" altLang="en-US" sz="1200" dirty="0"/>
          </a:p>
        </p:txBody>
      </p:sp>
      <p:pic>
        <p:nvPicPr>
          <p:cNvPr id="58" name="図 57">
            <a:extLst>
              <a:ext uri="{FF2B5EF4-FFF2-40B4-BE49-F238E27FC236}">
                <a16:creationId xmlns:a16="http://schemas.microsoft.com/office/drawing/2014/main" id="{08AB575A-91A3-C137-BEC7-45DB46D52B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1730" y="5108830"/>
            <a:ext cx="1487666" cy="1056475"/>
          </a:xfrm>
          <a:prstGeom prst="rect">
            <a:avLst/>
          </a:prstGeom>
        </p:spPr>
      </p:pic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96C5CCBA-D311-643D-4B0B-E5649073D382}"/>
              </a:ext>
            </a:extLst>
          </p:cNvPr>
          <p:cNvSpPr/>
          <p:nvPr/>
        </p:nvSpPr>
        <p:spPr>
          <a:xfrm>
            <a:off x="9488881" y="5214499"/>
            <a:ext cx="1982504" cy="7129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A&amp;O</a:t>
            </a:r>
          </a:p>
          <a:p>
            <a:pPr algn="ctr"/>
            <a:r>
              <a:rPr kumimoji="1" lang="ja-JP" altLang="en-US" dirty="0"/>
              <a:t>　クライアント</a:t>
            </a:r>
          </a:p>
        </p:txBody>
      </p:sp>
    </p:spTree>
    <p:extLst>
      <p:ext uri="{BB962C8B-B14F-4D97-AF65-F5344CB8AC3E}">
        <p14:creationId xmlns:p14="http://schemas.microsoft.com/office/powerpoint/2010/main" val="3652618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E1417-D384-CF71-DA03-E48553802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AD6EA792-B649-0F54-E2C4-54F85AED0DA2}"/>
              </a:ext>
            </a:extLst>
          </p:cNvPr>
          <p:cNvCxnSpPr>
            <a:cxnSpLocks/>
            <a:stCxn id="7" idx="3"/>
            <a:endCxn id="26" idx="1"/>
          </p:cNvCxnSpPr>
          <p:nvPr/>
        </p:nvCxnSpPr>
        <p:spPr>
          <a:xfrm>
            <a:off x="3229841" y="3379625"/>
            <a:ext cx="1704225" cy="29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770EF90-795B-4394-D3EC-927D5CD1228C}"/>
              </a:ext>
            </a:extLst>
          </p:cNvPr>
          <p:cNvSpPr txBox="1"/>
          <p:nvPr/>
        </p:nvSpPr>
        <p:spPr>
          <a:xfrm>
            <a:off x="990601" y="486833"/>
            <a:ext cx="1038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ROKLIVE</a:t>
            </a:r>
            <a:r>
              <a:rPr kumimoji="1" lang="ja-JP" altLang="en-US" dirty="0"/>
              <a:t>デモ構成（案）　</a:t>
            </a:r>
            <a:r>
              <a:rPr kumimoji="1" lang="en-US" altLang="ja-JP" dirty="0"/>
              <a:t>2nd STEP</a:t>
            </a:r>
            <a:endParaRPr kumimoji="1" lang="ja-JP" altLang="en-US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89DE106-CDCE-094D-7F3A-7A6B8B1915F5}"/>
              </a:ext>
            </a:extLst>
          </p:cNvPr>
          <p:cNvSpPr/>
          <p:nvPr/>
        </p:nvSpPr>
        <p:spPr>
          <a:xfrm>
            <a:off x="1766803" y="3072801"/>
            <a:ext cx="1463038" cy="6136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A&amp;O</a:t>
            </a:r>
            <a:endParaRPr kumimoji="1"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A7BEAAB-7951-4B97-5F31-726437F698BD}"/>
              </a:ext>
            </a:extLst>
          </p:cNvPr>
          <p:cNvSpPr txBox="1"/>
          <p:nvPr/>
        </p:nvSpPr>
        <p:spPr>
          <a:xfrm>
            <a:off x="1099011" y="1504252"/>
            <a:ext cx="293454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NSW</a:t>
            </a:r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88DFC76-9846-B5AA-B89F-7C1B45F6A153}"/>
              </a:ext>
            </a:extLst>
          </p:cNvPr>
          <p:cNvSpPr txBox="1"/>
          <p:nvPr/>
        </p:nvSpPr>
        <p:spPr>
          <a:xfrm>
            <a:off x="7328361" y="1504252"/>
            <a:ext cx="365379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展示会場</a:t>
            </a:r>
            <a:endParaRPr kumimoji="1" lang="en-US" altLang="ja-JP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A323E1C-6CF3-549B-0C35-E2EA67F1E7BA}"/>
              </a:ext>
            </a:extLst>
          </p:cNvPr>
          <p:cNvSpPr txBox="1"/>
          <p:nvPr/>
        </p:nvSpPr>
        <p:spPr>
          <a:xfrm>
            <a:off x="548985" y="1124457"/>
            <a:ext cx="8179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/>
              <a:t>2nd</a:t>
            </a:r>
            <a:r>
              <a:rPr lang="ja-JP" altLang="en-US" sz="1400" dirty="0"/>
              <a:t> </a:t>
            </a:r>
            <a:r>
              <a:rPr lang="en-US" altLang="ja-JP" sz="1400" dirty="0"/>
              <a:t>STEP</a:t>
            </a:r>
            <a:r>
              <a:rPr lang="ja-JP" altLang="en-US" sz="1400" dirty="0"/>
              <a:t>：</a:t>
            </a:r>
            <a:r>
              <a:rPr lang="en-US" altLang="ja-JP" sz="1400" dirty="0"/>
              <a:t>SCADA</a:t>
            </a:r>
            <a:r>
              <a:rPr lang="ja-JP" altLang="en-US" sz="1400" dirty="0"/>
              <a:t>経由でミニチュア工場の</a:t>
            </a:r>
            <a:r>
              <a:rPr lang="en-US" altLang="ja-JP" sz="1400" dirty="0"/>
              <a:t>PLC</a:t>
            </a:r>
            <a:r>
              <a:rPr lang="ja-JP" altLang="en-US" sz="1400" dirty="0"/>
              <a:t>を制御して</a:t>
            </a:r>
            <a:r>
              <a:rPr lang="en-US" altLang="ja-JP" sz="1400" dirty="0"/>
              <a:t>A&amp;O</a:t>
            </a:r>
            <a:r>
              <a:rPr lang="ja-JP" altLang="en-US" sz="1400" dirty="0"/>
              <a:t>と連携</a:t>
            </a:r>
            <a:endParaRPr kumimoji="1" lang="ja-JP" altLang="en-US" sz="1400" dirty="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F7527D69-9FB4-D182-CEE5-F14BD87AE8E1}"/>
              </a:ext>
            </a:extLst>
          </p:cNvPr>
          <p:cNvSpPr txBox="1"/>
          <p:nvPr/>
        </p:nvSpPr>
        <p:spPr>
          <a:xfrm>
            <a:off x="4356560" y="1497072"/>
            <a:ext cx="268605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クラウド</a:t>
            </a:r>
            <a:endParaRPr kumimoji="1" lang="en-US" altLang="ja-JP" dirty="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CB98E8B3-8918-91FD-C335-C0CF213A0B73}"/>
              </a:ext>
            </a:extLst>
          </p:cNvPr>
          <p:cNvSpPr/>
          <p:nvPr/>
        </p:nvSpPr>
        <p:spPr>
          <a:xfrm>
            <a:off x="9515685" y="3023171"/>
            <a:ext cx="1982504" cy="7129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PLEX</a:t>
            </a:r>
          </a:p>
          <a:p>
            <a:pPr algn="ctr"/>
            <a:r>
              <a:rPr kumimoji="1" lang="ja-JP" altLang="en-US" dirty="0"/>
              <a:t>　クライアント</a:t>
            </a:r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EC065E97-0FD6-0324-E763-5621BBF6F1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4066" y="2580274"/>
            <a:ext cx="1604509" cy="1604509"/>
          </a:xfrm>
          <a:prstGeom prst="rect">
            <a:avLst/>
          </a:prstGeom>
        </p:spPr>
      </p:pic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C521014F-0A35-579D-CAA8-9E6363DA3471}"/>
              </a:ext>
            </a:extLst>
          </p:cNvPr>
          <p:cNvSpPr/>
          <p:nvPr/>
        </p:nvSpPr>
        <p:spPr>
          <a:xfrm>
            <a:off x="5004801" y="2154365"/>
            <a:ext cx="1463038" cy="3867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PLEX</a:t>
            </a:r>
            <a:endParaRPr kumimoji="1" lang="ja-JP" altLang="en-US" dirty="0"/>
          </a:p>
        </p:txBody>
      </p: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AA3B7EE8-FD63-D78C-D1DD-94752A4DD2B1}"/>
              </a:ext>
            </a:extLst>
          </p:cNvPr>
          <p:cNvCxnSpPr>
            <a:cxnSpLocks/>
            <a:stCxn id="26" idx="3"/>
          </p:cNvCxnSpPr>
          <p:nvPr/>
        </p:nvCxnSpPr>
        <p:spPr>
          <a:xfrm flipV="1">
            <a:off x="6538575" y="3372445"/>
            <a:ext cx="1453893" cy="100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" name="図 39">
            <a:extLst>
              <a:ext uri="{FF2B5EF4-FFF2-40B4-BE49-F238E27FC236}">
                <a16:creationId xmlns:a16="http://schemas.microsoft.com/office/drawing/2014/main" id="{07F7DCE8-1CE6-A752-5F1E-0D538FAA09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8112" y="2851385"/>
            <a:ext cx="1487666" cy="1056475"/>
          </a:xfrm>
          <a:prstGeom prst="rect">
            <a:avLst/>
          </a:prstGeom>
        </p:spPr>
      </p:pic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CD1AE1B7-CB88-DEFD-0F52-7054244FDA32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498322" y="3686449"/>
            <a:ext cx="5669278" cy="14769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8" name="図 57">
            <a:extLst>
              <a:ext uri="{FF2B5EF4-FFF2-40B4-BE49-F238E27FC236}">
                <a16:creationId xmlns:a16="http://schemas.microsoft.com/office/drawing/2014/main" id="{518995C0-5597-CB7A-156F-7686F247EF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019" y="4701261"/>
            <a:ext cx="1487666" cy="1056475"/>
          </a:xfrm>
          <a:prstGeom prst="rect">
            <a:avLst/>
          </a:prstGeom>
        </p:spPr>
      </p:pic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E280F54D-E433-DCC9-B6EA-D4A985B1D702}"/>
              </a:ext>
            </a:extLst>
          </p:cNvPr>
          <p:cNvSpPr/>
          <p:nvPr/>
        </p:nvSpPr>
        <p:spPr>
          <a:xfrm>
            <a:off x="9585170" y="4806930"/>
            <a:ext cx="1982504" cy="7129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A&amp;O</a:t>
            </a:r>
          </a:p>
          <a:p>
            <a:pPr algn="ctr"/>
            <a:r>
              <a:rPr kumimoji="1" lang="ja-JP" altLang="en-US" dirty="0"/>
              <a:t>　クライアント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FA471FC-DC87-B6BF-2519-CC8A523F4490}"/>
              </a:ext>
            </a:extLst>
          </p:cNvPr>
          <p:cNvSpPr/>
          <p:nvPr/>
        </p:nvSpPr>
        <p:spPr>
          <a:xfrm>
            <a:off x="1766803" y="4394437"/>
            <a:ext cx="1463038" cy="6136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PLC</a:t>
            </a:r>
            <a:endParaRPr kumimoji="1" lang="ja-JP" altLang="en-US" dirty="0"/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8159FB27-C0A2-8FAD-15C9-0525D5B08C51}"/>
              </a:ext>
            </a:extLst>
          </p:cNvPr>
          <p:cNvCxnSpPr>
            <a:cxnSpLocks/>
            <a:stCxn id="7" idx="2"/>
            <a:endCxn id="2" idx="0"/>
          </p:cNvCxnSpPr>
          <p:nvPr/>
        </p:nvCxnSpPr>
        <p:spPr>
          <a:xfrm>
            <a:off x="2498322" y="3686449"/>
            <a:ext cx="0" cy="7079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1F75766-174E-84EE-B3A6-46BCEBCED321}"/>
              </a:ext>
            </a:extLst>
          </p:cNvPr>
          <p:cNvSpPr/>
          <p:nvPr/>
        </p:nvSpPr>
        <p:spPr>
          <a:xfrm>
            <a:off x="1773035" y="5293059"/>
            <a:ext cx="1463038" cy="613648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SCADA</a:t>
            </a:r>
            <a:endParaRPr kumimoji="1" lang="ja-JP" altLang="en-US" dirty="0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D0B666F8-6577-3194-305D-7F114BF3916C}"/>
              </a:ext>
            </a:extLst>
          </p:cNvPr>
          <p:cNvCxnSpPr>
            <a:cxnSpLocks/>
            <a:stCxn id="6" idx="0"/>
            <a:endCxn id="2" idx="2"/>
          </p:cNvCxnSpPr>
          <p:nvPr/>
        </p:nvCxnSpPr>
        <p:spPr>
          <a:xfrm flipH="1" flipV="1">
            <a:off x="2498322" y="5008085"/>
            <a:ext cx="6232" cy="2849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1612BD12-0C2F-4076-38B9-41F122DA6A17}"/>
              </a:ext>
            </a:extLst>
          </p:cNvPr>
          <p:cNvCxnSpPr>
            <a:cxnSpLocks/>
          </p:cNvCxnSpPr>
          <p:nvPr/>
        </p:nvCxnSpPr>
        <p:spPr>
          <a:xfrm flipV="1">
            <a:off x="3217872" y="5353748"/>
            <a:ext cx="4949728" cy="3077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フローチャート: 直接アクセス記憶 19">
            <a:extLst>
              <a:ext uri="{FF2B5EF4-FFF2-40B4-BE49-F238E27FC236}">
                <a16:creationId xmlns:a16="http://schemas.microsoft.com/office/drawing/2014/main" id="{1F54AE26-9371-0F34-A7FD-9A20CDAC6342}"/>
              </a:ext>
            </a:extLst>
          </p:cNvPr>
          <p:cNvSpPr/>
          <p:nvPr/>
        </p:nvSpPr>
        <p:spPr>
          <a:xfrm rot="712790">
            <a:off x="4543555" y="4259018"/>
            <a:ext cx="2091690" cy="2034352"/>
          </a:xfrm>
          <a:prstGeom prst="flowChartMagneticDrum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/>
              <a:t>VPN</a:t>
            </a:r>
            <a:endParaRPr kumimoji="1" lang="ja-JP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617625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EE575-AA83-4EDB-71BB-D50C46A74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B321526-043F-9D6E-AC1E-BC053BEBA539}"/>
              </a:ext>
            </a:extLst>
          </p:cNvPr>
          <p:cNvSpPr/>
          <p:nvPr/>
        </p:nvSpPr>
        <p:spPr>
          <a:xfrm>
            <a:off x="1112771" y="5142425"/>
            <a:ext cx="2934548" cy="132304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ja-JP" dirty="0"/>
              <a:t>Emulate3D</a:t>
            </a:r>
            <a:endParaRPr kumimoji="1" lang="ja-JP" altLang="en-US" dirty="0"/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3F7C970B-B917-C6AB-C2F2-B99C76E129F9}"/>
              </a:ext>
            </a:extLst>
          </p:cNvPr>
          <p:cNvCxnSpPr>
            <a:cxnSpLocks/>
            <a:stCxn id="7" idx="3"/>
            <a:endCxn id="26" idx="1"/>
          </p:cNvCxnSpPr>
          <p:nvPr/>
        </p:nvCxnSpPr>
        <p:spPr>
          <a:xfrm flipV="1">
            <a:off x="3188971" y="3112524"/>
            <a:ext cx="1733954" cy="96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C005B1E-5B50-039F-FE79-B587CAF45B8E}"/>
              </a:ext>
            </a:extLst>
          </p:cNvPr>
          <p:cNvSpPr txBox="1"/>
          <p:nvPr/>
        </p:nvSpPr>
        <p:spPr>
          <a:xfrm>
            <a:off x="990601" y="486833"/>
            <a:ext cx="1038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ROKLIVE</a:t>
            </a:r>
            <a:r>
              <a:rPr kumimoji="1" lang="ja-JP" altLang="en-US" dirty="0"/>
              <a:t>デモ構成（案）　</a:t>
            </a:r>
            <a:r>
              <a:rPr lang="en-US" altLang="ja-JP" dirty="0"/>
              <a:t>3r</a:t>
            </a:r>
            <a:r>
              <a:rPr kumimoji="1" lang="en-US" altLang="ja-JP" dirty="0"/>
              <a:t>d STEP</a:t>
            </a:r>
            <a:endParaRPr kumimoji="1" lang="ja-JP" altLang="en-US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4311947-5E7A-6B39-1B89-474EBC5D30DA}"/>
              </a:ext>
            </a:extLst>
          </p:cNvPr>
          <p:cNvSpPr/>
          <p:nvPr/>
        </p:nvSpPr>
        <p:spPr>
          <a:xfrm>
            <a:off x="1725933" y="2815352"/>
            <a:ext cx="1463038" cy="6136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A&amp;O</a:t>
            </a:r>
            <a:endParaRPr kumimoji="1"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9F9C752-F394-1FD0-7EE8-BF40518153CE}"/>
              </a:ext>
            </a:extLst>
          </p:cNvPr>
          <p:cNvSpPr txBox="1"/>
          <p:nvPr/>
        </p:nvSpPr>
        <p:spPr>
          <a:xfrm>
            <a:off x="1112771" y="1394961"/>
            <a:ext cx="293454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NSW</a:t>
            </a:r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BF388CF-9482-B1C1-7097-806CB371D73D}"/>
              </a:ext>
            </a:extLst>
          </p:cNvPr>
          <p:cNvSpPr txBox="1"/>
          <p:nvPr/>
        </p:nvSpPr>
        <p:spPr>
          <a:xfrm>
            <a:off x="7342121" y="1394961"/>
            <a:ext cx="365379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展示会場</a:t>
            </a:r>
            <a:endParaRPr kumimoji="1" lang="en-US" altLang="ja-JP" dirty="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12AB0F6B-1FF3-9F72-1A6A-16C983AE9AB0}"/>
              </a:ext>
            </a:extLst>
          </p:cNvPr>
          <p:cNvSpPr txBox="1"/>
          <p:nvPr/>
        </p:nvSpPr>
        <p:spPr>
          <a:xfrm>
            <a:off x="4370320" y="1387781"/>
            <a:ext cx="268605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クラウド</a:t>
            </a:r>
            <a:endParaRPr kumimoji="1" lang="en-US" altLang="ja-JP" dirty="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0C30580C-D726-569D-6733-9409545DC6A7}"/>
              </a:ext>
            </a:extLst>
          </p:cNvPr>
          <p:cNvSpPr/>
          <p:nvPr/>
        </p:nvSpPr>
        <p:spPr>
          <a:xfrm>
            <a:off x="9474815" y="2765722"/>
            <a:ext cx="1982504" cy="7129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PLEX</a:t>
            </a:r>
          </a:p>
          <a:p>
            <a:pPr algn="ctr"/>
            <a:r>
              <a:rPr kumimoji="1" lang="ja-JP" altLang="en-US" dirty="0"/>
              <a:t>　クライアント</a:t>
            </a:r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8172862F-21E9-E9E8-08E9-9C6A8CE549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2925" y="2310269"/>
            <a:ext cx="1604509" cy="1604509"/>
          </a:xfrm>
          <a:prstGeom prst="rect">
            <a:avLst/>
          </a:prstGeom>
        </p:spPr>
      </p:pic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AE7E0821-54CC-38D0-79AC-AA04AB40B425}"/>
              </a:ext>
            </a:extLst>
          </p:cNvPr>
          <p:cNvSpPr/>
          <p:nvPr/>
        </p:nvSpPr>
        <p:spPr>
          <a:xfrm>
            <a:off x="4963931" y="1896916"/>
            <a:ext cx="1463038" cy="3867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PLEX</a:t>
            </a:r>
            <a:endParaRPr kumimoji="1" lang="ja-JP" altLang="en-US" dirty="0"/>
          </a:p>
        </p:txBody>
      </p: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FE21681F-9487-52C8-A89A-181286D82C5C}"/>
              </a:ext>
            </a:extLst>
          </p:cNvPr>
          <p:cNvCxnSpPr>
            <a:cxnSpLocks/>
            <a:stCxn id="26" idx="3"/>
          </p:cNvCxnSpPr>
          <p:nvPr/>
        </p:nvCxnSpPr>
        <p:spPr>
          <a:xfrm flipV="1">
            <a:off x="6527434" y="3102440"/>
            <a:ext cx="1453893" cy="100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" name="図 39">
            <a:extLst>
              <a:ext uri="{FF2B5EF4-FFF2-40B4-BE49-F238E27FC236}">
                <a16:creationId xmlns:a16="http://schemas.microsoft.com/office/drawing/2014/main" id="{B5C323AF-A5AC-3F15-049B-D658489B02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7242" y="2593936"/>
            <a:ext cx="1487666" cy="1056475"/>
          </a:xfrm>
          <a:prstGeom prst="rect">
            <a:avLst/>
          </a:prstGeom>
        </p:spPr>
      </p:pic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806F42D7-EE63-BF54-8A4B-2AFD98F1F3E2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457452" y="3429000"/>
            <a:ext cx="5716730" cy="14066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8" name="図 57">
            <a:extLst>
              <a:ext uri="{FF2B5EF4-FFF2-40B4-BE49-F238E27FC236}">
                <a16:creationId xmlns:a16="http://schemas.microsoft.com/office/drawing/2014/main" id="{CF11F2D0-59A8-E3D5-5CEC-178BA24F37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8406" y="4291705"/>
            <a:ext cx="1487666" cy="1056475"/>
          </a:xfrm>
          <a:prstGeom prst="rect">
            <a:avLst/>
          </a:prstGeom>
        </p:spPr>
      </p:pic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450DDAC0-72BC-3045-F0C3-283645749AD4}"/>
              </a:ext>
            </a:extLst>
          </p:cNvPr>
          <p:cNvSpPr/>
          <p:nvPr/>
        </p:nvSpPr>
        <p:spPr>
          <a:xfrm>
            <a:off x="9544300" y="4549481"/>
            <a:ext cx="1982504" cy="7129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A&amp;O</a:t>
            </a:r>
          </a:p>
          <a:p>
            <a:pPr algn="ctr"/>
            <a:r>
              <a:rPr kumimoji="1" lang="ja-JP" altLang="en-US" dirty="0"/>
              <a:t>　クライアント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9DB2A50-E0E9-E194-3BCA-0486814281A3}"/>
              </a:ext>
            </a:extLst>
          </p:cNvPr>
          <p:cNvSpPr/>
          <p:nvPr/>
        </p:nvSpPr>
        <p:spPr>
          <a:xfrm>
            <a:off x="1725933" y="4078758"/>
            <a:ext cx="1463038" cy="6136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PLC</a:t>
            </a:r>
            <a:endParaRPr kumimoji="1" lang="ja-JP" altLang="en-US" dirty="0"/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F37D0C5C-A797-8F53-3F78-761DE4F129F2}"/>
              </a:ext>
            </a:extLst>
          </p:cNvPr>
          <p:cNvCxnSpPr>
            <a:stCxn id="7" idx="2"/>
            <a:endCxn id="2" idx="0"/>
          </p:cNvCxnSpPr>
          <p:nvPr/>
        </p:nvCxnSpPr>
        <p:spPr>
          <a:xfrm>
            <a:off x="2457452" y="3429000"/>
            <a:ext cx="0" cy="6497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E340DE2-CF5C-6993-FAAF-8126664FEC39}"/>
              </a:ext>
            </a:extLst>
          </p:cNvPr>
          <p:cNvSpPr/>
          <p:nvPr/>
        </p:nvSpPr>
        <p:spPr>
          <a:xfrm>
            <a:off x="1446221" y="5355953"/>
            <a:ext cx="2045967" cy="61364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PLC</a:t>
            </a:r>
          </a:p>
          <a:p>
            <a:pPr algn="ctr"/>
            <a:r>
              <a:rPr lang="ja-JP" altLang="en-US" dirty="0"/>
              <a:t>シミュレータ</a:t>
            </a:r>
            <a:endParaRPr kumimoji="1" lang="ja-JP" altLang="en-US" dirty="0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94A4E1D6-EB84-6010-5609-7F5270A3CB6D}"/>
              </a:ext>
            </a:extLst>
          </p:cNvPr>
          <p:cNvCxnSpPr>
            <a:cxnSpLocks/>
            <a:stCxn id="2" idx="2"/>
            <a:endCxn id="6" idx="0"/>
          </p:cNvCxnSpPr>
          <p:nvPr/>
        </p:nvCxnSpPr>
        <p:spPr>
          <a:xfrm>
            <a:off x="2457452" y="4692406"/>
            <a:ext cx="11753" cy="6635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図 15">
            <a:extLst>
              <a:ext uri="{FF2B5EF4-FFF2-40B4-BE49-F238E27FC236}">
                <a16:creationId xmlns:a16="http://schemas.microsoft.com/office/drawing/2014/main" id="{4D6749A4-24E3-0122-F375-C22DE652D5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6634" y="5648679"/>
            <a:ext cx="1487666" cy="1056475"/>
          </a:xfrm>
          <a:prstGeom prst="rect">
            <a:avLst/>
          </a:prstGeom>
        </p:spPr>
      </p:pic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6A3CAC12-B1D5-B37E-4BA5-3D0BCF2B5981}"/>
              </a:ext>
            </a:extLst>
          </p:cNvPr>
          <p:cNvCxnSpPr>
            <a:cxnSpLocks/>
            <a:stCxn id="8" idx="3"/>
            <a:endCxn id="16" idx="1"/>
          </p:cNvCxnSpPr>
          <p:nvPr/>
        </p:nvCxnSpPr>
        <p:spPr>
          <a:xfrm>
            <a:off x="4047319" y="5803948"/>
            <a:ext cx="4009315" cy="3729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フローチャート: 直接アクセス記憶 18">
            <a:extLst>
              <a:ext uri="{FF2B5EF4-FFF2-40B4-BE49-F238E27FC236}">
                <a16:creationId xmlns:a16="http://schemas.microsoft.com/office/drawing/2014/main" id="{055A2BFA-43DC-BCC1-F5D9-297DE43CD1A6}"/>
              </a:ext>
            </a:extLst>
          </p:cNvPr>
          <p:cNvSpPr/>
          <p:nvPr/>
        </p:nvSpPr>
        <p:spPr>
          <a:xfrm rot="712790">
            <a:off x="4670327" y="4168727"/>
            <a:ext cx="2091690" cy="2034352"/>
          </a:xfrm>
          <a:prstGeom prst="flowChartMagneticDrum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/>
              <a:t>VPN</a:t>
            </a:r>
            <a:endParaRPr kumimoji="1" lang="ja-JP" altLang="en-US" sz="1600" dirty="0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9FF51BF0-0ED3-BD12-7867-82BE9CF73D6D}"/>
              </a:ext>
            </a:extLst>
          </p:cNvPr>
          <p:cNvSpPr/>
          <p:nvPr/>
        </p:nvSpPr>
        <p:spPr>
          <a:xfrm>
            <a:off x="9628163" y="5752566"/>
            <a:ext cx="1982504" cy="7129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デジタルツイン（</a:t>
            </a:r>
            <a:r>
              <a:rPr kumimoji="1" lang="en-US" altLang="ja-JP" dirty="0"/>
              <a:t>RDP</a:t>
            </a:r>
            <a:r>
              <a:rPr kumimoji="1" lang="ja-JP" altLang="en-US" dirty="0"/>
              <a:t>など）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2D252D88-B4C4-E7E2-D0F6-DF758F90BDFF}"/>
              </a:ext>
            </a:extLst>
          </p:cNvPr>
          <p:cNvSpPr txBox="1"/>
          <p:nvPr/>
        </p:nvSpPr>
        <p:spPr>
          <a:xfrm>
            <a:off x="771848" y="1008799"/>
            <a:ext cx="54406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/>
              <a:t>3rd</a:t>
            </a:r>
            <a:r>
              <a:rPr lang="ja-JP" altLang="en-US" sz="1400" dirty="0"/>
              <a:t> </a:t>
            </a:r>
            <a:r>
              <a:rPr lang="en-US" altLang="ja-JP" sz="1400" dirty="0"/>
              <a:t>STEP</a:t>
            </a:r>
            <a:r>
              <a:rPr lang="ja-JP" altLang="en-US" sz="1400" dirty="0"/>
              <a:t>：</a:t>
            </a:r>
            <a:r>
              <a:rPr kumimoji="1" lang="ja-JP" altLang="en-US" sz="1400" dirty="0"/>
              <a:t>デジタルツインでミニチュア工場と連携</a:t>
            </a:r>
          </a:p>
        </p:txBody>
      </p:sp>
    </p:spTree>
    <p:extLst>
      <p:ext uri="{BB962C8B-B14F-4D97-AF65-F5344CB8AC3E}">
        <p14:creationId xmlns:p14="http://schemas.microsoft.com/office/powerpoint/2010/main" val="179702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125</Words>
  <Application>Microsoft Office PowerPoint</Application>
  <PresentationFormat>ワイド画面</PresentationFormat>
  <Paragraphs>44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宇都宮　孝志</dc:creator>
  <cp:lastModifiedBy>宇都宮　孝志</cp:lastModifiedBy>
  <cp:revision>2</cp:revision>
  <dcterms:created xsi:type="dcterms:W3CDTF">2026-04-01T02:17:53Z</dcterms:created>
  <dcterms:modified xsi:type="dcterms:W3CDTF">2026-04-01T04:36:12Z</dcterms:modified>
</cp:coreProperties>
</file>